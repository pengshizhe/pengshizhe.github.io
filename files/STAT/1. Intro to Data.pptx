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54"/>
  </p:notesMasterIdLst>
  <p:sldIdLst>
    <p:sldId id="257" r:id="rId2"/>
    <p:sldId id="258" r:id="rId3"/>
    <p:sldId id="338" r:id="rId4"/>
    <p:sldId id="339" r:id="rId5"/>
    <p:sldId id="259" r:id="rId6"/>
    <p:sldId id="262" r:id="rId7"/>
    <p:sldId id="264" r:id="rId8"/>
    <p:sldId id="266" r:id="rId9"/>
    <p:sldId id="267" r:id="rId10"/>
    <p:sldId id="268" r:id="rId11"/>
    <p:sldId id="269" r:id="rId12"/>
    <p:sldId id="270" r:id="rId13"/>
    <p:sldId id="280" r:id="rId14"/>
    <p:sldId id="281" r:id="rId15"/>
    <p:sldId id="282" r:id="rId16"/>
    <p:sldId id="285" r:id="rId17"/>
    <p:sldId id="286" r:id="rId18"/>
    <p:sldId id="287" r:id="rId19"/>
    <p:sldId id="288" r:id="rId20"/>
    <p:sldId id="289" r:id="rId21"/>
    <p:sldId id="293" r:id="rId22"/>
    <p:sldId id="294" r:id="rId23"/>
    <p:sldId id="296" r:id="rId24"/>
    <p:sldId id="297" r:id="rId25"/>
    <p:sldId id="302" r:id="rId26"/>
    <p:sldId id="307" r:id="rId27"/>
    <p:sldId id="308" r:id="rId28"/>
    <p:sldId id="309" r:id="rId29"/>
    <p:sldId id="310"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 id="330" r:id="rId46"/>
    <p:sldId id="331" r:id="rId47"/>
    <p:sldId id="332" r:id="rId48"/>
    <p:sldId id="333" r:id="rId49"/>
    <p:sldId id="334" r:id="rId50"/>
    <p:sldId id="335" r:id="rId51"/>
    <p:sldId id="336" r:id="rId52"/>
    <p:sldId id="337" r:id="rId5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104DB3A-9D5C-4A54-938B-733B4C5155E7}">
  <a:tblStyle styleId="{C104DB3A-9D5C-4A54-938B-733B4C5155E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1" autoAdjust="0"/>
    <p:restoredTop sz="88681" autoAdjust="0"/>
  </p:normalViewPr>
  <p:slideViewPr>
    <p:cSldViewPr snapToGrid="0">
      <p:cViewPr varScale="1">
        <p:scale>
          <a:sx n="107" d="100"/>
          <a:sy n="107" d="100"/>
        </p:scale>
        <p:origin x="1704" y="9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 name="Google Shape;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gab8631c5_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 name="Google Shape;37;gab8631c5_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a:extLst>
            <a:ext uri="{FF2B5EF4-FFF2-40B4-BE49-F238E27FC236}">
              <a16:creationId xmlns:a16="http://schemas.microsoft.com/office/drawing/2014/main" id="{DE712E4B-4755-3FCE-04C9-AE6B18A9D8ED}"/>
            </a:ext>
          </a:extLst>
        </p:cNvPr>
        <p:cNvGrpSpPr/>
        <p:nvPr/>
      </p:nvGrpSpPr>
      <p:grpSpPr>
        <a:xfrm>
          <a:off x="0" y="0"/>
          <a:ext cx="0" cy="0"/>
          <a:chOff x="0" y="0"/>
          <a:chExt cx="0" cy="0"/>
        </a:xfrm>
      </p:grpSpPr>
      <p:sp>
        <p:nvSpPr>
          <p:cNvPr id="31" name="Google Shape;31;p:notes">
            <a:extLst>
              <a:ext uri="{FF2B5EF4-FFF2-40B4-BE49-F238E27FC236}">
                <a16:creationId xmlns:a16="http://schemas.microsoft.com/office/drawing/2014/main" id="{5A7BA962-A72A-C236-9F18-AE4CD6EF9EE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 name="Google Shape;32;p:notes">
            <a:extLst>
              <a:ext uri="{FF2B5EF4-FFF2-40B4-BE49-F238E27FC236}">
                <a16:creationId xmlns:a16="http://schemas.microsoft.com/office/drawing/2014/main" id="{520F0BE5-F6AA-971A-539F-192BC0E488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/ˈ</a:t>
            </a:r>
            <a:r>
              <a:rPr lang="en-US" dirty="0" err="1"/>
              <a:t>sɪndrəʊm</a:t>
            </a:r>
            <a:r>
              <a:rPr lang="en-US" dirty="0"/>
              <a:t>/ </a:t>
            </a:r>
            <a:r>
              <a:rPr lang="zh-CN" altLang="en-US" dirty="0"/>
              <a:t>综合征</a:t>
            </a:r>
            <a:endParaRPr dirty="0"/>
          </a:p>
        </p:txBody>
      </p:sp>
    </p:spTree>
    <p:extLst>
      <p:ext uri="{BB962C8B-B14F-4D97-AF65-F5344CB8AC3E}">
        <p14:creationId xmlns:p14="http://schemas.microsoft.com/office/powerpoint/2010/main" val="1606601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a:extLst>
            <a:ext uri="{FF2B5EF4-FFF2-40B4-BE49-F238E27FC236}">
              <a16:creationId xmlns:a16="http://schemas.microsoft.com/office/drawing/2014/main" id="{B2EC2845-BB6C-7EE1-0F60-3CF486B9B62D}"/>
            </a:ext>
          </a:extLst>
        </p:cNvPr>
        <p:cNvGrpSpPr/>
        <p:nvPr/>
      </p:nvGrpSpPr>
      <p:grpSpPr>
        <a:xfrm>
          <a:off x="0" y="0"/>
          <a:ext cx="0" cy="0"/>
          <a:chOff x="0" y="0"/>
          <a:chExt cx="0" cy="0"/>
        </a:xfrm>
      </p:grpSpPr>
      <p:sp>
        <p:nvSpPr>
          <p:cNvPr id="36" name="Google Shape;36;gab8631c5_01:notes">
            <a:extLst>
              <a:ext uri="{FF2B5EF4-FFF2-40B4-BE49-F238E27FC236}">
                <a16:creationId xmlns:a16="http://schemas.microsoft.com/office/drawing/2014/main" id="{4D9D2E43-D0BB-1AE4-F2F0-1CBF60A5A4B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 name="Google Shape;37;gab8631c5_01:notes">
            <a:extLst>
              <a:ext uri="{FF2B5EF4-FFF2-40B4-BE49-F238E27FC236}">
                <a16:creationId xmlns:a16="http://schemas.microsoft.com/office/drawing/2014/main" id="{4FAC6D18-3FA1-2426-7CAE-D7ED9A4811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1736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ab8631c5_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ab8631c5_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72653e254_0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72653e254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dirty="0"/>
              <a:t>intersection</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ab9b721b_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ab9b721b_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additional </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ab9b721b_0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ab9b721b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f22d7720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f22d7720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5e3e4a42a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5e3e4a42a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f22d7720_0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f22d7720_0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to add another case</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f22d7720_0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f22d7720_0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hierarchy</a:t>
            </a:r>
          </a:p>
          <a:p>
            <a:pPr marL="0" lvl="0" indent="0" algn="l" rtl="0">
              <a:spcBef>
                <a:spcPts val="0"/>
              </a:spcBef>
              <a:spcAft>
                <a:spcPts val="0"/>
              </a:spcAft>
              <a:buNone/>
            </a:pPr>
            <a:r>
              <a:rPr lang="en-US" dirty="0"/>
              <a:t>add or subtract</a:t>
            </a:r>
            <a:br>
              <a:rPr lang="en-US" dirty="0"/>
            </a:br>
            <a:r>
              <a:rPr lang="en-US" dirty="0"/>
              <a:t>even if we number a categorical variable, their sum and difference would have no clear meaning</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6c66c7699_0_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16c66c769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f22d7720_0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f22d7720_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f22d7720_0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f22d7720_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f22d7720_0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f22d7720_0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each point in the scatterplot</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f22d7720_0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f22d7720_0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f22d7720_0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f22d7720_0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f22d7720_0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f22d7720_0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f5d2d9db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f5d2d9db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data are reliable</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5e3f4971ae_0_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5e3f4971a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subset and a small fraction</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5e3f4971ae_0_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5e3f4971ae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5e3f4971ae_0_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5e3f4971a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5e3f4971ae_0_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5e3f4971a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5e3f4971ae_0_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5e3f4971ae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5e3f4971ae_0_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5e3f4971ae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draw a representative sample and avoid bias</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5e3f4971ae_0_1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5e3f4971ae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5e3f4971ae_0_1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5e3f4971ae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5e3f4971ae_0_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5e3f4971ae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5e3f4971ae_0_1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5e3f4971ae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5e3f4971ae_0_1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5e3f4971ae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5e3f4971ae_0_1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5e3f4971ae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5e3f4971ae_0_2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5e3f4971ae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5e3f4971ae_0_2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5e3f4971ae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f5d2d9db_0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f5d2d9db_0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f5d2d9db_0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f5d2d9db_0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f5d2d9db_0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f5d2d9db_0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slips of paper, shake the bucket around, draw out slips</a:t>
            </a: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f5d2d9db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f5d2d9db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divide and conquer approach</a:t>
            </a: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f5d2d9db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f5d2d9db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176125e362_1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176125e362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f5d2d9db_1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f5d2d9db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f5d2d9db_1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f5d2d9db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e2b886a0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e2b886a0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16c697d3e1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16c697d3e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6c697d3e1_0_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6c697d3e1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uninformed</a:t>
            </a:r>
          </a:p>
          <a:p>
            <a:pPr marL="0" lvl="0" indent="0" algn="l" rtl="0">
              <a:spcBef>
                <a:spcPts val="0"/>
              </a:spcBef>
              <a:spcAft>
                <a:spcPts val="0"/>
              </a:spcAft>
              <a:buNone/>
            </a:pPr>
            <a:r>
              <a:rPr lang="en-US" dirty="0"/>
              <a:t>is said to be blind</a:t>
            </a:r>
          </a:p>
          <a:p>
            <a:pPr marL="0" lvl="0" indent="0" algn="l" rtl="0">
              <a:spcBef>
                <a:spcPts val="0"/>
              </a:spcBef>
              <a:spcAft>
                <a:spcPts val="0"/>
              </a:spcAft>
              <a:buNone/>
            </a:pP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e2b886a0_0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e2b886a0_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6c697d3e1_0_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6c697d3e1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e2b886a0_0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e2b886a0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e2b886a0_0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e2b886a0_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e2b886a0_0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e2b886a0_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6c697d3e1_0_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6c697d3e1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e2b886a0_0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e2b886a0_0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5800" y="2111123"/>
            <a:ext cx="7772400" cy="1546475"/>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1pPr>
            <a:lvl2pPr lvl="1"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2pPr>
            <a:lvl3pPr lvl="2"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3pPr>
            <a:lvl4pPr lvl="3"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4pPr>
            <a:lvl5pPr lvl="4"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5pPr>
            <a:lvl6pPr lvl="5"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6pPr>
            <a:lvl7pPr lvl="6"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7pPr>
            <a:lvl8pPr lvl="7"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8pPr>
            <a:lvl9pPr lvl="8"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ubTitle" idx="1"/>
          </p:nvPr>
        </p:nvSpPr>
        <p:spPr>
          <a:xfrm>
            <a:off x="685800" y="3786738"/>
            <a:ext cx="7772400" cy="1046317"/>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1pPr>
            <a:lvl2pPr lvl="1"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2pPr>
            <a:lvl3pPr lvl="2"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3pPr>
            <a:lvl4pPr lvl="3"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4pPr>
            <a:lvl5pPr lvl="4"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5pPr>
            <a:lvl6pPr lvl="5"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6pPr>
            <a:lvl7pPr lvl="6"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7pPr>
            <a:lvl8pPr lvl="7"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8pPr>
            <a:lvl9pPr lvl="8"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3" name="Google Shape;13;p3"/>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6" name="Google Shape;16;p4"/>
          <p:cNvSpPr txBox="1">
            <a:spLocks noGrp="1"/>
          </p:cNvSpPr>
          <p:nvPr>
            <p:ph type="body" idx="1"/>
          </p:nvPr>
        </p:nvSpPr>
        <p:spPr>
          <a:xfrm>
            <a:off x="457200"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17" name="Google Shape;17;p4"/>
          <p:cNvSpPr txBox="1">
            <a:spLocks noGrp="1"/>
          </p:cNvSpPr>
          <p:nvPr>
            <p:ph type="body" idx="2"/>
          </p:nvPr>
        </p:nvSpPr>
        <p:spPr>
          <a:xfrm>
            <a:off x="4692274"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6"/>
          <p:cNvSpPr txBox="1">
            <a:spLocks noGrp="1"/>
          </p:cNvSpPr>
          <p:nvPr>
            <p:ph type="body" idx="1"/>
          </p:nvPr>
        </p:nvSpPr>
        <p:spPr>
          <a:xfrm>
            <a:off x="457200" y="5875079"/>
            <a:ext cx="8229600" cy="692694"/>
          </a:xfrm>
          <a:prstGeom prst="rect">
            <a:avLst/>
          </a:prstGeom>
          <a:noFill/>
          <a:ln>
            <a:noFill/>
          </a:ln>
        </p:spPr>
        <p:txBody>
          <a:bodyPr spcFirstLastPara="1" wrap="square" lIns="91425" tIns="91425" rIns="91425" bIns="91425" anchor="t" anchorCtr="0">
            <a:noAutofit/>
          </a:bodyPr>
          <a:lstStyle>
            <a:lvl1pPr marL="457200" lvl="0" indent="-342900" algn="ctr" rtl="0">
              <a:lnSpc>
                <a:spcPct val="100000"/>
              </a:lnSpc>
              <a:spcBef>
                <a:spcPts val="360"/>
              </a:spcBef>
              <a:spcAft>
                <a:spcPts val="0"/>
              </a:spcAft>
              <a:buClr>
                <a:schemeClr val="dk1"/>
              </a:buClr>
              <a:buSzPts val="1800"/>
              <a:buFont typeface="Arial"/>
              <a:buChar char="●"/>
              <a:defRPr sz="1800">
                <a:solidFill>
                  <a:schemeClr val="dk1"/>
                </a:solidFill>
              </a:defRPr>
            </a:lvl1pPr>
            <a:lvl2pPr marL="914400" lvl="1" indent="-342900" algn="ctr" rtl="0">
              <a:lnSpc>
                <a:spcPct val="100000"/>
              </a:lnSpc>
              <a:spcBef>
                <a:spcPts val="0"/>
              </a:spcBef>
              <a:spcAft>
                <a:spcPts val="0"/>
              </a:spcAft>
              <a:buClr>
                <a:schemeClr val="dk1"/>
              </a:buClr>
              <a:buSzPts val="1800"/>
              <a:buFont typeface="Arial"/>
              <a:buChar char="○"/>
              <a:defRPr sz="1800">
                <a:solidFill>
                  <a:schemeClr val="dk1"/>
                </a:solidFill>
              </a:defRPr>
            </a:lvl2pPr>
            <a:lvl3pPr marL="1371600" lvl="2" indent="-342900" algn="ctr" rtl="0">
              <a:lnSpc>
                <a:spcPct val="100000"/>
              </a:lnSpc>
              <a:spcBef>
                <a:spcPts val="0"/>
              </a:spcBef>
              <a:spcAft>
                <a:spcPts val="0"/>
              </a:spcAft>
              <a:buClr>
                <a:schemeClr val="dk1"/>
              </a:buClr>
              <a:buSzPts val="1800"/>
              <a:buFont typeface="Arial"/>
              <a:buChar char="■"/>
              <a:defRPr sz="1800">
                <a:solidFill>
                  <a:schemeClr val="dk1"/>
                </a:solidFill>
              </a:defRPr>
            </a:lvl3pPr>
            <a:lvl4pPr marL="1828800" lvl="3" indent="-342900" algn="ctr" rtl="0">
              <a:lnSpc>
                <a:spcPct val="100000"/>
              </a:lnSpc>
              <a:spcBef>
                <a:spcPts val="0"/>
              </a:spcBef>
              <a:spcAft>
                <a:spcPts val="0"/>
              </a:spcAft>
              <a:buClr>
                <a:schemeClr val="dk1"/>
              </a:buClr>
              <a:buSzPts val="1800"/>
              <a:buFont typeface="Arial"/>
              <a:buChar char="●"/>
              <a:defRPr sz="1800">
                <a:solidFill>
                  <a:schemeClr val="dk1"/>
                </a:solidFill>
              </a:defRPr>
            </a:lvl4pPr>
            <a:lvl5pPr marL="2286000" lvl="4" indent="-342900" algn="ctr" rtl="0">
              <a:lnSpc>
                <a:spcPct val="100000"/>
              </a:lnSpc>
              <a:spcBef>
                <a:spcPts val="0"/>
              </a:spcBef>
              <a:spcAft>
                <a:spcPts val="0"/>
              </a:spcAft>
              <a:buClr>
                <a:schemeClr val="dk1"/>
              </a:buClr>
              <a:buSzPts val="1800"/>
              <a:buFont typeface="Arial"/>
              <a:buChar char="○"/>
              <a:defRPr sz="1800">
                <a:solidFill>
                  <a:schemeClr val="dk1"/>
                </a:solidFill>
              </a:defRPr>
            </a:lvl5pPr>
            <a:lvl6pPr marL="2743200" lvl="5" indent="-342900" algn="ctr" rtl="0">
              <a:lnSpc>
                <a:spcPct val="100000"/>
              </a:lnSpc>
              <a:spcBef>
                <a:spcPts val="0"/>
              </a:spcBef>
              <a:spcAft>
                <a:spcPts val="0"/>
              </a:spcAft>
              <a:buClr>
                <a:schemeClr val="dk1"/>
              </a:buClr>
              <a:buSzPts val="1800"/>
              <a:buFont typeface="Arial"/>
              <a:buChar char="■"/>
              <a:defRPr sz="1800">
                <a:solidFill>
                  <a:schemeClr val="dk1"/>
                </a:solidFill>
              </a:defRPr>
            </a:lvl6pPr>
            <a:lvl7pPr marL="3200400" lvl="6" indent="-342900" algn="ctr" rtl="0">
              <a:lnSpc>
                <a:spcPct val="100000"/>
              </a:lnSpc>
              <a:spcBef>
                <a:spcPts val="0"/>
              </a:spcBef>
              <a:spcAft>
                <a:spcPts val="0"/>
              </a:spcAft>
              <a:buClr>
                <a:schemeClr val="dk1"/>
              </a:buClr>
              <a:buSzPts val="1800"/>
              <a:buFont typeface="Arial"/>
              <a:buChar char="●"/>
              <a:defRPr sz="1800">
                <a:solidFill>
                  <a:schemeClr val="dk1"/>
                </a:solidFill>
              </a:defRPr>
            </a:lvl7pPr>
            <a:lvl8pPr marL="3657600" lvl="7" indent="-342900" algn="ctr" rtl="0">
              <a:lnSpc>
                <a:spcPct val="100000"/>
              </a:lnSpc>
              <a:spcBef>
                <a:spcPts val="0"/>
              </a:spcBef>
              <a:spcAft>
                <a:spcPts val="0"/>
              </a:spcAft>
              <a:buClr>
                <a:schemeClr val="dk1"/>
              </a:buClr>
              <a:buSzPts val="1800"/>
              <a:buFont typeface="Arial"/>
              <a:buChar char="○"/>
              <a:defRPr sz="1800">
                <a:solidFill>
                  <a:schemeClr val="dk1"/>
                </a:solidFill>
              </a:defRPr>
            </a:lvl8pPr>
            <a:lvl9pPr marL="4114800" lvl="8" indent="-342900" algn="ctr" rtl="0">
              <a:lnSpc>
                <a:spcPct val="100000"/>
              </a:lnSpc>
              <a:spcBef>
                <a:spcPts val="0"/>
              </a:spcBef>
              <a:spcAft>
                <a:spcPts val="0"/>
              </a:spcAft>
              <a:buClr>
                <a:schemeClr val="dk1"/>
              </a:buClr>
              <a:buSzPts val="1800"/>
              <a:buFont typeface="Arial"/>
              <a:buChar char="■"/>
              <a:defRPr sz="1800">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lvl="1"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2pPr>
            <a:lvl3pPr lvl="2"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3pPr>
            <a:lvl4pPr lvl="3"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4pPr>
            <a:lvl5pPr lvl="4"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5pPr>
            <a:lvl6pPr lvl="5"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6pPr>
            <a:lvl7pPr lvl="6"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7pPr>
            <a:lvl8pPr lvl="7"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8pPr>
            <a:lvl9pPr lvl="8"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algn="l" rtl="0">
              <a:spcBef>
                <a:spcPts val="6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1pPr>
            <a:lvl2pPr marL="914400" lvl="1"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lvl="2"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lvl="3"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lvl="4"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lvl="5"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lvl="6"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lvl="7"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lvl="8"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34" name="Google Shape;34;p9"/>
          <p:cNvSpPr txBox="1">
            <a:spLocks noGrp="1"/>
          </p:cNvSpPr>
          <p:nvPr>
            <p:ph type="ctrTitle"/>
          </p:nvPr>
        </p:nvSpPr>
        <p:spPr>
          <a:xfrm>
            <a:off x="685800" y="1647297"/>
            <a:ext cx="7772400" cy="318312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br>
              <a:rPr lang="en" dirty="0">
                <a:solidFill>
                  <a:schemeClr val="accent1"/>
                </a:solidFill>
              </a:rPr>
            </a:br>
            <a:r>
              <a:rPr lang="en" dirty="0">
                <a:solidFill>
                  <a:schemeClr val="accent1"/>
                </a:solidFill>
              </a:rPr>
              <a:t>Statistics B</a:t>
            </a:r>
            <a:br>
              <a:rPr lang="en" dirty="0">
                <a:solidFill>
                  <a:schemeClr val="accent1"/>
                </a:solidFill>
              </a:rPr>
            </a:br>
            <a:r>
              <a:rPr lang="en-US" altLang="zh-CN" sz="2800" dirty="0">
                <a:solidFill>
                  <a:schemeClr val="accent1"/>
                </a:solidFill>
              </a:rPr>
              <a:t>Chapter 1: Introduction to Data</a:t>
            </a:r>
            <a:endParaRPr sz="2800" dirty="0">
              <a:solidFill>
                <a:schemeClr val="accent1"/>
              </a:solidFill>
            </a:endParaRPr>
          </a:p>
          <a:p>
            <a:pPr marL="0" lvl="0" indent="0" rtl="0">
              <a:spcBef>
                <a:spcPts val="0"/>
              </a:spcBef>
              <a:spcAft>
                <a:spcPts val="0"/>
              </a:spcAft>
              <a:buNone/>
            </a:pPr>
            <a:br>
              <a:rPr lang="en-US" altLang="zh-CN" sz="2800" dirty="0">
                <a:solidFill>
                  <a:srgbClr val="000000"/>
                </a:solidFill>
              </a:rPr>
            </a:br>
            <a:r>
              <a:rPr lang="en-US" altLang="zh-CN" sz="2000" dirty="0" err="1">
                <a:solidFill>
                  <a:srgbClr val="000000"/>
                </a:solidFill>
              </a:rPr>
              <a:t>Shizhe</a:t>
            </a:r>
            <a:r>
              <a:rPr lang="en-US" altLang="zh-CN" sz="2000" dirty="0">
                <a:solidFill>
                  <a:srgbClr val="000000"/>
                </a:solidFill>
              </a:rPr>
              <a:t> Peng</a:t>
            </a:r>
            <a:br>
              <a:rPr lang="en-US" altLang="zh-CN" sz="2000" dirty="0">
                <a:solidFill>
                  <a:srgbClr val="000000"/>
                </a:solidFill>
              </a:rPr>
            </a:br>
            <a:r>
              <a:rPr lang="en-US" altLang="zh-CN" sz="2000" dirty="0">
                <a:solidFill>
                  <a:srgbClr val="000000"/>
                </a:solidFill>
              </a:rPr>
              <a:t>School of Economics and Management</a:t>
            </a:r>
            <a:br>
              <a:rPr lang="en-US" altLang="zh-CN" sz="2000" dirty="0">
                <a:solidFill>
                  <a:srgbClr val="000000"/>
                </a:solidFill>
              </a:rPr>
            </a:br>
            <a:r>
              <a:rPr lang="en-US" altLang="zh-CN" sz="2000" dirty="0">
                <a:solidFill>
                  <a:srgbClr val="000000"/>
                </a:solidFill>
              </a:rPr>
              <a:t>Changsha University of Science and Technology</a:t>
            </a:r>
            <a:endParaRPr sz="28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0"/>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1"/>
                </a:solidFill>
              </a:rPr>
              <a:t>What is Statistics?</a:t>
            </a:r>
            <a:endParaRPr dirty="0">
              <a:solidFill>
                <a:schemeClr val="accent1"/>
              </a:solidFill>
            </a:endParaRPr>
          </a:p>
        </p:txBody>
      </p:sp>
      <p:sp>
        <p:nvSpPr>
          <p:cNvPr id="40" name="Google Shape;40;p10"/>
          <p:cNvSpPr txBox="1">
            <a:spLocks noGrp="1"/>
          </p:cNvSpPr>
          <p:nvPr>
            <p:ph type="body" idx="1"/>
          </p:nvPr>
        </p:nvSpPr>
        <p:spPr>
          <a:xfrm>
            <a:off x="457200" y="1600200"/>
            <a:ext cx="8229600" cy="89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endParaRPr sz="1600" dirty="0"/>
          </a:p>
        </p:txBody>
      </p:sp>
      <p:sp>
        <p:nvSpPr>
          <p:cNvPr id="41" name="Google Shape;41;p10"/>
          <p:cNvSpPr txBox="1"/>
          <p:nvPr/>
        </p:nvSpPr>
        <p:spPr>
          <a:xfrm>
            <a:off x="457300" y="2582425"/>
            <a:ext cx="8229600" cy="30072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endParaRPr sz="1600" dirty="0">
              <a:solidFill>
                <a:schemeClr val="dk1"/>
              </a:solidFill>
            </a:endParaRPr>
          </a:p>
        </p:txBody>
      </p:sp>
      <p:sp>
        <p:nvSpPr>
          <p:cNvPr id="42" name="Google Shape;42;p10"/>
          <p:cNvSpPr txBox="1"/>
          <p:nvPr/>
        </p:nvSpPr>
        <p:spPr>
          <a:xfrm>
            <a:off x="458300" y="5900500"/>
            <a:ext cx="8229600" cy="76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pic>
        <p:nvPicPr>
          <p:cNvPr id="5" name="图片 4">
            <a:extLst>
              <a:ext uri="{FF2B5EF4-FFF2-40B4-BE49-F238E27FC236}">
                <a16:creationId xmlns:a16="http://schemas.microsoft.com/office/drawing/2014/main" id="{B4460D56-160F-6A79-0005-12977FB7E421}"/>
              </a:ext>
            </a:extLst>
          </p:cNvPr>
          <p:cNvPicPr>
            <a:picLocks noChangeAspect="1"/>
          </p:cNvPicPr>
          <p:nvPr/>
        </p:nvPicPr>
        <p:blipFill>
          <a:blip r:embed="rId3"/>
          <a:stretch>
            <a:fillRect/>
          </a:stretch>
        </p:blipFill>
        <p:spPr>
          <a:xfrm>
            <a:off x="0" y="1600200"/>
            <a:ext cx="9144000" cy="44261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fade">
                                      <p:cBhvr>
                                        <p:cTn id="7" dur="10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
          <a:extLst>
            <a:ext uri="{FF2B5EF4-FFF2-40B4-BE49-F238E27FC236}">
              <a16:creationId xmlns:a16="http://schemas.microsoft.com/office/drawing/2014/main" id="{1C0C405F-1B15-5849-AE81-7EC5B953E8D3}"/>
            </a:ext>
          </a:extLst>
        </p:cNvPr>
        <p:cNvGrpSpPr/>
        <p:nvPr/>
      </p:nvGrpSpPr>
      <p:grpSpPr>
        <a:xfrm>
          <a:off x="0" y="0"/>
          <a:ext cx="0" cy="0"/>
          <a:chOff x="0" y="0"/>
          <a:chExt cx="0" cy="0"/>
        </a:xfrm>
      </p:grpSpPr>
      <p:sp>
        <p:nvSpPr>
          <p:cNvPr id="34" name="Google Shape;34;p9">
            <a:extLst>
              <a:ext uri="{FF2B5EF4-FFF2-40B4-BE49-F238E27FC236}">
                <a16:creationId xmlns:a16="http://schemas.microsoft.com/office/drawing/2014/main" id="{85031CA1-68C0-34AD-1885-96AB4273A1A4}"/>
              </a:ext>
            </a:extLst>
          </p:cNvPr>
          <p:cNvSpPr txBox="1">
            <a:spLocks noGrp="1"/>
          </p:cNvSpPr>
          <p:nvPr>
            <p:ph type="ctrTitle"/>
          </p:nvPr>
        </p:nvSpPr>
        <p:spPr>
          <a:xfrm>
            <a:off x="685800" y="2111123"/>
            <a:ext cx="7772400" cy="154647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dirty="0">
              <a:solidFill>
                <a:schemeClr val="accent1"/>
              </a:solidFill>
            </a:endParaRPr>
          </a:p>
          <a:p>
            <a:pPr marL="0" lvl="0" indent="0" algn="l" rtl="0">
              <a:spcBef>
                <a:spcPts val="0"/>
              </a:spcBef>
              <a:spcAft>
                <a:spcPts val="0"/>
              </a:spcAft>
              <a:buNone/>
            </a:pPr>
            <a:endParaRPr dirty="0">
              <a:solidFill>
                <a:schemeClr val="accent1"/>
              </a:solidFill>
            </a:endParaRPr>
          </a:p>
          <a:p>
            <a:pPr marL="0" lvl="0" indent="0" algn="l" rtl="0">
              <a:spcBef>
                <a:spcPts val="0"/>
              </a:spcBef>
              <a:spcAft>
                <a:spcPts val="0"/>
              </a:spcAft>
              <a:buNone/>
            </a:pPr>
            <a:br>
              <a:rPr lang="en" dirty="0">
                <a:solidFill>
                  <a:schemeClr val="accent1"/>
                </a:solidFill>
              </a:rPr>
            </a:br>
            <a:r>
              <a:rPr lang="en" dirty="0">
                <a:solidFill>
                  <a:schemeClr val="accent1"/>
                </a:solidFill>
              </a:rPr>
              <a:t>Case Study:</a:t>
            </a:r>
            <a:endParaRPr dirty="0">
              <a:solidFill>
                <a:schemeClr val="accent1"/>
              </a:solidFill>
            </a:endParaRPr>
          </a:p>
          <a:p>
            <a:pPr marL="0" lvl="0" indent="0" algn="l" rtl="0">
              <a:spcBef>
                <a:spcPts val="0"/>
              </a:spcBef>
              <a:spcAft>
                <a:spcPts val="0"/>
              </a:spcAft>
              <a:buNone/>
            </a:pPr>
            <a:r>
              <a:rPr lang="en" sz="3000" dirty="0">
                <a:solidFill>
                  <a:srgbClr val="000000"/>
                </a:solidFill>
              </a:rPr>
              <a:t>Treating Chronic Fatigue Syndrome</a:t>
            </a:r>
            <a:endParaRPr sz="3000" dirty="0">
              <a:solidFill>
                <a:srgbClr val="000000"/>
              </a:solidFill>
            </a:endParaRPr>
          </a:p>
        </p:txBody>
      </p:sp>
    </p:spTree>
    <p:extLst>
      <p:ext uri="{BB962C8B-B14F-4D97-AF65-F5344CB8AC3E}">
        <p14:creationId xmlns:p14="http://schemas.microsoft.com/office/powerpoint/2010/main" val="1709583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
          <a:extLst>
            <a:ext uri="{FF2B5EF4-FFF2-40B4-BE49-F238E27FC236}">
              <a16:creationId xmlns:a16="http://schemas.microsoft.com/office/drawing/2014/main" id="{B4574A64-5E85-389B-29A4-5C291EF11C74}"/>
            </a:ext>
          </a:extLst>
        </p:cNvPr>
        <p:cNvGrpSpPr/>
        <p:nvPr/>
      </p:nvGrpSpPr>
      <p:grpSpPr>
        <a:xfrm>
          <a:off x="0" y="0"/>
          <a:ext cx="0" cy="0"/>
          <a:chOff x="0" y="0"/>
          <a:chExt cx="0" cy="0"/>
        </a:xfrm>
      </p:grpSpPr>
      <p:sp>
        <p:nvSpPr>
          <p:cNvPr id="39" name="Google Shape;39;p10">
            <a:extLst>
              <a:ext uri="{FF2B5EF4-FFF2-40B4-BE49-F238E27FC236}">
                <a16:creationId xmlns:a16="http://schemas.microsoft.com/office/drawing/2014/main" id="{0B265C8E-6F76-45C2-6BAB-BA9E419C1738}"/>
              </a:ext>
            </a:extLst>
          </p:cNvPr>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Treating Chronic Fatigue Syndrome</a:t>
            </a:r>
            <a:endParaRPr>
              <a:solidFill>
                <a:schemeClr val="accent1"/>
              </a:solidFill>
            </a:endParaRPr>
          </a:p>
        </p:txBody>
      </p:sp>
      <p:sp>
        <p:nvSpPr>
          <p:cNvPr id="40" name="Google Shape;40;p10">
            <a:extLst>
              <a:ext uri="{FF2B5EF4-FFF2-40B4-BE49-F238E27FC236}">
                <a16:creationId xmlns:a16="http://schemas.microsoft.com/office/drawing/2014/main" id="{871E8E6F-5981-8489-B966-29A2862C9F17}"/>
              </a:ext>
            </a:extLst>
          </p:cNvPr>
          <p:cNvSpPr txBox="1">
            <a:spLocks noGrp="1"/>
          </p:cNvSpPr>
          <p:nvPr>
            <p:ph type="body" idx="1"/>
          </p:nvPr>
        </p:nvSpPr>
        <p:spPr>
          <a:xfrm>
            <a:off x="457200" y="1600200"/>
            <a:ext cx="8229600" cy="89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solidFill>
                  <a:schemeClr val="accent1"/>
                </a:solidFill>
              </a:rPr>
              <a:t>Objective.</a:t>
            </a:r>
            <a:r>
              <a:rPr lang="en" sz="2400" dirty="0"/>
              <a:t> Evaluate the effectiveness of cognitive-behavior therapy for chronic fatigue syndrome.</a:t>
            </a:r>
            <a:endParaRPr sz="1600" dirty="0"/>
          </a:p>
        </p:txBody>
      </p:sp>
      <p:sp>
        <p:nvSpPr>
          <p:cNvPr id="41" name="Google Shape;41;p10">
            <a:extLst>
              <a:ext uri="{FF2B5EF4-FFF2-40B4-BE49-F238E27FC236}">
                <a16:creationId xmlns:a16="http://schemas.microsoft.com/office/drawing/2014/main" id="{493070E7-517F-41A0-1DD3-572DEF596741}"/>
              </a:ext>
            </a:extLst>
          </p:cNvPr>
          <p:cNvSpPr txBox="1"/>
          <p:nvPr/>
        </p:nvSpPr>
        <p:spPr>
          <a:xfrm>
            <a:off x="457300" y="2582425"/>
            <a:ext cx="8229600" cy="30072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sz="2400" dirty="0">
                <a:solidFill>
                  <a:schemeClr val="accent1"/>
                </a:solidFill>
              </a:rPr>
              <a:t>Participant pool.</a:t>
            </a:r>
            <a:r>
              <a:rPr lang="en" sz="2400" dirty="0">
                <a:solidFill>
                  <a:schemeClr val="dk1"/>
                </a:solidFill>
              </a:rPr>
              <a:t> 142 patients who were recruited by primary care physicians and consultants to a hospital clinic specializing in chronic fatigue syndrome.</a:t>
            </a:r>
            <a:br>
              <a:rPr lang="en" sz="2400" dirty="0">
                <a:solidFill>
                  <a:schemeClr val="dk1"/>
                </a:solidFill>
              </a:rPr>
            </a:br>
            <a:endParaRPr sz="1500" dirty="0">
              <a:solidFill>
                <a:schemeClr val="dk1"/>
              </a:solidFill>
            </a:endParaRPr>
          </a:p>
          <a:p>
            <a:pPr marL="0" lvl="0" indent="0" algn="l" rtl="0">
              <a:spcBef>
                <a:spcPts val="600"/>
              </a:spcBef>
              <a:spcAft>
                <a:spcPts val="0"/>
              </a:spcAft>
              <a:buNone/>
            </a:pPr>
            <a:r>
              <a:rPr lang="en" sz="2400" dirty="0">
                <a:solidFill>
                  <a:schemeClr val="accent1"/>
                </a:solidFill>
              </a:rPr>
              <a:t>Actual participants.</a:t>
            </a:r>
            <a:r>
              <a:rPr lang="en" sz="2400" dirty="0">
                <a:solidFill>
                  <a:schemeClr val="dk1"/>
                </a:solidFill>
              </a:rPr>
              <a:t> Only 60 of the 142 referred patients entered the study. Some were excluded because they didn't meet the diagnostic criteria, some had other health issues, and some refused to be a part of the study.</a:t>
            </a:r>
            <a:endParaRPr sz="1600" dirty="0">
              <a:solidFill>
                <a:schemeClr val="dk1"/>
              </a:solidFill>
            </a:endParaRPr>
          </a:p>
        </p:txBody>
      </p:sp>
    </p:spTree>
    <p:extLst>
      <p:ext uri="{BB962C8B-B14F-4D97-AF65-F5344CB8AC3E}">
        <p14:creationId xmlns:p14="http://schemas.microsoft.com/office/powerpoint/2010/main" val="4205106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fade">
                                      <p:cBhvr>
                                        <p:cTn id="7" dur="1000"/>
                                        <p:tgtEl>
                                          <p:spTgt spid="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
                                            <p:txEl>
                                              <p:pRg st="1" end="1"/>
                                            </p:txEl>
                                          </p:spTgt>
                                        </p:tgtEl>
                                        <p:attrNameLst>
                                          <p:attrName>style.visibility</p:attrName>
                                        </p:attrNameLst>
                                      </p:cBhvr>
                                      <p:to>
                                        <p:strVal val="visible"/>
                                      </p:to>
                                    </p:set>
                                    <p:animEffect transition="in" filter="fade">
                                      <p:cBhvr>
                                        <p:cTn id="12" dur="1000"/>
                                        <p:tgtEl>
                                          <p:spTgt spid="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11"/>
          <p:cNvSpPr txBox="1">
            <a:spLocks noGrp="1"/>
          </p:cNvSpPr>
          <p:nvPr>
            <p:ph type="body" idx="1"/>
          </p:nvPr>
        </p:nvSpPr>
        <p:spPr>
          <a:xfrm>
            <a:off x="457200" y="2680475"/>
            <a:ext cx="8229600" cy="388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solidFill>
                  <a:schemeClr val="accent1"/>
                </a:solidFill>
              </a:rPr>
              <a:t>Treatment:</a:t>
            </a:r>
            <a:r>
              <a:rPr lang="en" sz="2400" dirty="0"/>
              <a:t> Cognitive behavior therapy -- collaborative, educative, and with a behavioral emphasis. Patients were shown on how activity could be increased steadily and safely without exacerbating symptoms.</a:t>
            </a:r>
            <a:endParaRPr sz="2400" dirty="0"/>
          </a:p>
          <a:p>
            <a:pPr marL="0" lvl="0" indent="0" algn="l" rtl="0">
              <a:spcBef>
                <a:spcPts val="0"/>
              </a:spcBef>
              <a:spcAft>
                <a:spcPts val="0"/>
              </a:spcAft>
              <a:buNone/>
            </a:pPr>
            <a:endParaRPr sz="2400" dirty="0"/>
          </a:p>
          <a:p>
            <a:pPr marL="0" lvl="0" indent="0" algn="l" rtl="0">
              <a:spcBef>
                <a:spcPts val="600"/>
              </a:spcBef>
              <a:spcAft>
                <a:spcPts val="0"/>
              </a:spcAft>
              <a:buNone/>
            </a:pPr>
            <a:r>
              <a:rPr lang="en" sz="2400" dirty="0">
                <a:solidFill>
                  <a:schemeClr val="accent1"/>
                </a:solidFill>
              </a:rPr>
              <a:t>Control:</a:t>
            </a:r>
            <a:r>
              <a:rPr lang="en" sz="2400" dirty="0"/>
              <a:t> Relaxation -- No advice was given about how activity could be increased. </a:t>
            </a:r>
            <a:r>
              <a:rPr lang="en" sz="2400"/>
              <a:t>Instead progressive muscle relaxation, visualization, and rapid relaxation skills were taught.</a:t>
            </a:r>
            <a:endParaRPr sz="2400"/>
          </a:p>
        </p:txBody>
      </p:sp>
      <p:sp>
        <p:nvSpPr>
          <p:cNvPr id="48" name="Google Shape;48;p11"/>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1"/>
                </a:solidFill>
              </a:rPr>
              <a:t>Study Design</a:t>
            </a:r>
            <a:endParaRPr dirty="0">
              <a:solidFill>
                <a:schemeClr val="accent1"/>
              </a:solidFill>
            </a:endParaRPr>
          </a:p>
        </p:txBody>
      </p:sp>
      <p:sp>
        <p:nvSpPr>
          <p:cNvPr id="49" name="Google Shape;49;p11"/>
          <p:cNvSpPr txBox="1"/>
          <p:nvPr/>
        </p:nvSpPr>
        <p:spPr>
          <a:xfrm>
            <a:off x="457100" y="1542675"/>
            <a:ext cx="8229600" cy="13440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Clr>
                <a:srgbClr val="000000"/>
              </a:buClr>
              <a:buSzPts val="1100"/>
              <a:buFont typeface="Arial"/>
              <a:buNone/>
            </a:pPr>
            <a:r>
              <a:rPr lang="en" sz="2400">
                <a:solidFill>
                  <a:schemeClr val="dk1"/>
                </a:solidFill>
              </a:rPr>
              <a:t>Patients randomly assigned to treatment and control groups, 30 patients in each group:</a:t>
            </a:r>
            <a:endParaRPr sz="2400">
              <a:solidFill>
                <a:schemeClr val="dk1"/>
              </a:solidFill>
            </a:endParaRPr>
          </a:p>
          <a:p>
            <a:pPr marL="0" lvl="0" indent="0" algn="l" rtl="0">
              <a:spcBef>
                <a:spcPts val="1000"/>
              </a:spcBef>
              <a:spcAft>
                <a:spcPts val="0"/>
              </a:spcAft>
              <a:buClr>
                <a:srgbClr val="000000"/>
              </a:buClr>
              <a:buSzPts val="1100"/>
              <a:buFont typeface="Arial"/>
              <a:buNone/>
            </a:pPr>
            <a:endParaRPr sz="24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fade">
                                      <p:cBhvr>
                                        <p:cTn id="7" dur="10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fade">
                                      <p:cBhvr>
                                        <p:cTn id="12" dur="1000"/>
                                        <p:tgtEl>
                                          <p:spTgt spid="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
                                            <p:txEl>
                                              <p:pRg st="2" end="2"/>
                                            </p:txEl>
                                          </p:spTgt>
                                        </p:tgtEl>
                                        <p:attrNameLst>
                                          <p:attrName>style.visibility</p:attrName>
                                        </p:attrNameLst>
                                      </p:cBhvr>
                                      <p:to>
                                        <p:strVal val="visible"/>
                                      </p:to>
                                    </p:set>
                                    <p:animEffect transition="in" filter="fade">
                                      <p:cBhvr>
                                        <p:cTn id="17" dur="1000"/>
                                        <p:tgtEl>
                                          <p:spTgt spid="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body" idx="1"/>
          </p:nvPr>
        </p:nvSpPr>
        <p:spPr>
          <a:xfrm>
            <a:off x="457200" y="1447800"/>
            <a:ext cx="8229600" cy="3351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200"/>
              <a:t>The table below shows the distribution of patients with good outcomes at 6-month follow-up. Note that 7 patients dropped out of the study: 3 from the treatment and 4 from the control group.</a:t>
            </a:r>
            <a:endParaRPr sz="2200"/>
          </a:p>
          <a:p>
            <a:pPr marL="0" lvl="0" indent="0" algn="l" rtl="0">
              <a:spcBef>
                <a:spcPts val="600"/>
              </a:spcBef>
              <a:spcAft>
                <a:spcPts val="0"/>
              </a:spcAft>
              <a:buNone/>
            </a:pPr>
            <a:endParaRPr sz="2200"/>
          </a:p>
          <a:p>
            <a:pPr marL="0" lvl="0" indent="0" algn="l" rtl="0">
              <a:spcBef>
                <a:spcPts val="600"/>
              </a:spcBef>
              <a:spcAft>
                <a:spcPts val="0"/>
              </a:spcAft>
              <a:buNone/>
            </a:pPr>
            <a:endParaRPr sz="2200"/>
          </a:p>
          <a:p>
            <a:pPr marL="0" lvl="0" indent="0" algn="l" rtl="0">
              <a:spcBef>
                <a:spcPts val="600"/>
              </a:spcBef>
              <a:spcAft>
                <a:spcPts val="0"/>
              </a:spcAft>
              <a:buNone/>
            </a:pPr>
            <a:endParaRPr sz="2200"/>
          </a:p>
          <a:p>
            <a:pPr marL="0" lvl="0" indent="0" algn="l" rtl="0">
              <a:spcBef>
                <a:spcPts val="600"/>
              </a:spcBef>
              <a:spcAft>
                <a:spcPts val="0"/>
              </a:spcAft>
              <a:buNone/>
            </a:pPr>
            <a:endParaRPr sz="2200"/>
          </a:p>
          <a:p>
            <a:pPr marL="0" lvl="0" indent="0" algn="l" rtl="0">
              <a:spcBef>
                <a:spcPts val="600"/>
              </a:spcBef>
              <a:spcAft>
                <a:spcPts val="0"/>
              </a:spcAft>
              <a:buNone/>
            </a:pPr>
            <a:endParaRPr sz="2200"/>
          </a:p>
          <a:p>
            <a:pPr marL="0" lvl="0" indent="0" algn="l" rtl="0">
              <a:spcBef>
                <a:spcPts val="600"/>
              </a:spcBef>
              <a:spcAft>
                <a:spcPts val="0"/>
              </a:spcAft>
              <a:buNone/>
            </a:pPr>
            <a:endParaRPr sz="2200"/>
          </a:p>
          <a:p>
            <a:pPr marL="0" lvl="0" indent="0" algn="l" rtl="0">
              <a:spcBef>
                <a:spcPts val="600"/>
              </a:spcBef>
              <a:spcAft>
                <a:spcPts val="0"/>
              </a:spcAft>
              <a:buNone/>
            </a:pPr>
            <a:endParaRPr sz="2200"/>
          </a:p>
        </p:txBody>
      </p:sp>
      <p:sp>
        <p:nvSpPr>
          <p:cNvPr id="72" name="Google Shape;72;p14"/>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1"/>
                </a:solidFill>
              </a:rPr>
              <a:t>Results</a:t>
            </a:r>
            <a:endParaRPr dirty="0">
              <a:solidFill>
                <a:schemeClr val="accent1"/>
              </a:solidFill>
            </a:endParaRPr>
          </a:p>
        </p:txBody>
      </p:sp>
      <p:pic>
        <p:nvPicPr>
          <p:cNvPr id="73" name="Google Shape;73;p14"/>
          <p:cNvPicPr preferRelativeResize="0"/>
          <p:nvPr/>
        </p:nvPicPr>
        <p:blipFill>
          <a:blip r:embed="rId3">
            <a:alphaModFix/>
          </a:blip>
          <a:stretch>
            <a:fillRect/>
          </a:stretch>
        </p:blipFill>
        <p:spPr>
          <a:xfrm>
            <a:off x="793975" y="2732275"/>
            <a:ext cx="6408617" cy="2066628"/>
          </a:xfrm>
          <a:prstGeom prst="rect">
            <a:avLst/>
          </a:prstGeom>
          <a:noFill/>
          <a:ln>
            <a:noFill/>
          </a:ln>
        </p:spPr>
      </p:pic>
      <p:sp>
        <p:nvSpPr>
          <p:cNvPr id="74" name="Google Shape;74;p14"/>
          <p:cNvSpPr txBox="1"/>
          <p:nvPr/>
        </p:nvSpPr>
        <p:spPr>
          <a:xfrm>
            <a:off x="539600" y="4981350"/>
            <a:ext cx="8147100" cy="1550100"/>
          </a:xfrm>
          <a:prstGeom prst="rect">
            <a:avLst/>
          </a:prstGeom>
          <a:noFill/>
          <a:ln>
            <a:noFill/>
          </a:ln>
        </p:spPr>
        <p:txBody>
          <a:bodyPr spcFirstLastPara="1" wrap="square" lIns="91425" tIns="91425" rIns="91425" bIns="91425" anchor="t" anchorCtr="0">
            <a:noAutofit/>
          </a:bodyPr>
          <a:lstStyle/>
          <a:p>
            <a:pPr marL="457200" lvl="0" indent="-368300" algn="l" rtl="0">
              <a:spcBef>
                <a:spcPts val="600"/>
              </a:spcBef>
              <a:spcAft>
                <a:spcPts val="0"/>
              </a:spcAft>
              <a:buClr>
                <a:schemeClr val="accent1"/>
              </a:buClr>
              <a:buSzPts val="2200"/>
              <a:buChar char="●"/>
            </a:pPr>
            <a:r>
              <a:rPr lang="en" sz="2200">
                <a:solidFill>
                  <a:schemeClr val="accent1"/>
                </a:solidFill>
              </a:rPr>
              <a:t>Proportion with good outcomes in treatment group</a:t>
            </a:r>
            <a:endParaRPr sz="2200">
              <a:solidFill>
                <a:schemeClr val="accent1"/>
              </a:solidFill>
            </a:endParaRPr>
          </a:p>
          <a:p>
            <a:pPr marL="0" lvl="0" indent="0" algn="ctr" rtl="0">
              <a:spcBef>
                <a:spcPts val="600"/>
              </a:spcBef>
              <a:spcAft>
                <a:spcPts val="0"/>
              </a:spcAft>
              <a:buNone/>
            </a:pPr>
            <a:r>
              <a:rPr lang="en" sz="2200">
                <a:solidFill>
                  <a:schemeClr val="dk1"/>
                </a:solidFill>
              </a:rPr>
              <a:t>19/27 ≈ 0.70 → 70%</a:t>
            </a:r>
            <a:endParaRPr sz="2200">
              <a:solidFill>
                <a:schemeClr val="dk1"/>
              </a:solidFill>
            </a:endParaRPr>
          </a:p>
          <a:p>
            <a:pPr marL="457200" lvl="0" indent="-368300" algn="l" rtl="0">
              <a:spcBef>
                <a:spcPts val="600"/>
              </a:spcBef>
              <a:spcAft>
                <a:spcPts val="0"/>
              </a:spcAft>
              <a:buClr>
                <a:schemeClr val="accent1"/>
              </a:buClr>
              <a:buSzPts val="2200"/>
              <a:buChar char="●"/>
            </a:pPr>
            <a:r>
              <a:rPr lang="en" sz="2200">
                <a:solidFill>
                  <a:schemeClr val="accent1"/>
                </a:solidFill>
              </a:rPr>
              <a:t>Proportion with good outcomes in control group</a:t>
            </a:r>
            <a:endParaRPr sz="2200">
              <a:solidFill>
                <a:schemeClr val="accent1"/>
              </a:solidFill>
            </a:endParaRPr>
          </a:p>
          <a:p>
            <a:pPr marL="0" lvl="0" indent="0" algn="ctr" rtl="0">
              <a:spcBef>
                <a:spcPts val="600"/>
              </a:spcBef>
              <a:spcAft>
                <a:spcPts val="0"/>
              </a:spcAft>
              <a:buNone/>
            </a:pPr>
            <a:r>
              <a:rPr lang="en" sz="2200">
                <a:solidFill>
                  <a:schemeClr val="dk1"/>
                </a:solidFill>
              </a:rPr>
              <a:t>5/26 ≈ 0.19 → 19%</a:t>
            </a:r>
            <a:endParaRPr sz="2200"/>
          </a:p>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body" idx="1"/>
          </p:nvPr>
        </p:nvSpPr>
        <p:spPr>
          <a:xfrm>
            <a:off x="457200" y="1600200"/>
            <a:ext cx="8229600" cy="75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a:solidFill>
                  <a:schemeClr val="accent1"/>
                </a:solidFill>
              </a:rPr>
              <a:t>Do the data show a "real" difference between the groups?</a:t>
            </a:r>
            <a:endParaRPr/>
          </a:p>
        </p:txBody>
      </p:sp>
      <p:sp>
        <p:nvSpPr>
          <p:cNvPr id="87" name="Google Shape;87;p16"/>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Understanding the results</a:t>
            </a:r>
            <a:endParaRPr>
              <a:solidFill>
                <a:schemeClr val="accent1"/>
              </a:solidFill>
            </a:endParaRPr>
          </a:p>
        </p:txBody>
      </p:sp>
      <p:sp>
        <p:nvSpPr>
          <p:cNvPr id="88" name="Google Shape;88;p16"/>
          <p:cNvSpPr txBox="1"/>
          <p:nvPr/>
        </p:nvSpPr>
        <p:spPr>
          <a:xfrm>
            <a:off x="458300" y="2217800"/>
            <a:ext cx="8229600" cy="4312800"/>
          </a:xfrm>
          <a:prstGeom prst="rect">
            <a:avLst/>
          </a:prstGeom>
          <a:noFill/>
          <a:ln>
            <a:noFill/>
          </a:ln>
        </p:spPr>
        <p:txBody>
          <a:bodyPr spcFirstLastPara="1" wrap="square" lIns="91425" tIns="91425" rIns="91425" bIns="91425" anchor="t" anchorCtr="0">
            <a:noAutofit/>
          </a:bodyPr>
          <a:lstStyle/>
          <a:p>
            <a:pPr marL="457200" lvl="0" indent="-355600" algn="l" rtl="0">
              <a:spcBef>
                <a:spcPts val="600"/>
              </a:spcBef>
              <a:spcAft>
                <a:spcPts val="0"/>
              </a:spcAft>
              <a:buClr>
                <a:schemeClr val="dk1"/>
              </a:buClr>
              <a:buSzPts val="2000"/>
              <a:buChar char="●"/>
            </a:pPr>
            <a:r>
              <a:rPr lang="en" sz="2000">
                <a:solidFill>
                  <a:schemeClr val="dk1"/>
                </a:solidFill>
              </a:rPr>
              <a:t>Suppose you flip a coin 100 times. While the chance a coin lands heads in any given coin flip is 50%, we probably won't observe exactly 50 heads. This type of fluctuation is part of almost any type of data generating process.</a:t>
            </a:r>
            <a:endParaRPr sz="2000">
              <a:solidFill>
                <a:schemeClr val="dk1"/>
              </a:solidFill>
            </a:endParaRPr>
          </a:p>
          <a:p>
            <a:pPr marL="0" lvl="0" indent="0" algn="l" rtl="0">
              <a:spcBef>
                <a:spcPts val="600"/>
              </a:spcBef>
              <a:spcAft>
                <a:spcPts val="0"/>
              </a:spcAft>
              <a:buClr>
                <a:srgbClr val="000000"/>
              </a:buClr>
              <a:buSzPts val="1100"/>
              <a:buFont typeface="Arial"/>
              <a:buNone/>
            </a:pPr>
            <a:endParaRPr sz="600">
              <a:solidFill>
                <a:schemeClr val="dk1"/>
              </a:solidFill>
            </a:endParaRPr>
          </a:p>
          <a:p>
            <a:pPr marL="457200" lvl="0" indent="-355600" algn="l" rtl="0">
              <a:spcBef>
                <a:spcPts val="600"/>
              </a:spcBef>
              <a:spcAft>
                <a:spcPts val="0"/>
              </a:spcAft>
              <a:buClr>
                <a:schemeClr val="dk1"/>
              </a:buClr>
              <a:buSzPts val="2000"/>
              <a:buChar char="●"/>
            </a:pPr>
            <a:r>
              <a:rPr lang="en" sz="2000">
                <a:solidFill>
                  <a:schemeClr val="dk1"/>
                </a:solidFill>
              </a:rPr>
              <a:t>The observed difference between the two groups (70 - 19 = 51%) may be real, or may be due to natural variation.</a:t>
            </a:r>
            <a:endParaRPr sz="2000">
              <a:solidFill>
                <a:schemeClr val="dk1"/>
              </a:solidFill>
            </a:endParaRPr>
          </a:p>
          <a:p>
            <a:pPr marL="0" lvl="0" indent="0" algn="l" rtl="0">
              <a:spcBef>
                <a:spcPts val="600"/>
              </a:spcBef>
              <a:spcAft>
                <a:spcPts val="0"/>
              </a:spcAft>
              <a:buClr>
                <a:srgbClr val="000000"/>
              </a:buClr>
              <a:buSzPts val="1100"/>
              <a:buFont typeface="Arial"/>
              <a:buNone/>
            </a:pPr>
            <a:endParaRPr sz="600">
              <a:solidFill>
                <a:schemeClr val="dk1"/>
              </a:solidFill>
            </a:endParaRPr>
          </a:p>
          <a:p>
            <a:pPr marL="457200" lvl="0" indent="-355600" algn="l" rtl="0">
              <a:spcBef>
                <a:spcPts val="600"/>
              </a:spcBef>
              <a:spcAft>
                <a:spcPts val="0"/>
              </a:spcAft>
              <a:buClr>
                <a:schemeClr val="dk1"/>
              </a:buClr>
              <a:buSzPts val="2000"/>
              <a:buChar char="●"/>
            </a:pPr>
            <a:r>
              <a:rPr lang="en" sz="2000">
                <a:solidFill>
                  <a:schemeClr val="dk1"/>
                </a:solidFill>
              </a:rPr>
              <a:t>Since the difference is quite large, it is more believable that the difference is real.</a:t>
            </a:r>
            <a:endParaRPr sz="2000">
              <a:solidFill>
                <a:schemeClr val="dk1"/>
              </a:solidFill>
            </a:endParaRPr>
          </a:p>
          <a:p>
            <a:pPr marL="0" lvl="0" indent="0" algn="l" rtl="0">
              <a:spcBef>
                <a:spcPts val="600"/>
              </a:spcBef>
              <a:spcAft>
                <a:spcPts val="0"/>
              </a:spcAft>
              <a:buClr>
                <a:srgbClr val="000000"/>
              </a:buClr>
              <a:buSzPts val="1100"/>
              <a:buFont typeface="Arial"/>
              <a:buNone/>
            </a:pPr>
            <a:endParaRPr sz="600">
              <a:solidFill>
                <a:schemeClr val="dk1"/>
              </a:solidFill>
            </a:endParaRPr>
          </a:p>
          <a:p>
            <a:pPr marL="457200" lvl="0" indent="-355600" algn="l" rtl="0">
              <a:spcBef>
                <a:spcPts val="600"/>
              </a:spcBef>
              <a:spcAft>
                <a:spcPts val="0"/>
              </a:spcAft>
              <a:buClr>
                <a:schemeClr val="dk1"/>
              </a:buClr>
              <a:buSzPts val="2000"/>
              <a:buChar char="●"/>
            </a:pPr>
            <a:r>
              <a:rPr lang="en" sz="2000">
                <a:solidFill>
                  <a:schemeClr val="dk1"/>
                </a:solidFill>
              </a:rPr>
              <a:t>We use statistical tools to determine if the difference is so large that we should reject the notion that it was due to chance.</a:t>
            </a:r>
            <a:endParaRPr sz="2000">
              <a:solidFill>
                <a:schemeClr val="dk1"/>
              </a:solidFill>
            </a:endParaRPr>
          </a:p>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10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Generalizing the results</a:t>
            </a:r>
            <a:endParaRPr>
              <a:solidFill>
                <a:schemeClr val="accent1"/>
              </a:solidFill>
            </a:endParaRPr>
          </a:p>
        </p:txBody>
      </p:sp>
      <p:sp>
        <p:nvSpPr>
          <p:cNvPr id="100" name="Google Shape;100;p18"/>
          <p:cNvSpPr txBox="1">
            <a:spLocks noGrp="1"/>
          </p:cNvSpPr>
          <p:nvPr>
            <p:ph type="body" idx="1"/>
          </p:nvPr>
        </p:nvSpPr>
        <p:spPr>
          <a:xfrm>
            <a:off x="457200" y="1600200"/>
            <a:ext cx="8229600" cy="10068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solidFill>
                  <a:schemeClr val="accent1"/>
                </a:solidFill>
              </a:rPr>
              <a:t>Are the results of this study generalizable to all patients with chronic fatigue syndrome?</a:t>
            </a:r>
            <a:endParaRPr sz="2400"/>
          </a:p>
        </p:txBody>
      </p:sp>
      <p:sp>
        <p:nvSpPr>
          <p:cNvPr id="101" name="Google Shape;101;p18"/>
          <p:cNvSpPr txBox="1"/>
          <p:nvPr/>
        </p:nvSpPr>
        <p:spPr>
          <a:xfrm>
            <a:off x="457125" y="2607000"/>
            <a:ext cx="8229600" cy="41691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2400"/>
              <a:t>These patients had specific characteristics and volunteered to be a part of this study, therefore they may not be representative of all patients with chronic fatigue syndrome. While we cannot immediately generalize the results to all patients, this first study is encouraging. The method works for patients with some narrow set of characteristics, and that gives hope that it will work, at least to some degree, with other patients</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10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3"/>
            <a:ext cx="7772400" cy="154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br>
              <a:rPr lang="en">
                <a:solidFill>
                  <a:schemeClr val="accent1"/>
                </a:solidFill>
              </a:rPr>
            </a:br>
            <a:r>
              <a:rPr lang="en">
                <a:solidFill>
                  <a:schemeClr val="accent1"/>
                </a:solidFill>
              </a:rPr>
              <a:t>Data Basics</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Classroom survey</a:t>
            </a:r>
            <a:endParaRPr>
              <a:solidFill>
                <a:schemeClr val="accent1"/>
              </a:solidFill>
            </a:endParaRPr>
          </a:p>
        </p:txBody>
      </p:sp>
      <p:sp>
        <p:nvSpPr>
          <p:cNvPr id="39" name="Google Shape;39;p10"/>
          <p:cNvSpPr txBox="1">
            <a:spLocks noGrp="1"/>
          </p:cNvSpPr>
          <p:nvPr>
            <p:ph type="body" idx="1"/>
          </p:nvPr>
        </p:nvSpPr>
        <p:spPr>
          <a:xfrm>
            <a:off x="457200" y="1593850"/>
            <a:ext cx="8229600" cy="3388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2400"/>
              <a:t>A survey was conducted on students in an introductory statistics course. Below are a few of the questions on the survey, and the corresponding variables the data from the responses were stored in:</a:t>
            </a:r>
            <a:endParaRPr sz="2400"/>
          </a:p>
          <a:p>
            <a:pPr marL="457200" lvl="0" indent="-368300" algn="l" rtl="0">
              <a:lnSpc>
                <a:spcPct val="115000"/>
              </a:lnSpc>
              <a:spcBef>
                <a:spcPts val="600"/>
              </a:spcBef>
              <a:spcAft>
                <a:spcPts val="0"/>
              </a:spcAft>
              <a:buSzPts val="2200"/>
              <a:buChar char="●"/>
            </a:pPr>
            <a:r>
              <a:rPr lang="en" sz="2200" b="1"/>
              <a:t>gender</a:t>
            </a:r>
            <a:r>
              <a:rPr lang="en" sz="2200"/>
              <a:t>: What is your gender?</a:t>
            </a:r>
            <a:endParaRPr sz="2200"/>
          </a:p>
          <a:p>
            <a:pPr marL="457200" lvl="0" indent="-368300" algn="l" rtl="0">
              <a:lnSpc>
                <a:spcPct val="115000"/>
              </a:lnSpc>
              <a:spcBef>
                <a:spcPts val="0"/>
              </a:spcBef>
              <a:spcAft>
                <a:spcPts val="0"/>
              </a:spcAft>
              <a:buSzPts val="2200"/>
              <a:buChar char="●"/>
            </a:pPr>
            <a:r>
              <a:rPr lang="en" sz="2200" b="1"/>
              <a:t>intro_extra</a:t>
            </a:r>
            <a:r>
              <a:rPr lang="en" sz="2200"/>
              <a:t>: Are you an introvert or an extrovert?</a:t>
            </a:r>
            <a:endParaRPr sz="2200"/>
          </a:p>
          <a:p>
            <a:pPr marL="457200" lvl="0" indent="-368300" algn="l" rtl="0">
              <a:lnSpc>
                <a:spcPct val="115000"/>
              </a:lnSpc>
              <a:spcBef>
                <a:spcPts val="0"/>
              </a:spcBef>
              <a:spcAft>
                <a:spcPts val="0"/>
              </a:spcAft>
              <a:buSzPts val="2200"/>
              <a:buChar char="●"/>
            </a:pPr>
            <a:r>
              <a:rPr lang="en" sz="2200" b="1"/>
              <a:t>sleep</a:t>
            </a:r>
            <a:r>
              <a:rPr lang="en" sz="2200"/>
              <a:t>: How many hours do you sleep at night, on average?</a:t>
            </a:r>
            <a:endParaRPr sz="2200"/>
          </a:p>
          <a:p>
            <a:pPr marL="457200" lvl="0" indent="-368300" algn="l" rtl="0">
              <a:lnSpc>
                <a:spcPct val="115000"/>
              </a:lnSpc>
              <a:spcBef>
                <a:spcPts val="0"/>
              </a:spcBef>
              <a:spcAft>
                <a:spcPts val="0"/>
              </a:spcAft>
              <a:buSzPts val="2200"/>
              <a:buChar char="●"/>
            </a:pPr>
            <a:r>
              <a:rPr lang="en" sz="2200" b="1"/>
              <a:t>bedtime</a:t>
            </a:r>
            <a:r>
              <a:rPr lang="en" sz="2200"/>
              <a:t>: What time do you usually go to bed?</a:t>
            </a:r>
            <a:endParaRPr sz="2200"/>
          </a:p>
          <a:p>
            <a:pPr marL="457200" lvl="0" indent="-368300" algn="l" rtl="0">
              <a:lnSpc>
                <a:spcPct val="115000"/>
              </a:lnSpc>
              <a:spcBef>
                <a:spcPts val="0"/>
              </a:spcBef>
              <a:spcAft>
                <a:spcPts val="0"/>
              </a:spcAft>
              <a:buSzPts val="2200"/>
              <a:buChar char="●"/>
            </a:pPr>
            <a:r>
              <a:rPr lang="en" sz="2200" b="1"/>
              <a:t>countries</a:t>
            </a:r>
            <a:r>
              <a:rPr lang="en" sz="2200"/>
              <a:t>: How many countries have you visited?</a:t>
            </a:r>
            <a:endParaRPr sz="2200"/>
          </a:p>
          <a:p>
            <a:pPr marL="457200" lvl="0" indent="-368300" algn="l" rtl="0">
              <a:lnSpc>
                <a:spcPct val="115000"/>
              </a:lnSpc>
              <a:spcBef>
                <a:spcPts val="0"/>
              </a:spcBef>
              <a:spcAft>
                <a:spcPts val="0"/>
              </a:spcAft>
              <a:buSzPts val="2200"/>
              <a:buChar char="●"/>
            </a:pPr>
            <a:r>
              <a:rPr lang="en" sz="2200" b="1"/>
              <a:t>dread</a:t>
            </a:r>
            <a:r>
              <a:rPr lang="en" sz="2200"/>
              <a:t>: On a scale of 1-5, how much do you dread being here?</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1"/>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Data matrix</a:t>
            </a:r>
            <a:endParaRPr>
              <a:solidFill>
                <a:schemeClr val="accent1"/>
              </a:solidFill>
            </a:endParaRPr>
          </a:p>
        </p:txBody>
      </p:sp>
      <p:sp>
        <p:nvSpPr>
          <p:cNvPr id="45" name="Google Shape;45;p11"/>
          <p:cNvSpPr txBox="1">
            <a:spLocks noGrp="1"/>
          </p:cNvSpPr>
          <p:nvPr>
            <p:ph type="body" idx="1"/>
          </p:nvPr>
        </p:nvSpPr>
        <p:spPr>
          <a:xfrm>
            <a:off x="457200" y="1600200"/>
            <a:ext cx="8229600" cy="892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Data collected on students in a statistics class on a variety of variables:</a:t>
            </a:r>
            <a:endParaRPr sz="1600"/>
          </a:p>
        </p:txBody>
      </p:sp>
      <p:pic>
        <p:nvPicPr>
          <p:cNvPr id="46" name="Google Shape;46;p11"/>
          <p:cNvPicPr preferRelativeResize="0"/>
          <p:nvPr/>
        </p:nvPicPr>
        <p:blipFill>
          <a:blip r:embed="rId3">
            <a:alphaModFix/>
          </a:blip>
          <a:stretch>
            <a:fillRect/>
          </a:stretch>
        </p:blipFill>
        <p:spPr>
          <a:xfrm>
            <a:off x="457200" y="2583925"/>
            <a:ext cx="7020749" cy="3343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Types of variables</a:t>
            </a:r>
            <a:endParaRPr>
              <a:solidFill>
                <a:schemeClr val="accent1"/>
              </a:solidFill>
            </a:endParaRPr>
          </a:p>
        </p:txBody>
      </p:sp>
      <p:pic>
        <p:nvPicPr>
          <p:cNvPr id="52" name="Google Shape;52;p12"/>
          <p:cNvPicPr preferRelativeResize="0"/>
          <p:nvPr/>
        </p:nvPicPr>
        <p:blipFill>
          <a:blip r:embed="rId3">
            <a:alphaModFix/>
          </a:blip>
          <a:stretch>
            <a:fillRect/>
          </a:stretch>
        </p:blipFill>
        <p:spPr>
          <a:xfrm>
            <a:off x="457200" y="2044550"/>
            <a:ext cx="7715250" cy="3181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Types of variables (cont.)</a:t>
            </a:r>
            <a:endParaRPr>
              <a:solidFill>
                <a:schemeClr val="accent1"/>
              </a:solidFill>
            </a:endParaRPr>
          </a:p>
        </p:txBody>
      </p:sp>
      <p:pic>
        <p:nvPicPr>
          <p:cNvPr id="121" name="Google Shape;121;p22"/>
          <p:cNvPicPr preferRelativeResize="0"/>
          <p:nvPr/>
        </p:nvPicPr>
        <p:blipFill>
          <a:blip r:embed="rId3">
            <a:alphaModFix/>
          </a:blip>
          <a:stretch>
            <a:fillRect/>
          </a:stretch>
        </p:blipFill>
        <p:spPr>
          <a:xfrm>
            <a:off x="457200" y="1606000"/>
            <a:ext cx="5979249" cy="2197450"/>
          </a:xfrm>
          <a:prstGeom prst="rect">
            <a:avLst/>
          </a:prstGeom>
          <a:noFill/>
          <a:ln>
            <a:noFill/>
          </a:ln>
        </p:spPr>
      </p:pic>
      <p:sp>
        <p:nvSpPr>
          <p:cNvPr id="122" name="Google Shape;122;p22"/>
          <p:cNvSpPr txBox="1">
            <a:spLocks noGrp="1"/>
          </p:cNvSpPr>
          <p:nvPr>
            <p:ph type="body" idx="1"/>
          </p:nvPr>
        </p:nvSpPr>
        <p:spPr>
          <a:xfrm>
            <a:off x="359000" y="3803450"/>
            <a:ext cx="8229600" cy="2480100"/>
          </a:xfrm>
          <a:prstGeom prst="rect">
            <a:avLst/>
          </a:prstGeom>
        </p:spPr>
        <p:txBody>
          <a:bodyPr spcFirstLastPara="1" wrap="square" lIns="91425" tIns="91425" rIns="91425" bIns="91425" anchor="t" anchorCtr="0">
            <a:noAutofit/>
          </a:bodyPr>
          <a:lstStyle/>
          <a:p>
            <a:pPr marL="457200" lvl="0" indent="-342900" algn="l" rtl="0">
              <a:spcBef>
                <a:spcPts val="600"/>
              </a:spcBef>
              <a:spcAft>
                <a:spcPts val="0"/>
              </a:spcAft>
              <a:buSzPts val="1800"/>
              <a:buChar char="●"/>
            </a:pPr>
            <a:r>
              <a:rPr lang="en" sz="2400">
                <a:solidFill>
                  <a:schemeClr val="accent1"/>
                </a:solidFill>
              </a:rPr>
              <a:t>gender</a:t>
            </a:r>
            <a:r>
              <a:rPr lang="en" sz="2400"/>
              <a:t>: </a:t>
            </a:r>
            <a:r>
              <a:rPr lang="en" sz="2400" i="1"/>
              <a:t>categorical</a:t>
            </a:r>
            <a:endParaRPr sz="2400" i="1"/>
          </a:p>
          <a:p>
            <a:pPr marL="457200" lvl="0" indent="-342900" algn="l" rtl="0">
              <a:spcBef>
                <a:spcPts val="0"/>
              </a:spcBef>
              <a:spcAft>
                <a:spcPts val="0"/>
              </a:spcAft>
              <a:buSzPts val="1800"/>
              <a:buChar char="●"/>
            </a:pPr>
            <a:r>
              <a:rPr lang="en" sz="2400">
                <a:solidFill>
                  <a:schemeClr val="accent1"/>
                </a:solidFill>
              </a:rPr>
              <a:t>sleep</a:t>
            </a:r>
            <a:r>
              <a:rPr lang="en" sz="2400"/>
              <a:t>: </a:t>
            </a:r>
            <a:r>
              <a:rPr lang="en" sz="2400" i="1"/>
              <a:t>numerical, continuous</a:t>
            </a:r>
            <a:endParaRPr sz="2400"/>
          </a:p>
          <a:p>
            <a:pPr marL="457200" lvl="0" indent="-342900" algn="l" rtl="0">
              <a:spcBef>
                <a:spcPts val="0"/>
              </a:spcBef>
              <a:spcAft>
                <a:spcPts val="0"/>
              </a:spcAft>
              <a:buSzPts val="1800"/>
              <a:buChar char="●"/>
            </a:pPr>
            <a:r>
              <a:rPr lang="en" sz="2400">
                <a:solidFill>
                  <a:schemeClr val="accent1"/>
                </a:solidFill>
              </a:rPr>
              <a:t>bedtime</a:t>
            </a:r>
            <a:r>
              <a:rPr lang="en" sz="2400"/>
              <a:t>: </a:t>
            </a:r>
            <a:r>
              <a:rPr lang="en" sz="2400" i="1"/>
              <a:t>categorical, ordinal</a:t>
            </a:r>
            <a:endParaRPr sz="2400" i="1"/>
          </a:p>
          <a:p>
            <a:pPr marL="457200" lvl="0" indent="-342900" algn="l" rtl="0">
              <a:spcBef>
                <a:spcPts val="0"/>
              </a:spcBef>
              <a:spcAft>
                <a:spcPts val="0"/>
              </a:spcAft>
              <a:buSzPts val="1800"/>
              <a:buChar char="●"/>
            </a:pPr>
            <a:r>
              <a:rPr lang="en" sz="2400">
                <a:solidFill>
                  <a:schemeClr val="accent1"/>
                </a:solidFill>
              </a:rPr>
              <a:t>countries</a:t>
            </a:r>
            <a:r>
              <a:rPr lang="en" sz="2400"/>
              <a:t>:  </a:t>
            </a:r>
            <a:r>
              <a:rPr lang="en" sz="2400" i="1"/>
              <a:t>numerical, discrete</a:t>
            </a:r>
            <a:endParaRPr sz="2400" i="1"/>
          </a:p>
          <a:p>
            <a:pPr marL="457200" lvl="0" indent="-342900" algn="l" rtl="0">
              <a:spcBef>
                <a:spcPts val="0"/>
              </a:spcBef>
              <a:spcAft>
                <a:spcPts val="0"/>
              </a:spcAft>
              <a:buSzPts val="1800"/>
              <a:buChar char="●"/>
            </a:pPr>
            <a:r>
              <a:rPr lang="en" sz="2400">
                <a:solidFill>
                  <a:schemeClr val="accent1"/>
                </a:solidFill>
              </a:rPr>
              <a:t>dread</a:t>
            </a:r>
            <a:r>
              <a:rPr lang="en" sz="2400"/>
              <a:t>: </a:t>
            </a:r>
            <a:r>
              <a:rPr lang="en" sz="2400" i="1"/>
              <a:t>categorical, ordinal - could also be used as numerical</a:t>
            </a:r>
            <a:endParaRPr sz="2400" i="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3"/>
          <p:cNvSpPr txBox="1">
            <a:spLocks noGrp="1"/>
          </p:cNvSpPr>
          <p:nvPr>
            <p:ph type="body" idx="1"/>
          </p:nvPr>
        </p:nvSpPr>
        <p:spPr>
          <a:xfrm>
            <a:off x="457200" y="1593850"/>
            <a:ext cx="8229600" cy="338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solidFill>
                  <a:schemeClr val="accent1"/>
                </a:solidFill>
              </a:rPr>
              <a:t>What type of variable is a telephone area code?</a:t>
            </a:r>
            <a:endParaRPr sz="2400">
              <a:solidFill>
                <a:schemeClr val="accent1"/>
              </a:solidFill>
            </a:endParaRPr>
          </a:p>
          <a:p>
            <a:pPr marL="0" lvl="0" indent="0" algn="l" rtl="0">
              <a:spcBef>
                <a:spcPts val="600"/>
              </a:spcBef>
              <a:spcAft>
                <a:spcPts val="0"/>
              </a:spcAft>
              <a:buNone/>
            </a:pPr>
            <a:endParaRPr sz="2400"/>
          </a:p>
          <a:p>
            <a:pPr marL="0" lvl="0" indent="0" algn="l" rtl="0">
              <a:spcBef>
                <a:spcPts val="600"/>
              </a:spcBef>
              <a:spcAft>
                <a:spcPts val="0"/>
              </a:spcAft>
              <a:buClr>
                <a:srgbClr val="000000"/>
              </a:buClr>
              <a:buSzPts val="1100"/>
              <a:buFont typeface="Arial"/>
              <a:buNone/>
            </a:pPr>
            <a:r>
              <a:rPr lang="en" sz="2400"/>
              <a:t>(a) numerical, continuous</a:t>
            </a:r>
            <a:endParaRPr sz="2400"/>
          </a:p>
          <a:p>
            <a:pPr marL="0" lvl="0" indent="0" algn="l" rtl="0">
              <a:spcBef>
                <a:spcPts val="600"/>
              </a:spcBef>
              <a:spcAft>
                <a:spcPts val="0"/>
              </a:spcAft>
              <a:buClr>
                <a:srgbClr val="000000"/>
              </a:buClr>
              <a:buSzPts val="1100"/>
              <a:buFont typeface="Arial"/>
              <a:buNone/>
            </a:pPr>
            <a:r>
              <a:rPr lang="en" sz="2400"/>
              <a:t>(b) numerical, discrete</a:t>
            </a:r>
            <a:endParaRPr sz="2400"/>
          </a:p>
          <a:p>
            <a:pPr marL="0" lvl="0" indent="0" algn="l" rtl="0">
              <a:spcBef>
                <a:spcPts val="600"/>
              </a:spcBef>
              <a:spcAft>
                <a:spcPts val="0"/>
              </a:spcAft>
              <a:buClr>
                <a:srgbClr val="000000"/>
              </a:buClr>
              <a:buSzPts val="1100"/>
              <a:buFont typeface="Arial"/>
              <a:buNone/>
            </a:pPr>
            <a:r>
              <a:rPr lang="en" sz="2400"/>
              <a:t>(c) categorical</a:t>
            </a:r>
            <a:endParaRPr sz="2400"/>
          </a:p>
          <a:p>
            <a:pPr marL="0" lvl="0" indent="0" algn="l" rtl="0">
              <a:spcBef>
                <a:spcPts val="600"/>
              </a:spcBef>
              <a:spcAft>
                <a:spcPts val="0"/>
              </a:spcAft>
              <a:buClr>
                <a:srgbClr val="000000"/>
              </a:buClr>
              <a:buSzPts val="1100"/>
              <a:buFont typeface="Arial"/>
              <a:buNone/>
            </a:pPr>
            <a:r>
              <a:rPr lang="en" sz="2400"/>
              <a:t>(d) categorical, ordinal</a:t>
            </a:r>
            <a:endParaRPr sz="2400"/>
          </a:p>
          <a:p>
            <a:pPr marL="0" lvl="0" indent="0" algn="l" rtl="0">
              <a:spcBef>
                <a:spcPts val="600"/>
              </a:spcBef>
              <a:spcAft>
                <a:spcPts val="0"/>
              </a:spcAft>
              <a:buNone/>
            </a:pPr>
            <a:endParaRPr sz="2400"/>
          </a:p>
        </p:txBody>
      </p:sp>
      <p:sp>
        <p:nvSpPr>
          <p:cNvPr id="128" name="Google Shape;128;p23"/>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4"/>
          <p:cNvSpPr txBox="1">
            <a:spLocks noGrp="1"/>
          </p:cNvSpPr>
          <p:nvPr>
            <p:ph type="body" idx="1"/>
          </p:nvPr>
        </p:nvSpPr>
        <p:spPr>
          <a:xfrm>
            <a:off x="457200" y="1593850"/>
            <a:ext cx="8229600" cy="338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solidFill>
                  <a:schemeClr val="accent1"/>
                </a:solidFill>
              </a:rPr>
              <a:t>What type of variable is a telephone area code?</a:t>
            </a:r>
            <a:endParaRPr sz="2400">
              <a:solidFill>
                <a:schemeClr val="accent1"/>
              </a:solidFill>
            </a:endParaRPr>
          </a:p>
          <a:p>
            <a:pPr marL="0" lvl="0" indent="0" algn="l" rtl="0">
              <a:spcBef>
                <a:spcPts val="600"/>
              </a:spcBef>
              <a:spcAft>
                <a:spcPts val="0"/>
              </a:spcAft>
              <a:buNone/>
            </a:pPr>
            <a:endParaRPr sz="2400"/>
          </a:p>
          <a:p>
            <a:pPr marL="0" lvl="0" indent="0" algn="l" rtl="0">
              <a:spcBef>
                <a:spcPts val="600"/>
              </a:spcBef>
              <a:spcAft>
                <a:spcPts val="0"/>
              </a:spcAft>
              <a:buNone/>
            </a:pPr>
            <a:r>
              <a:rPr lang="en" sz="2400"/>
              <a:t>(a) numerical, continuous</a:t>
            </a:r>
            <a:endParaRPr sz="2400"/>
          </a:p>
          <a:p>
            <a:pPr marL="0" lvl="0" indent="0" algn="l" rtl="0">
              <a:spcBef>
                <a:spcPts val="600"/>
              </a:spcBef>
              <a:spcAft>
                <a:spcPts val="0"/>
              </a:spcAft>
              <a:buNone/>
            </a:pPr>
            <a:r>
              <a:rPr lang="en" sz="2400"/>
              <a:t>(b) numerical, discrete</a:t>
            </a:r>
            <a:endParaRPr sz="2400"/>
          </a:p>
          <a:p>
            <a:pPr marL="0" lvl="0" indent="0" algn="l" rtl="0">
              <a:spcBef>
                <a:spcPts val="600"/>
              </a:spcBef>
              <a:spcAft>
                <a:spcPts val="0"/>
              </a:spcAft>
              <a:buNone/>
            </a:pPr>
            <a:r>
              <a:rPr lang="en" sz="2400">
                <a:solidFill>
                  <a:srgbClr val="FF9900"/>
                </a:solidFill>
              </a:rPr>
              <a:t>(c) </a:t>
            </a:r>
            <a:r>
              <a:rPr lang="en" sz="2400" i="1">
                <a:solidFill>
                  <a:srgbClr val="FF9900"/>
                </a:solidFill>
              </a:rPr>
              <a:t>categorical</a:t>
            </a:r>
            <a:endParaRPr sz="2400" i="1">
              <a:solidFill>
                <a:srgbClr val="FF9900"/>
              </a:solidFill>
            </a:endParaRPr>
          </a:p>
          <a:p>
            <a:pPr marL="0" lvl="0" indent="0" algn="l" rtl="0">
              <a:spcBef>
                <a:spcPts val="600"/>
              </a:spcBef>
              <a:spcAft>
                <a:spcPts val="0"/>
              </a:spcAft>
              <a:buNone/>
            </a:pPr>
            <a:r>
              <a:rPr lang="en" sz="2400"/>
              <a:t>(d) categorical, ordinal</a:t>
            </a:r>
            <a:endParaRPr sz="2400"/>
          </a:p>
          <a:p>
            <a:pPr marL="0" lvl="0" indent="0" algn="l" rtl="0">
              <a:spcBef>
                <a:spcPts val="600"/>
              </a:spcBef>
              <a:spcAft>
                <a:spcPts val="0"/>
              </a:spcAft>
              <a:buNone/>
            </a:pPr>
            <a:endParaRPr sz="2400"/>
          </a:p>
        </p:txBody>
      </p:sp>
      <p:sp>
        <p:nvSpPr>
          <p:cNvPr id="134" name="Google Shape;134;p24"/>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7"/>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1"/>
                </a:solidFill>
              </a:rPr>
              <a:t>Scatter Plots and Relationships among variables</a:t>
            </a:r>
            <a:endParaRPr dirty="0">
              <a:solidFill>
                <a:schemeClr val="accent1"/>
              </a:solidFill>
            </a:endParaRPr>
          </a:p>
        </p:txBody>
      </p:sp>
      <p:sp>
        <p:nvSpPr>
          <p:cNvPr id="155" name="Google Shape;155;p27"/>
          <p:cNvSpPr txBox="1">
            <a:spLocks noGrp="1"/>
          </p:cNvSpPr>
          <p:nvPr>
            <p:ph type="body" idx="1"/>
          </p:nvPr>
        </p:nvSpPr>
        <p:spPr>
          <a:xfrm>
            <a:off x="457200" y="1593850"/>
            <a:ext cx="8229600" cy="4853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a:t>Does there appear to be a relationship between the hours of study per week and the GPA of a student?</a:t>
            </a:r>
            <a:endParaRPr sz="2000"/>
          </a:p>
        </p:txBody>
      </p:sp>
      <p:pic>
        <p:nvPicPr>
          <p:cNvPr id="156" name="Google Shape;156;p27"/>
          <p:cNvPicPr preferRelativeResize="0"/>
          <p:nvPr/>
        </p:nvPicPr>
        <p:blipFill>
          <a:blip r:embed="rId3">
            <a:alphaModFix/>
          </a:blip>
          <a:stretch>
            <a:fillRect/>
          </a:stretch>
        </p:blipFill>
        <p:spPr>
          <a:xfrm>
            <a:off x="1387100" y="2511525"/>
            <a:ext cx="5068999" cy="2881025"/>
          </a:xfrm>
          <a:prstGeom prst="rect">
            <a:avLst/>
          </a:prstGeom>
          <a:noFill/>
          <a:ln>
            <a:noFill/>
          </a:ln>
        </p:spPr>
      </p:pic>
      <p:sp>
        <p:nvSpPr>
          <p:cNvPr id="157" name="Google Shape;157;p27"/>
          <p:cNvSpPr txBox="1"/>
          <p:nvPr/>
        </p:nvSpPr>
        <p:spPr>
          <a:xfrm>
            <a:off x="457200" y="5472400"/>
            <a:ext cx="8453400" cy="54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accent1"/>
                </a:solidFill>
              </a:rPr>
              <a:t>Can you spot anything unusual about any of the data points?</a:t>
            </a:r>
            <a:endParaRPr sz="2000">
              <a:solidFill>
                <a:schemeClr val="accent1"/>
              </a:solidFill>
            </a:endParaRPr>
          </a:p>
        </p:txBody>
      </p:sp>
      <p:sp>
        <p:nvSpPr>
          <p:cNvPr id="158" name="Google Shape;158;p27"/>
          <p:cNvSpPr txBox="1"/>
          <p:nvPr/>
        </p:nvSpPr>
        <p:spPr>
          <a:xfrm>
            <a:off x="457200" y="5897050"/>
            <a:ext cx="8453400" cy="54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There is one student with </a:t>
            </a:r>
            <a:r>
              <a:rPr lang="en" sz="2000" i="1"/>
              <a:t>GPA </a:t>
            </a:r>
            <a:r>
              <a:rPr lang="en" sz="2000"/>
              <a:t>&gt; 4.0, this is likely a data error.</a:t>
            </a: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fade">
                                      <p:cBhvr>
                                        <p:cTn id="7" dur="1000"/>
                                        <p:tgtEl>
                                          <p:spTgt spid="1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8"/>
                                        </p:tgtEl>
                                        <p:attrNameLst>
                                          <p:attrName>style.visibility</p:attrName>
                                        </p:attrNameLst>
                                      </p:cBhvr>
                                      <p:to>
                                        <p:strVal val="visible"/>
                                      </p:to>
                                    </p:set>
                                    <p:animEffect transition="in" filter="fade">
                                      <p:cBhvr>
                                        <p:cTn id="12"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p:nvPr/>
        </p:nvSpPr>
        <p:spPr>
          <a:xfrm>
            <a:off x="457200" y="4236850"/>
            <a:ext cx="8453400" cy="221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t>(a) There is no relationship between head length and skull width,</a:t>
            </a:r>
            <a:endParaRPr sz="2000"/>
          </a:p>
          <a:p>
            <a:pPr marL="0" lvl="0" indent="457200" algn="l" rtl="0">
              <a:lnSpc>
                <a:spcPct val="115000"/>
              </a:lnSpc>
              <a:spcBef>
                <a:spcPts val="0"/>
              </a:spcBef>
              <a:spcAft>
                <a:spcPts val="0"/>
              </a:spcAft>
              <a:buClr>
                <a:srgbClr val="000000"/>
              </a:buClr>
              <a:buSzPts val="1100"/>
              <a:buFont typeface="Arial"/>
              <a:buNone/>
            </a:pPr>
            <a:r>
              <a:rPr lang="en" sz="2000"/>
              <a:t>i.e. the variables are independent.</a:t>
            </a:r>
            <a:endParaRPr sz="2000"/>
          </a:p>
          <a:p>
            <a:pPr marL="0" lvl="0" indent="0" algn="l" rtl="0">
              <a:lnSpc>
                <a:spcPct val="115000"/>
              </a:lnSpc>
              <a:spcBef>
                <a:spcPts val="0"/>
              </a:spcBef>
              <a:spcAft>
                <a:spcPts val="0"/>
              </a:spcAft>
              <a:buClr>
                <a:srgbClr val="000000"/>
              </a:buClr>
              <a:buSzPts val="1100"/>
              <a:buFont typeface="Arial"/>
              <a:buNone/>
            </a:pPr>
            <a:r>
              <a:rPr lang="en" sz="2000"/>
              <a:t>(b) Head length and skull width are positively associated.</a:t>
            </a:r>
            <a:endParaRPr sz="2000"/>
          </a:p>
          <a:p>
            <a:pPr marL="0" lvl="0" indent="0" algn="l" rtl="0">
              <a:lnSpc>
                <a:spcPct val="115000"/>
              </a:lnSpc>
              <a:spcBef>
                <a:spcPts val="0"/>
              </a:spcBef>
              <a:spcAft>
                <a:spcPts val="0"/>
              </a:spcAft>
              <a:buClr>
                <a:srgbClr val="000000"/>
              </a:buClr>
              <a:buSzPts val="1100"/>
              <a:buFont typeface="Arial"/>
              <a:buNone/>
            </a:pPr>
            <a:r>
              <a:rPr lang="en" sz="2000"/>
              <a:t>(c) Skull width and head length are negatively associated.</a:t>
            </a:r>
            <a:endParaRPr sz="2000"/>
          </a:p>
          <a:p>
            <a:pPr marL="0" lvl="0" indent="0" algn="l" rtl="0">
              <a:lnSpc>
                <a:spcPct val="115000"/>
              </a:lnSpc>
              <a:spcBef>
                <a:spcPts val="0"/>
              </a:spcBef>
              <a:spcAft>
                <a:spcPts val="0"/>
              </a:spcAft>
              <a:buClr>
                <a:srgbClr val="000000"/>
              </a:buClr>
              <a:buSzPts val="1100"/>
              <a:buFont typeface="Arial"/>
              <a:buNone/>
            </a:pPr>
            <a:r>
              <a:rPr lang="en" sz="2000"/>
              <a:t>(d) A longer head causes the skull to be wider.</a:t>
            </a:r>
            <a:endParaRPr sz="2000"/>
          </a:p>
          <a:p>
            <a:pPr marL="0" lvl="0" indent="0" algn="l" rtl="0">
              <a:lnSpc>
                <a:spcPct val="115000"/>
              </a:lnSpc>
              <a:spcBef>
                <a:spcPts val="0"/>
              </a:spcBef>
              <a:spcAft>
                <a:spcPts val="0"/>
              </a:spcAft>
              <a:buNone/>
            </a:pPr>
            <a:r>
              <a:rPr lang="en" sz="2000"/>
              <a:t>(e) A wider skull causes the head to be longer.</a:t>
            </a:r>
            <a:endParaRPr sz="2000"/>
          </a:p>
        </p:txBody>
      </p:sp>
      <p:sp>
        <p:nvSpPr>
          <p:cNvPr id="164" name="Google Shape;164;p28"/>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165" name="Google Shape;165;p28"/>
          <p:cNvSpPr txBox="1">
            <a:spLocks noGrp="1"/>
          </p:cNvSpPr>
          <p:nvPr>
            <p:ph type="body" idx="1"/>
          </p:nvPr>
        </p:nvSpPr>
        <p:spPr>
          <a:xfrm>
            <a:off x="457200" y="1593850"/>
            <a:ext cx="3458400" cy="2210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a:solidFill>
                  <a:schemeClr val="accent1"/>
                </a:solidFill>
              </a:rPr>
              <a:t>Based on the scatterplot on the right, which of the following statements is correct about the head and skull lengths of possums?</a:t>
            </a:r>
            <a:endParaRPr sz="2000">
              <a:solidFill>
                <a:schemeClr val="accent1"/>
              </a:solidFill>
            </a:endParaRPr>
          </a:p>
        </p:txBody>
      </p:sp>
      <p:pic>
        <p:nvPicPr>
          <p:cNvPr id="166" name="Google Shape;166;p28"/>
          <p:cNvPicPr preferRelativeResize="0"/>
          <p:nvPr/>
        </p:nvPicPr>
        <p:blipFill>
          <a:blip r:embed="rId3">
            <a:alphaModFix/>
          </a:blip>
          <a:stretch>
            <a:fillRect/>
          </a:stretch>
        </p:blipFill>
        <p:spPr>
          <a:xfrm>
            <a:off x="4022100" y="1593850"/>
            <a:ext cx="4325625" cy="24655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p:nvPr/>
        </p:nvSpPr>
        <p:spPr>
          <a:xfrm>
            <a:off x="457200" y="4236850"/>
            <a:ext cx="8453400" cy="221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t>(a) There is no relationship between head length and skull width,</a:t>
            </a:r>
            <a:endParaRPr sz="2000"/>
          </a:p>
          <a:p>
            <a:pPr marL="0" lvl="0" indent="457200" algn="l" rtl="0">
              <a:lnSpc>
                <a:spcPct val="115000"/>
              </a:lnSpc>
              <a:spcBef>
                <a:spcPts val="0"/>
              </a:spcBef>
              <a:spcAft>
                <a:spcPts val="0"/>
              </a:spcAft>
              <a:buNone/>
            </a:pPr>
            <a:r>
              <a:rPr lang="en" sz="2000"/>
              <a:t>i.e. the variables are independent.</a:t>
            </a:r>
            <a:endParaRPr sz="2000"/>
          </a:p>
          <a:p>
            <a:pPr marL="0" lvl="0" indent="0" algn="l" rtl="0">
              <a:lnSpc>
                <a:spcPct val="115000"/>
              </a:lnSpc>
              <a:spcBef>
                <a:spcPts val="0"/>
              </a:spcBef>
              <a:spcAft>
                <a:spcPts val="0"/>
              </a:spcAft>
              <a:buNone/>
            </a:pPr>
            <a:r>
              <a:rPr lang="en" sz="2000">
                <a:solidFill>
                  <a:srgbClr val="FF9900"/>
                </a:solidFill>
              </a:rPr>
              <a:t>(b) </a:t>
            </a:r>
            <a:r>
              <a:rPr lang="en" sz="2000" i="1">
                <a:solidFill>
                  <a:srgbClr val="FF9900"/>
                </a:solidFill>
              </a:rPr>
              <a:t>Head length and skull width are positively associated.</a:t>
            </a:r>
            <a:endParaRPr sz="2000" i="1">
              <a:solidFill>
                <a:srgbClr val="FF9900"/>
              </a:solidFill>
            </a:endParaRPr>
          </a:p>
          <a:p>
            <a:pPr marL="0" lvl="0" indent="0" algn="l" rtl="0">
              <a:lnSpc>
                <a:spcPct val="115000"/>
              </a:lnSpc>
              <a:spcBef>
                <a:spcPts val="0"/>
              </a:spcBef>
              <a:spcAft>
                <a:spcPts val="0"/>
              </a:spcAft>
              <a:buNone/>
            </a:pPr>
            <a:r>
              <a:rPr lang="en" sz="2000"/>
              <a:t>(c) Skull width and head length are negatively associated.</a:t>
            </a:r>
            <a:endParaRPr sz="2000"/>
          </a:p>
          <a:p>
            <a:pPr marL="0" lvl="0" indent="0" algn="l" rtl="0">
              <a:lnSpc>
                <a:spcPct val="115000"/>
              </a:lnSpc>
              <a:spcBef>
                <a:spcPts val="0"/>
              </a:spcBef>
              <a:spcAft>
                <a:spcPts val="0"/>
              </a:spcAft>
              <a:buNone/>
            </a:pPr>
            <a:r>
              <a:rPr lang="en" sz="2000"/>
              <a:t>(d) A longer head causes the skull to be wider.</a:t>
            </a:r>
            <a:endParaRPr sz="2000"/>
          </a:p>
          <a:p>
            <a:pPr marL="0" lvl="0" indent="0" algn="l" rtl="0">
              <a:lnSpc>
                <a:spcPct val="115000"/>
              </a:lnSpc>
              <a:spcBef>
                <a:spcPts val="0"/>
              </a:spcBef>
              <a:spcAft>
                <a:spcPts val="0"/>
              </a:spcAft>
              <a:buNone/>
            </a:pPr>
            <a:r>
              <a:rPr lang="en" sz="2000"/>
              <a:t>(e) A wider skull causes the head to be longer.</a:t>
            </a:r>
            <a:endParaRPr sz="2000"/>
          </a:p>
        </p:txBody>
      </p:sp>
      <p:sp>
        <p:nvSpPr>
          <p:cNvPr id="172" name="Google Shape;172;p29"/>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173" name="Google Shape;173;p29"/>
          <p:cNvSpPr txBox="1">
            <a:spLocks noGrp="1"/>
          </p:cNvSpPr>
          <p:nvPr>
            <p:ph type="body" idx="1"/>
          </p:nvPr>
        </p:nvSpPr>
        <p:spPr>
          <a:xfrm>
            <a:off x="457200" y="1593850"/>
            <a:ext cx="3458400" cy="2210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a:t>Based on the scatterplot on the right, which of the following statements is correct about the head and skull lengths of possums?</a:t>
            </a:r>
            <a:endParaRPr sz="2000"/>
          </a:p>
        </p:txBody>
      </p:sp>
      <p:pic>
        <p:nvPicPr>
          <p:cNvPr id="174" name="Google Shape;174;p29"/>
          <p:cNvPicPr preferRelativeResize="0"/>
          <p:nvPr/>
        </p:nvPicPr>
        <p:blipFill>
          <a:blip r:embed="rId3">
            <a:alphaModFix/>
          </a:blip>
          <a:stretch>
            <a:fillRect/>
          </a:stretch>
        </p:blipFill>
        <p:spPr>
          <a:xfrm>
            <a:off x="4022100" y="1593850"/>
            <a:ext cx="4325625" cy="24655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0"/>
          <p:cNvSpPr txBox="1">
            <a:spLocks noGrp="1"/>
          </p:cNvSpPr>
          <p:nvPr>
            <p:ph type="body" idx="1"/>
          </p:nvPr>
        </p:nvSpPr>
        <p:spPr>
          <a:xfrm>
            <a:off x="457200" y="1593850"/>
            <a:ext cx="7820400" cy="4558800"/>
          </a:xfrm>
          <a:prstGeom prst="rect">
            <a:avLst/>
          </a:prstGeom>
        </p:spPr>
        <p:txBody>
          <a:bodyPr spcFirstLastPara="1" wrap="square" lIns="91425" tIns="91425" rIns="91425" bIns="91425" anchor="t" anchorCtr="0">
            <a:noAutofit/>
          </a:bodyPr>
          <a:lstStyle/>
          <a:p>
            <a:pPr marL="457200" lvl="0" indent="-381000" algn="l" rtl="0">
              <a:lnSpc>
                <a:spcPct val="115000"/>
              </a:lnSpc>
              <a:spcBef>
                <a:spcPts val="600"/>
              </a:spcBef>
              <a:spcAft>
                <a:spcPts val="0"/>
              </a:spcAft>
              <a:buSzPts val="2400"/>
              <a:buChar char="●"/>
            </a:pPr>
            <a:r>
              <a:rPr lang="en" sz="2400"/>
              <a:t>When two variables show some connection with one another, they are called </a:t>
            </a:r>
            <a:r>
              <a:rPr lang="en" sz="2400" i="1">
                <a:solidFill>
                  <a:schemeClr val="accent1"/>
                </a:solidFill>
              </a:rPr>
              <a:t>associated</a:t>
            </a:r>
            <a:r>
              <a:rPr lang="en" sz="2400" i="1"/>
              <a:t> </a:t>
            </a:r>
            <a:r>
              <a:rPr lang="en" sz="2400"/>
              <a:t>variables.</a:t>
            </a:r>
            <a:endParaRPr sz="2400"/>
          </a:p>
          <a:p>
            <a:pPr marL="914400" lvl="1" indent="-381000" algn="l" rtl="0">
              <a:lnSpc>
                <a:spcPct val="115000"/>
              </a:lnSpc>
              <a:spcBef>
                <a:spcPts val="0"/>
              </a:spcBef>
              <a:spcAft>
                <a:spcPts val="0"/>
              </a:spcAft>
              <a:buSzPts val="2400"/>
              <a:buChar char="○"/>
            </a:pPr>
            <a:r>
              <a:rPr lang="en" sz="2400"/>
              <a:t>Associated variables can also be called </a:t>
            </a:r>
            <a:r>
              <a:rPr lang="en" sz="2400" i="1">
                <a:solidFill>
                  <a:schemeClr val="accent1"/>
                </a:solidFill>
              </a:rPr>
              <a:t>dependent</a:t>
            </a:r>
            <a:r>
              <a:rPr lang="en" sz="2400" i="1"/>
              <a:t> </a:t>
            </a:r>
            <a:r>
              <a:rPr lang="en" sz="2400"/>
              <a:t>variables and vice-versa.</a:t>
            </a:r>
            <a:endParaRPr/>
          </a:p>
          <a:p>
            <a:pPr marL="457200" lvl="0" indent="-381000" algn="l" rtl="0">
              <a:lnSpc>
                <a:spcPct val="115000"/>
              </a:lnSpc>
              <a:spcBef>
                <a:spcPts val="0"/>
              </a:spcBef>
              <a:spcAft>
                <a:spcPts val="0"/>
              </a:spcAft>
              <a:buSzPts val="2400"/>
              <a:buChar char="●"/>
            </a:pPr>
            <a:r>
              <a:rPr lang="en" sz="2400"/>
              <a:t>If two variables are not associated, i.e. there is no evident connection between the two, then they are said to be </a:t>
            </a:r>
            <a:r>
              <a:rPr lang="en" sz="2400" i="1">
                <a:solidFill>
                  <a:schemeClr val="accent1"/>
                </a:solidFill>
              </a:rPr>
              <a:t>independent</a:t>
            </a:r>
            <a:r>
              <a:rPr lang="en" sz="2400"/>
              <a:t>.</a:t>
            </a:r>
            <a:endParaRPr sz="2400"/>
          </a:p>
          <a:p>
            <a:pPr marL="0" lvl="0" indent="0" algn="l" rtl="0">
              <a:lnSpc>
                <a:spcPct val="115000"/>
              </a:lnSpc>
              <a:spcBef>
                <a:spcPts val="600"/>
              </a:spcBef>
              <a:spcAft>
                <a:spcPts val="0"/>
              </a:spcAft>
              <a:buNone/>
            </a:pPr>
            <a:endParaRPr sz="2400"/>
          </a:p>
        </p:txBody>
      </p:sp>
      <p:sp>
        <p:nvSpPr>
          <p:cNvPr id="180" name="Google Shape;180;p30"/>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Associated vs. independent</a:t>
            </a:r>
            <a:endParaRPr>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Observational studies and sampling strategies</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3"/>
          <p:cNvSpPr txBox="1">
            <a:spLocks noGrp="1"/>
          </p:cNvSpPr>
          <p:nvPr>
            <p:ph type="body" idx="1"/>
          </p:nvPr>
        </p:nvSpPr>
        <p:spPr>
          <a:xfrm flipH="1">
            <a:off x="4926125" y="3295575"/>
            <a:ext cx="4011900" cy="638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i="1">
                <a:solidFill>
                  <a:schemeClr val="accent1"/>
                </a:solidFill>
              </a:rPr>
              <a:t>Population of Interest</a:t>
            </a:r>
            <a:r>
              <a:rPr lang="en" sz="2000">
                <a:solidFill>
                  <a:schemeClr val="accent1"/>
                </a:solidFill>
              </a:rPr>
              <a:t>: </a:t>
            </a:r>
            <a:r>
              <a:rPr lang="en" sz="2000"/>
              <a:t>All people</a:t>
            </a:r>
            <a:endParaRPr sz="2000"/>
          </a:p>
        </p:txBody>
      </p:sp>
      <p:sp>
        <p:nvSpPr>
          <p:cNvPr id="66" name="Google Shape;66;p13"/>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Populations and Samples</a:t>
            </a:r>
            <a:endParaRPr>
              <a:solidFill>
                <a:schemeClr val="accent1"/>
              </a:solidFill>
            </a:endParaRPr>
          </a:p>
        </p:txBody>
      </p:sp>
      <p:pic>
        <p:nvPicPr>
          <p:cNvPr id="67" name="Google Shape;67;p13"/>
          <p:cNvPicPr preferRelativeResize="0"/>
          <p:nvPr/>
        </p:nvPicPr>
        <p:blipFill>
          <a:blip r:embed="rId3">
            <a:alphaModFix/>
          </a:blip>
          <a:stretch>
            <a:fillRect/>
          </a:stretch>
        </p:blipFill>
        <p:spPr>
          <a:xfrm>
            <a:off x="457200" y="1668725"/>
            <a:ext cx="4187700" cy="3172700"/>
          </a:xfrm>
          <a:prstGeom prst="rect">
            <a:avLst/>
          </a:prstGeom>
          <a:noFill/>
          <a:ln>
            <a:noFill/>
          </a:ln>
        </p:spPr>
      </p:pic>
      <p:sp>
        <p:nvSpPr>
          <p:cNvPr id="68" name="Google Shape;68;p13"/>
          <p:cNvSpPr txBox="1"/>
          <p:nvPr/>
        </p:nvSpPr>
        <p:spPr>
          <a:xfrm>
            <a:off x="457200" y="4865425"/>
            <a:ext cx="4187700" cy="52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http://well.blogs.nytimes.com/2012/08/29/finding-your-ideal-running-form</a:t>
            </a:r>
            <a:endParaRPr/>
          </a:p>
        </p:txBody>
      </p:sp>
      <p:sp>
        <p:nvSpPr>
          <p:cNvPr id="69" name="Google Shape;69;p13"/>
          <p:cNvSpPr txBox="1">
            <a:spLocks noGrp="1"/>
          </p:cNvSpPr>
          <p:nvPr>
            <p:ph type="body" idx="1"/>
          </p:nvPr>
        </p:nvSpPr>
        <p:spPr>
          <a:xfrm flipH="1">
            <a:off x="4925850" y="1732825"/>
            <a:ext cx="4073100" cy="156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i="1">
                <a:solidFill>
                  <a:schemeClr val="accent1"/>
                </a:solidFill>
              </a:rPr>
              <a:t>Research Question</a:t>
            </a:r>
            <a:r>
              <a:rPr lang="en" sz="2000">
                <a:solidFill>
                  <a:schemeClr val="accent1"/>
                </a:solidFill>
              </a:rPr>
              <a:t>: </a:t>
            </a:r>
            <a:r>
              <a:rPr lang="en" sz="2000"/>
              <a:t>Can people become better, more efficient runners on their own, merely by running?</a:t>
            </a:r>
            <a:endParaRPr sz="2000"/>
          </a:p>
        </p:txBody>
      </p:sp>
      <p:sp>
        <p:nvSpPr>
          <p:cNvPr id="70" name="Google Shape;70;p13"/>
          <p:cNvSpPr txBox="1">
            <a:spLocks noGrp="1"/>
          </p:cNvSpPr>
          <p:nvPr>
            <p:ph type="body" idx="1"/>
          </p:nvPr>
        </p:nvSpPr>
        <p:spPr>
          <a:xfrm flipH="1">
            <a:off x="457200" y="5276350"/>
            <a:ext cx="8063100" cy="1013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i="1">
                <a:solidFill>
                  <a:schemeClr val="accent1"/>
                </a:solidFill>
              </a:rPr>
              <a:t>Sample</a:t>
            </a:r>
            <a:r>
              <a:rPr lang="en" sz="2000">
                <a:solidFill>
                  <a:schemeClr val="accent1"/>
                </a:solidFill>
              </a:rPr>
              <a:t>:  </a:t>
            </a:r>
            <a:r>
              <a:rPr lang="en" sz="2000"/>
              <a:t>Group of adult women who recently joined a running group</a:t>
            </a:r>
            <a:endParaRPr sz="2000"/>
          </a:p>
        </p:txBody>
      </p:sp>
      <p:sp>
        <p:nvSpPr>
          <p:cNvPr id="71" name="Google Shape;71;p13"/>
          <p:cNvSpPr txBox="1">
            <a:spLocks noGrp="1"/>
          </p:cNvSpPr>
          <p:nvPr>
            <p:ph type="body" idx="1"/>
          </p:nvPr>
        </p:nvSpPr>
        <p:spPr>
          <a:xfrm flipH="1">
            <a:off x="457200" y="5733550"/>
            <a:ext cx="8063100" cy="1013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000" i="1">
                <a:solidFill>
                  <a:schemeClr val="accent1"/>
                </a:solidFill>
              </a:rPr>
              <a:t>Population to which results can be generalized</a:t>
            </a:r>
            <a:r>
              <a:rPr lang="en" sz="2000">
                <a:solidFill>
                  <a:schemeClr val="accent1"/>
                </a:solidFill>
              </a:rPr>
              <a:t>:  </a:t>
            </a:r>
            <a:r>
              <a:rPr lang="en" sz="2000">
                <a:solidFill>
                  <a:srgbClr val="000000"/>
                </a:solidFill>
              </a:rPr>
              <a:t>Adult women, if the data are randomly sampled</a:t>
            </a:r>
            <a:endParaRPr sz="20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body" idx="1"/>
          </p:nvPr>
        </p:nvSpPr>
        <p:spPr>
          <a:xfrm>
            <a:off x="457200" y="1112850"/>
            <a:ext cx="8229600" cy="50370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 sz="2000"/>
              <a:t>Anti-smoking research started in the 1930s and 1940s when cigarette smoking became increasingly popular. While some smokers seemed to be sensitive to cigarette smoke, others were completely unaffected.</a:t>
            </a:r>
            <a:br>
              <a:rPr lang="en" sz="2000"/>
            </a:br>
            <a:endParaRPr sz="1000"/>
          </a:p>
          <a:p>
            <a:pPr marL="457200" lvl="0" indent="-355600" algn="l" rtl="0">
              <a:lnSpc>
                <a:spcPct val="115000"/>
              </a:lnSpc>
              <a:spcBef>
                <a:spcPts val="0"/>
              </a:spcBef>
              <a:spcAft>
                <a:spcPts val="0"/>
              </a:spcAft>
              <a:buSzPts val="2000"/>
              <a:buChar char="●"/>
            </a:pPr>
            <a:r>
              <a:rPr lang="en" sz="2000"/>
              <a:t>Anti-smoking research was faced with resistance based on </a:t>
            </a:r>
            <a:r>
              <a:rPr lang="en" sz="2000">
                <a:solidFill>
                  <a:schemeClr val="accent1"/>
                </a:solidFill>
              </a:rPr>
              <a:t>anecdotal evidence</a:t>
            </a:r>
            <a:r>
              <a:rPr lang="en" sz="2000"/>
              <a:t> such as "My uncle smokes three packs a day and he's in perfectly good health", evidence based on a limited sample size that might not be representative of the population.</a:t>
            </a:r>
            <a:br>
              <a:rPr lang="en" sz="2000"/>
            </a:br>
            <a:endParaRPr sz="1000"/>
          </a:p>
          <a:p>
            <a:pPr marL="457200" lvl="0" indent="-355600" algn="l" rtl="0">
              <a:lnSpc>
                <a:spcPct val="115000"/>
              </a:lnSpc>
              <a:spcBef>
                <a:spcPts val="0"/>
              </a:spcBef>
              <a:spcAft>
                <a:spcPts val="0"/>
              </a:spcAft>
              <a:buSzPts val="2000"/>
              <a:buChar char="●"/>
            </a:pPr>
            <a:r>
              <a:rPr lang="en" sz="2000"/>
              <a:t>It was concluded that "smoking is a complex human behavior, by its nature difficult to study, confounded by human variability."</a:t>
            </a:r>
            <a:br>
              <a:rPr lang="en" sz="2000"/>
            </a:br>
            <a:endParaRPr sz="1000"/>
          </a:p>
          <a:p>
            <a:pPr marL="457200" lvl="0" indent="-355600" algn="l" rtl="0">
              <a:lnSpc>
                <a:spcPct val="115000"/>
              </a:lnSpc>
              <a:spcBef>
                <a:spcPts val="0"/>
              </a:spcBef>
              <a:spcAft>
                <a:spcPts val="0"/>
              </a:spcAft>
              <a:buSzPts val="2000"/>
              <a:buChar char="●"/>
            </a:pPr>
            <a:r>
              <a:rPr lang="en" sz="2000"/>
              <a:t>In time researchers were able to examine larger samples of cases (smokers), and trends showing that smoking has negative health impacts became much clearer.</a:t>
            </a:r>
            <a:endParaRPr sz="2000"/>
          </a:p>
        </p:txBody>
      </p:sp>
      <p:sp>
        <p:nvSpPr>
          <p:cNvPr id="77" name="Google Shape;77;p14"/>
          <p:cNvSpPr txBox="1">
            <a:spLocks noGrp="1"/>
          </p:cNvSpPr>
          <p:nvPr>
            <p:ph type="title"/>
          </p:nvPr>
        </p:nvSpPr>
        <p:spPr>
          <a:xfrm>
            <a:off x="457200" y="19845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solidFill>
                  <a:schemeClr val="accent1"/>
                </a:solidFill>
              </a:rPr>
              <a:t>Anecdotal evidence and early smoking research</a:t>
            </a:r>
            <a:endParaRPr sz="300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animEffect transition="in" filter="fade">
                                      <p:cBhvr>
                                        <p:cTn id="7" dur="1000"/>
                                        <p:tgtEl>
                                          <p:spTgt spid="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
                                            <p:txEl>
                                              <p:pRg st="1" end="1"/>
                                            </p:txEl>
                                          </p:spTgt>
                                        </p:tgtEl>
                                        <p:attrNameLst>
                                          <p:attrName>style.visibility</p:attrName>
                                        </p:attrNameLst>
                                      </p:cBhvr>
                                      <p:to>
                                        <p:strVal val="visible"/>
                                      </p:to>
                                    </p:set>
                                    <p:animEffect transition="in" filter="fade">
                                      <p:cBhvr>
                                        <p:cTn id="12" dur="1000"/>
                                        <p:tgtEl>
                                          <p:spTgt spid="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
                                            <p:txEl>
                                              <p:pRg st="2" end="2"/>
                                            </p:txEl>
                                          </p:spTgt>
                                        </p:tgtEl>
                                        <p:attrNameLst>
                                          <p:attrName>style.visibility</p:attrName>
                                        </p:attrNameLst>
                                      </p:cBhvr>
                                      <p:to>
                                        <p:strVal val="visible"/>
                                      </p:to>
                                    </p:set>
                                    <p:animEffect transition="in" filter="fade">
                                      <p:cBhvr>
                                        <p:cTn id="17" dur="1000"/>
                                        <p:tgtEl>
                                          <p:spTgt spid="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
                                            <p:txEl>
                                              <p:pRg st="3" end="3"/>
                                            </p:txEl>
                                          </p:spTgt>
                                        </p:tgtEl>
                                        <p:attrNameLst>
                                          <p:attrName>style.visibility</p:attrName>
                                        </p:attrNameLst>
                                      </p:cBhvr>
                                      <p:to>
                                        <p:strVal val="visible"/>
                                      </p:to>
                                    </p:set>
                                    <p:animEffect transition="in" filter="fade">
                                      <p:cBhvr>
                                        <p:cTn id="22" dur="1000"/>
                                        <p:tgtEl>
                                          <p:spTgt spid="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body" idx="1"/>
          </p:nvPr>
        </p:nvSpPr>
        <p:spPr>
          <a:xfrm>
            <a:off x="457200" y="1417650"/>
            <a:ext cx="8229600" cy="15696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 sz="2000"/>
              <a:t>Wouldn't it be better to just include everyone and "sample" the entire population?</a:t>
            </a:r>
            <a:endParaRPr sz="2000"/>
          </a:p>
          <a:p>
            <a:pPr marL="914400" lvl="1" indent="-355600" algn="l" rtl="0">
              <a:lnSpc>
                <a:spcPct val="115000"/>
              </a:lnSpc>
              <a:spcBef>
                <a:spcPts val="0"/>
              </a:spcBef>
              <a:spcAft>
                <a:spcPts val="0"/>
              </a:spcAft>
              <a:buSzPts val="2000"/>
              <a:buChar char="○"/>
            </a:pPr>
            <a:r>
              <a:rPr lang="en" sz="2000"/>
              <a:t>This is called a </a:t>
            </a:r>
            <a:r>
              <a:rPr lang="en" sz="2000" i="1">
                <a:solidFill>
                  <a:schemeClr val="accent1"/>
                </a:solidFill>
              </a:rPr>
              <a:t>census</a:t>
            </a:r>
            <a:r>
              <a:rPr lang="en" sz="2000">
                <a:solidFill>
                  <a:srgbClr val="000000"/>
                </a:solidFill>
              </a:rPr>
              <a:t>.</a:t>
            </a:r>
            <a:endParaRPr sz="2000">
              <a:solidFill>
                <a:srgbClr val="000000"/>
              </a:solidFill>
            </a:endParaRPr>
          </a:p>
        </p:txBody>
      </p:sp>
      <p:sp>
        <p:nvSpPr>
          <p:cNvPr id="90" name="Google Shape;90;p16"/>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Census</a:t>
            </a:r>
            <a:endParaRPr>
              <a:solidFill>
                <a:schemeClr val="accent1"/>
              </a:solidFill>
            </a:endParaRPr>
          </a:p>
        </p:txBody>
      </p:sp>
      <p:sp>
        <p:nvSpPr>
          <p:cNvPr id="91" name="Google Shape;91;p16"/>
          <p:cNvSpPr txBox="1">
            <a:spLocks noGrp="1"/>
          </p:cNvSpPr>
          <p:nvPr>
            <p:ph type="body" idx="1"/>
          </p:nvPr>
        </p:nvSpPr>
        <p:spPr>
          <a:xfrm>
            <a:off x="457200" y="2684225"/>
            <a:ext cx="8229600" cy="38940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 sz="2000"/>
              <a:t>There are problems with taking a census:</a:t>
            </a:r>
            <a:endParaRPr sz="2000"/>
          </a:p>
          <a:p>
            <a:pPr marL="914400" lvl="1" indent="-355600" algn="l" rtl="0">
              <a:lnSpc>
                <a:spcPct val="115000"/>
              </a:lnSpc>
              <a:spcBef>
                <a:spcPts val="0"/>
              </a:spcBef>
              <a:spcAft>
                <a:spcPts val="0"/>
              </a:spcAft>
              <a:buSzPts val="2000"/>
              <a:buChar char="○"/>
            </a:pPr>
            <a:r>
              <a:rPr lang="en" sz="2000"/>
              <a:t>It can be difficult to complete a census: there always seem to be some individuals who are hard to locate or hard to measure. </a:t>
            </a:r>
            <a:r>
              <a:rPr lang="en" sz="2000" i="1"/>
              <a:t>And these difficult-to-find people may have certain characteristics that distinguish them from the rest of the population.</a:t>
            </a:r>
            <a:endParaRPr sz="2000" i="1"/>
          </a:p>
          <a:p>
            <a:pPr marL="914400" lvl="1" indent="-355600" algn="l" rtl="0">
              <a:lnSpc>
                <a:spcPct val="115000"/>
              </a:lnSpc>
              <a:spcBef>
                <a:spcPts val="0"/>
              </a:spcBef>
              <a:spcAft>
                <a:spcPts val="0"/>
              </a:spcAft>
              <a:buSzPts val="2000"/>
              <a:buChar char="○"/>
            </a:pPr>
            <a:r>
              <a:rPr lang="en" sz="2000"/>
              <a:t>Populations rarely stand still. Even if you could take a census, the population changes constantly, so it's never possible to get a perfect measure.</a:t>
            </a:r>
            <a:endParaRPr sz="2000"/>
          </a:p>
          <a:p>
            <a:pPr marL="914400" lvl="1" indent="-355600" algn="l" rtl="0">
              <a:lnSpc>
                <a:spcPct val="115000"/>
              </a:lnSpc>
              <a:spcBef>
                <a:spcPts val="0"/>
              </a:spcBef>
              <a:spcAft>
                <a:spcPts val="0"/>
              </a:spcAft>
              <a:buSzPts val="2000"/>
              <a:buChar char="○"/>
            </a:pPr>
            <a:r>
              <a:rPr lang="en" sz="2000"/>
              <a:t>Taking a census may be more complex than sampling.</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7"/>
          <p:cNvPicPr preferRelativeResize="0"/>
          <p:nvPr/>
        </p:nvPicPr>
        <p:blipFill>
          <a:blip r:embed="rId3">
            <a:alphaModFix/>
          </a:blip>
          <a:stretch>
            <a:fillRect/>
          </a:stretch>
        </p:blipFill>
        <p:spPr>
          <a:xfrm>
            <a:off x="577100" y="1499750"/>
            <a:ext cx="7989800" cy="3858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body" idx="1"/>
          </p:nvPr>
        </p:nvSpPr>
        <p:spPr>
          <a:xfrm>
            <a:off x="457200" y="1143000"/>
            <a:ext cx="8229600" cy="25713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lang="en" sz="1900"/>
              <a:t>Sampling is natural.</a:t>
            </a:r>
            <a:br>
              <a:rPr lang="en" sz="1900"/>
            </a:br>
            <a:endParaRPr sz="600"/>
          </a:p>
          <a:p>
            <a:pPr marL="457200" lvl="0" indent="-349250" algn="l" rtl="0">
              <a:lnSpc>
                <a:spcPct val="115000"/>
              </a:lnSpc>
              <a:spcBef>
                <a:spcPts val="0"/>
              </a:spcBef>
              <a:spcAft>
                <a:spcPts val="0"/>
              </a:spcAft>
              <a:buSzPts val="1900"/>
              <a:buChar char="●"/>
            </a:pPr>
            <a:r>
              <a:rPr lang="en" sz="1900">
                <a:solidFill>
                  <a:srgbClr val="000000"/>
                </a:solidFill>
              </a:rPr>
              <a:t>Think about sampling something you are cooking - you taste (examine) a small part of what you're cooking to get an idea about the dish as a whole.</a:t>
            </a:r>
            <a:br>
              <a:rPr lang="en" sz="1900">
                <a:solidFill>
                  <a:srgbClr val="000000"/>
                </a:solidFill>
              </a:rPr>
            </a:br>
            <a:endParaRPr sz="600">
              <a:solidFill>
                <a:srgbClr val="000000"/>
              </a:solidFill>
            </a:endParaRPr>
          </a:p>
          <a:p>
            <a:pPr marL="457200" lvl="0" indent="-349250" algn="l" rtl="0">
              <a:lnSpc>
                <a:spcPct val="115000"/>
              </a:lnSpc>
              <a:spcBef>
                <a:spcPts val="0"/>
              </a:spcBef>
              <a:spcAft>
                <a:spcPts val="0"/>
              </a:spcAft>
              <a:buSzPts val="1900"/>
              <a:buChar char="●"/>
            </a:pPr>
            <a:r>
              <a:rPr lang="en" sz="1900">
                <a:solidFill>
                  <a:srgbClr val="000000"/>
                </a:solidFill>
              </a:rPr>
              <a:t>When you taste a spoonful of soup and decide the spoonful you tasted isn't salty enough, that's </a:t>
            </a:r>
            <a:r>
              <a:rPr lang="en" sz="1900" i="1">
                <a:solidFill>
                  <a:schemeClr val="accent1"/>
                </a:solidFill>
              </a:rPr>
              <a:t>exploratory analysi</a:t>
            </a:r>
            <a:r>
              <a:rPr lang="en" sz="1900">
                <a:solidFill>
                  <a:schemeClr val="accent1"/>
                </a:solidFill>
              </a:rPr>
              <a:t>s</a:t>
            </a:r>
            <a:r>
              <a:rPr lang="en" sz="1900">
                <a:solidFill>
                  <a:srgbClr val="000000"/>
                </a:solidFill>
              </a:rPr>
              <a:t>.</a:t>
            </a:r>
            <a:br>
              <a:rPr lang="en" sz="1900">
                <a:solidFill>
                  <a:srgbClr val="000000"/>
                </a:solidFill>
              </a:rPr>
            </a:br>
            <a:endParaRPr sz="600">
              <a:solidFill>
                <a:srgbClr val="000000"/>
              </a:solidFill>
            </a:endParaRPr>
          </a:p>
          <a:p>
            <a:pPr marL="457200" lvl="0" indent="-349250" algn="l" rtl="0">
              <a:lnSpc>
                <a:spcPct val="115000"/>
              </a:lnSpc>
              <a:spcBef>
                <a:spcPts val="0"/>
              </a:spcBef>
              <a:spcAft>
                <a:spcPts val="0"/>
              </a:spcAft>
              <a:buSzPts val="1900"/>
              <a:buChar char="●"/>
            </a:pPr>
            <a:r>
              <a:rPr lang="en" sz="1900">
                <a:solidFill>
                  <a:srgbClr val="000000"/>
                </a:solidFill>
              </a:rPr>
              <a:t>If you generalize and conclude that your entire soup needs salt, that's an </a:t>
            </a:r>
            <a:r>
              <a:rPr lang="en" sz="1900" i="1">
                <a:solidFill>
                  <a:schemeClr val="accent1"/>
                </a:solidFill>
              </a:rPr>
              <a:t>inference</a:t>
            </a:r>
            <a:r>
              <a:rPr lang="en" sz="1900">
                <a:solidFill>
                  <a:srgbClr val="000000"/>
                </a:solidFill>
              </a:rPr>
              <a:t>.</a:t>
            </a:r>
            <a:endParaRPr sz="1900">
              <a:solidFill>
                <a:srgbClr val="000000"/>
              </a:solidFill>
            </a:endParaRPr>
          </a:p>
        </p:txBody>
      </p:sp>
      <p:sp>
        <p:nvSpPr>
          <p:cNvPr id="127" name="Google Shape;127;p2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Exploratory analysis to inference</a:t>
            </a:r>
            <a:endParaRPr>
              <a:solidFill>
                <a:schemeClr val="accent1"/>
              </a:solidFill>
            </a:endParaRPr>
          </a:p>
        </p:txBody>
      </p:sp>
      <p:sp>
        <p:nvSpPr>
          <p:cNvPr id="128" name="Google Shape;128;p22"/>
          <p:cNvSpPr txBox="1">
            <a:spLocks noGrp="1"/>
          </p:cNvSpPr>
          <p:nvPr>
            <p:ph type="body" idx="1"/>
          </p:nvPr>
        </p:nvSpPr>
        <p:spPr>
          <a:xfrm>
            <a:off x="457200" y="4102800"/>
            <a:ext cx="8229600" cy="25713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lang="en" sz="1900">
                <a:solidFill>
                  <a:srgbClr val="000000"/>
                </a:solidFill>
              </a:rPr>
              <a:t>For your inference to be valid, the spoonful you tasted (the sample) needs to be </a:t>
            </a:r>
            <a:r>
              <a:rPr lang="en" sz="1900" i="1">
                <a:solidFill>
                  <a:schemeClr val="accent1"/>
                </a:solidFill>
              </a:rPr>
              <a:t>representative</a:t>
            </a:r>
            <a:r>
              <a:rPr lang="en" sz="1900" i="1">
                <a:solidFill>
                  <a:srgbClr val="000000"/>
                </a:solidFill>
              </a:rPr>
              <a:t> </a:t>
            </a:r>
            <a:r>
              <a:rPr lang="en" sz="1900">
                <a:solidFill>
                  <a:srgbClr val="000000"/>
                </a:solidFill>
              </a:rPr>
              <a:t>of the entire pot (the population).</a:t>
            </a:r>
            <a:endParaRPr sz="1900">
              <a:solidFill>
                <a:srgbClr val="000000"/>
              </a:solidFill>
            </a:endParaRPr>
          </a:p>
          <a:p>
            <a:pPr marL="914400" lvl="1" indent="-349250" algn="l" rtl="0">
              <a:lnSpc>
                <a:spcPct val="115000"/>
              </a:lnSpc>
              <a:spcBef>
                <a:spcPts val="0"/>
              </a:spcBef>
              <a:spcAft>
                <a:spcPts val="0"/>
              </a:spcAft>
              <a:buSzPts val="1900"/>
              <a:buChar char="○"/>
            </a:pPr>
            <a:r>
              <a:rPr lang="en" sz="1900">
                <a:solidFill>
                  <a:srgbClr val="000000"/>
                </a:solidFill>
              </a:rPr>
              <a:t>If your spoonful comes only from the surface and the salt is collected at the bottom of the pot, what you tasted is probably not representative of the whole pot.</a:t>
            </a:r>
            <a:endParaRPr sz="1900">
              <a:solidFill>
                <a:srgbClr val="000000"/>
              </a:solidFill>
            </a:endParaRPr>
          </a:p>
          <a:p>
            <a:pPr marL="914400" lvl="1" indent="-349250" algn="l" rtl="0">
              <a:lnSpc>
                <a:spcPct val="115000"/>
              </a:lnSpc>
              <a:spcBef>
                <a:spcPts val="0"/>
              </a:spcBef>
              <a:spcAft>
                <a:spcPts val="0"/>
              </a:spcAft>
              <a:buSzPts val="1900"/>
              <a:buChar char="○"/>
            </a:pPr>
            <a:r>
              <a:rPr lang="en" sz="1900">
                <a:solidFill>
                  <a:srgbClr val="000000"/>
                </a:solidFill>
              </a:rPr>
              <a:t>If you first stir the soup thoroughly before you taste, your spoonful will more likely be representative of the whole pot.</a:t>
            </a:r>
            <a:endParaRPr sz="19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xEl>
                                              <p:pRg st="0" end="0"/>
                                            </p:txEl>
                                          </p:spTgt>
                                        </p:tgtEl>
                                        <p:attrNameLst>
                                          <p:attrName>style.visibility</p:attrName>
                                        </p:attrNameLst>
                                      </p:cBhvr>
                                      <p:to>
                                        <p:strVal val="visible"/>
                                      </p:to>
                                    </p:set>
                                    <p:animEffect transition="in" filter="fade">
                                      <p:cBhvr>
                                        <p:cTn id="7" dur="1000"/>
                                        <p:tgtEl>
                                          <p:spTgt spid="1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6">
                                            <p:txEl>
                                              <p:pRg st="1" end="1"/>
                                            </p:txEl>
                                          </p:spTgt>
                                        </p:tgtEl>
                                        <p:attrNameLst>
                                          <p:attrName>style.visibility</p:attrName>
                                        </p:attrNameLst>
                                      </p:cBhvr>
                                      <p:to>
                                        <p:strVal val="visible"/>
                                      </p:to>
                                    </p:set>
                                    <p:animEffect transition="in" filter="fade">
                                      <p:cBhvr>
                                        <p:cTn id="12" dur="1000"/>
                                        <p:tgtEl>
                                          <p:spTgt spid="1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6">
                                            <p:txEl>
                                              <p:pRg st="2" end="2"/>
                                            </p:txEl>
                                          </p:spTgt>
                                        </p:tgtEl>
                                        <p:attrNameLst>
                                          <p:attrName>style.visibility</p:attrName>
                                        </p:attrNameLst>
                                      </p:cBhvr>
                                      <p:to>
                                        <p:strVal val="visible"/>
                                      </p:to>
                                    </p:set>
                                    <p:animEffect transition="in" filter="fade">
                                      <p:cBhvr>
                                        <p:cTn id="17" dur="1000"/>
                                        <p:tgtEl>
                                          <p:spTgt spid="1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6">
                                            <p:txEl>
                                              <p:pRg st="3" end="3"/>
                                            </p:txEl>
                                          </p:spTgt>
                                        </p:tgtEl>
                                        <p:attrNameLst>
                                          <p:attrName>style.visibility</p:attrName>
                                        </p:attrNameLst>
                                      </p:cBhvr>
                                      <p:to>
                                        <p:strVal val="visible"/>
                                      </p:to>
                                    </p:set>
                                    <p:animEffect transition="in" filter="fade">
                                      <p:cBhvr>
                                        <p:cTn id="22" dur="1000"/>
                                        <p:tgtEl>
                                          <p:spTgt spid="1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8"/>
                                        </p:tgtEl>
                                        <p:attrNameLst>
                                          <p:attrName>style.visibility</p:attrName>
                                        </p:attrNameLst>
                                      </p:cBhvr>
                                      <p:to>
                                        <p:strVal val="visible"/>
                                      </p:to>
                                    </p:set>
                                    <p:animEffect transition="in" filter="fade">
                                      <p:cBhvr>
                                        <p:cTn id="27" dur="10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7"/>
          <p:cNvSpPr txBox="1">
            <a:spLocks noGrp="1"/>
          </p:cNvSpPr>
          <p:nvPr>
            <p:ph type="body" idx="1"/>
          </p:nvPr>
        </p:nvSpPr>
        <p:spPr>
          <a:xfrm>
            <a:off x="457200" y="5201100"/>
            <a:ext cx="8229600" cy="12306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lang="en" sz="1900">
                <a:solidFill>
                  <a:schemeClr val="accent1"/>
                </a:solidFill>
              </a:rPr>
              <a:t>Convenience sample: </a:t>
            </a:r>
            <a:r>
              <a:rPr lang="en" sz="1900">
                <a:solidFill>
                  <a:srgbClr val="000000"/>
                </a:solidFill>
              </a:rPr>
              <a:t>Individuals who are easily accessible are more likely to be included in the sample.</a:t>
            </a:r>
            <a:endParaRPr sz="1900">
              <a:solidFill>
                <a:srgbClr val="000000"/>
              </a:solidFill>
            </a:endParaRPr>
          </a:p>
        </p:txBody>
      </p:sp>
      <p:sp>
        <p:nvSpPr>
          <p:cNvPr id="161" name="Google Shape;161;p27"/>
          <p:cNvSpPr txBox="1">
            <a:spLocks noGrp="1"/>
          </p:cNvSpPr>
          <p:nvPr>
            <p:ph type="body" idx="1"/>
          </p:nvPr>
        </p:nvSpPr>
        <p:spPr>
          <a:xfrm>
            <a:off x="457200" y="1143000"/>
            <a:ext cx="8229600" cy="22245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Char char="●"/>
            </a:pPr>
            <a:r>
              <a:rPr lang="en" sz="1900">
                <a:solidFill>
                  <a:schemeClr val="accent1"/>
                </a:solidFill>
              </a:rPr>
              <a:t>Non-response:</a:t>
            </a:r>
            <a:r>
              <a:rPr lang="en" sz="1900">
                <a:solidFill>
                  <a:srgbClr val="000000"/>
                </a:solidFill>
              </a:rPr>
              <a:t> If only a small fraction of the randomly sampled people choose to respond to a survey, the sample may no longer be representative of the population.</a:t>
            </a:r>
            <a:endParaRPr sz="1900">
              <a:solidFill>
                <a:srgbClr val="000000"/>
              </a:solidFill>
            </a:endParaRPr>
          </a:p>
          <a:p>
            <a:pPr marL="457200" lvl="0" indent="-349250" algn="l" rtl="0">
              <a:lnSpc>
                <a:spcPct val="115000"/>
              </a:lnSpc>
              <a:spcBef>
                <a:spcPts val="0"/>
              </a:spcBef>
              <a:spcAft>
                <a:spcPts val="0"/>
              </a:spcAft>
              <a:buSzPts val="1900"/>
              <a:buChar char="●"/>
            </a:pPr>
            <a:r>
              <a:rPr lang="en" sz="1900">
                <a:solidFill>
                  <a:schemeClr val="accent1"/>
                </a:solidFill>
              </a:rPr>
              <a:t>Voluntary response:</a:t>
            </a:r>
            <a:r>
              <a:rPr lang="en" sz="1900">
                <a:solidFill>
                  <a:srgbClr val="000000"/>
                </a:solidFill>
              </a:rPr>
              <a:t> Occurs when the sample consists of people who volunteer to respond because they have strong opinions on the issue. Such a sample will also not be representative of the population.</a:t>
            </a:r>
            <a:endParaRPr sz="1900">
              <a:solidFill>
                <a:srgbClr val="000000"/>
              </a:solidFill>
            </a:endParaRPr>
          </a:p>
        </p:txBody>
      </p:sp>
      <p:sp>
        <p:nvSpPr>
          <p:cNvPr id="162" name="Google Shape;162;p27"/>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Sampling bias</a:t>
            </a:r>
            <a:endParaRPr>
              <a:solidFill>
                <a:schemeClr val="accent1"/>
              </a:solidFill>
            </a:endParaRPr>
          </a:p>
        </p:txBody>
      </p:sp>
      <p:pic>
        <p:nvPicPr>
          <p:cNvPr id="163" name="Google Shape;163;p27"/>
          <p:cNvPicPr preferRelativeResize="0"/>
          <p:nvPr/>
        </p:nvPicPr>
        <p:blipFill>
          <a:blip r:embed="rId3">
            <a:alphaModFix/>
          </a:blip>
          <a:stretch>
            <a:fillRect/>
          </a:stretch>
        </p:blipFill>
        <p:spPr>
          <a:xfrm>
            <a:off x="1504650" y="3522300"/>
            <a:ext cx="2076450" cy="1524000"/>
          </a:xfrm>
          <a:prstGeom prst="rect">
            <a:avLst/>
          </a:prstGeom>
          <a:noFill/>
          <a:ln>
            <a:noFill/>
          </a:ln>
        </p:spPr>
      </p:pic>
      <p:pic>
        <p:nvPicPr>
          <p:cNvPr id="164" name="Google Shape;164;p27"/>
          <p:cNvPicPr preferRelativeResize="0"/>
          <p:nvPr/>
        </p:nvPicPr>
        <p:blipFill>
          <a:blip r:embed="rId4">
            <a:alphaModFix/>
          </a:blip>
          <a:stretch>
            <a:fillRect/>
          </a:stretch>
        </p:blipFill>
        <p:spPr>
          <a:xfrm>
            <a:off x="3939600" y="3522300"/>
            <a:ext cx="2076450" cy="16573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1">
                                            <p:txEl>
                                              <p:pRg st="0" end="0"/>
                                            </p:txEl>
                                          </p:spTgt>
                                        </p:tgtEl>
                                        <p:attrNameLst>
                                          <p:attrName>style.visibility</p:attrName>
                                        </p:attrNameLst>
                                      </p:cBhvr>
                                      <p:to>
                                        <p:strVal val="visible"/>
                                      </p:to>
                                    </p:set>
                                    <p:animEffect transition="in" filter="fade">
                                      <p:cBhvr>
                                        <p:cTn id="7" dur="1000"/>
                                        <p:tgtEl>
                                          <p:spTgt spid="1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1">
                                            <p:txEl>
                                              <p:pRg st="1" end="1"/>
                                            </p:txEl>
                                          </p:spTgt>
                                        </p:tgtEl>
                                        <p:attrNameLst>
                                          <p:attrName>style.visibility</p:attrName>
                                        </p:attrNameLst>
                                      </p:cBhvr>
                                      <p:to>
                                        <p:strVal val="visible"/>
                                      </p:to>
                                    </p:set>
                                    <p:animEffect transition="in" filter="fade">
                                      <p:cBhvr>
                                        <p:cTn id="12" dur="1000"/>
                                        <p:tgtEl>
                                          <p:spTgt spid="1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gtEl>
                                        <p:attrNameLst>
                                          <p:attrName>style.visibility</p:attrName>
                                        </p:attrNameLst>
                                      </p:cBhvr>
                                      <p:to>
                                        <p:strVal val="visible"/>
                                      </p:to>
                                    </p:set>
                                    <p:animEffect transition="in" filter="fade">
                                      <p:cBhvr>
                                        <p:cTn id="17" dur="1000"/>
                                        <p:tgtEl>
                                          <p:spTgt spid="1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4"/>
                                        </p:tgtEl>
                                        <p:attrNameLst>
                                          <p:attrName>style.visibility</p:attrName>
                                        </p:attrNameLst>
                                      </p:cBhvr>
                                      <p:to>
                                        <p:strVal val="visible"/>
                                      </p:to>
                                    </p:set>
                                    <p:animEffect transition="in" filter="fade">
                                      <p:cBhvr>
                                        <p:cTn id="22" dur="1000"/>
                                        <p:tgtEl>
                                          <p:spTgt spid="16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0"/>
                                        </p:tgtEl>
                                        <p:attrNameLst>
                                          <p:attrName>style.visibility</p:attrName>
                                        </p:attrNameLst>
                                      </p:cBhvr>
                                      <p:to>
                                        <p:strVal val="visible"/>
                                      </p:to>
                                    </p:set>
                                    <p:animEffect transition="in" filter="fade">
                                      <p:cBhvr>
                                        <p:cTn id="27" dur="10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body" idx="1"/>
          </p:nvPr>
        </p:nvSpPr>
        <p:spPr>
          <a:xfrm>
            <a:off x="457200" y="1595025"/>
            <a:ext cx="8229600" cy="575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000">
                <a:solidFill>
                  <a:srgbClr val="000000"/>
                </a:solidFill>
              </a:rPr>
              <a:t>A historical example of a biased sample yielding misleading results</a:t>
            </a:r>
            <a:endParaRPr sz="2000">
              <a:solidFill>
                <a:srgbClr val="000000"/>
              </a:solidFill>
            </a:endParaRPr>
          </a:p>
        </p:txBody>
      </p:sp>
      <p:sp>
        <p:nvSpPr>
          <p:cNvPr id="170" name="Google Shape;170;p28"/>
          <p:cNvSpPr txBox="1">
            <a:spLocks noGrp="1"/>
          </p:cNvSpPr>
          <p:nvPr>
            <p:ph type="title"/>
          </p:nvPr>
        </p:nvSpPr>
        <p:spPr>
          <a:xfrm>
            <a:off x="457200" y="27480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Sampling bias example:</a:t>
            </a:r>
            <a:endParaRPr>
              <a:solidFill>
                <a:schemeClr val="accent1"/>
              </a:solidFill>
            </a:endParaRPr>
          </a:p>
          <a:p>
            <a:pPr marL="0" lvl="0" indent="0" algn="l" rtl="0">
              <a:spcBef>
                <a:spcPts val="0"/>
              </a:spcBef>
              <a:spcAft>
                <a:spcPts val="0"/>
              </a:spcAft>
              <a:buNone/>
            </a:pPr>
            <a:r>
              <a:rPr lang="en" sz="3000">
                <a:solidFill>
                  <a:schemeClr val="accent1"/>
                </a:solidFill>
              </a:rPr>
              <a:t>Landon vs. FDR</a:t>
            </a:r>
            <a:endParaRPr sz="3000">
              <a:solidFill>
                <a:schemeClr val="accent1"/>
              </a:solidFill>
            </a:endParaRPr>
          </a:p>
        </p:txBody>
      </p:sp>
      <p:pic>
        <p:nvPicPr>
          <p:cNvPr id="171" name="Google Shape;171;p28"/>
          <p:cNvPicPr preferRelativeResize="0"/>
          <p:nvPr/>
        </p:nvPicPr>
        <p:blipFill>
          <a:blip r:embed="rId3">
            <a:alphaModFix/>
          </a:blip>
          <a:stretch>
            <a:fillRect/>
          </a:stretch>
        </p:blipFill>
        <p:spPr>
          <a:xfrm>
            <a:off x="531228" y="2478728"/>
            <a:ext cx="2674800" cy="3029400"/>
          </a:xfrm>
          <a:prstGeom prst="rect">
            <a:avLst/>
          </a:prstGeom>
          <a:noFill/>
          <a:ln>
            <a:noFill/>
          </a:ln>
        </p:spPr>
      </p:pic>
      <p:pic>
        <p:nvPicPr>
          <p:cNvPr id="172" name="Google Shape;172;p28"/>
          <p:cNvPicPr preferRelativeResize="0"/>
          <p:nvPr/>
        </p:nvPicPr>
        <p:blipFill>
          <a:blip r:embed="rId4">
            <a:alphaModFix/>
          </a:blip>
          <a:stretch>
            <a:fillRect/>
          </a:stretch>
        </p:blipFill>
        <p:spPr>
          <a:xfrm>
            <a:off x="5713651" y="2478725"/>
            <a:ext cx="2588575" cy="3029400"/>
          </a:xfrm>
          <a:prstGeom prst="rect">
            <a:avLst/>
          </a:prstGeom>
          <a:noFill/>
          <a:ln>
            <a:noFill/>
          </a:ln>
        </p:spPr>
      </p:pic>
      <p:sp>
        <p:nvSpPr>
          <p:cNvPr id="173" name="Google Shape;173;p28"/>
          <p:cNvSpPr txBox="1"/>
          <p:nvPr/>
        </p:nvSpPr>
        <p:spPr>
          <a:xfrm>
            <a:off x="3435038" y="2467775"/>
            <a:ext cx="2049600" cy="305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t>In 1936, Landon sought the Republican presidential nomination opposing the re-election of FDR.</a:t>
            </a: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xEl>
                                              <p:pRg st="0" end="0"/>
                                            </p:txEl>
                                          </p:spTgt>
                                        </p:tgtEl>
                                        <p:attrNameLst>
                                          <p:attrName>style.visibility</p:attrName>
                                        </p:attrNameLst>
                                      </p:cBhvr>
                                      <p:to>
                                        <p:strVal val="visible"/>
                                      </p:to>
                                    </p:set>
                                    <p:animEffect transition="in" filter="fade">
                                      <p:cBhvr>
                                        <p:cTn id="7" dur="1000"/>
                                        <p:tgtEl>
                                          <p:spTgt spid="16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body" idx="1"/>
          </p:nvPr>
        </p:nvSpPr>
        <p:spPr>
          <a:xfrm>
            <a:off x="457200" y="1335650"/>
            <a:ext cx="4738800" cy="48135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 sz="2000">
                <a:solidFill>
                  <a:srgbClr val="000000"/>
                </a:solidFill>
              </a:rPr>
              <a:t>The Literary Digest polled about 10 million Americans, and got responses from about 2.4 million.</a:t>
            </a:r>
            <a:endParaRPr sz="2000">
              <a:solidFill>
                <a:srgbClr val="000000"/>
              </a:solidFill>
            </a:endParaRPr>
          </a:p>
          <a:p>
            <a:pPr marL="457200" lvl="0" indent="-355600" algn="l" rtl="0">
              <a:lnSpc>
                <a:spcPct val="115000"/>
              </a:lnSpc>
              <a:spcBef>
                <a:spcPts val="0"/>
              </a:spcBef>
              <a:spcAft>
                <a:spcPts val="0"/>
              </a:spcAft>
              <a:buSzPts val="2000"/>
              <a:buChar char="●"/>
            </a:pPr>
            <a:r>
              <a:rPr lang="en" sz="2000">
                <a:solidFill>
                  <a:srgbClr val="000000"/>
                </a:solidFill>
              </a:rPr>
              <a:t>The poll showed that Landon would likely be the overwhelming winner and FDR would get only 43% of the votes.</a:t>
            </a:r>
            <a:endParaRPr sz="2000">
              <a:solidFill>
                <a:srgbClr val="000000"/>
              </a:solidFill>
            </a:endParaRPr>
          </a:p>
          <a:p>
            <a:pPr marL="457200" lvl="0" indent="-355600" algn="l" rtl="0">
              <a:lnSpc>
                <a:spcPct val="115000"/>
              </a:lnSpc>
              <a:spcBef>
                <a:spcPts val="0"/>
              </a:spcBef>
              <a:spcAft>
                <a:spcPts val="0"/>
              </a:spcAft>
              <a:buSzPts val="2000"/>
              <a:buChar char="●"/>
            </a:pPr>
            <a:r>
              <a:rPr lang="en" sz="2000">
                <a:solidFill>
                  <a:srgbClr val="000000"/>
                </a:solidFill>
              </a:rPr>
              <a:t>Election result:  FDR won, with 62% of the votes.</a:t>
            </a:r>
            <a:endParaRPr sz="2000">
              <a:solidFill>
                <a:srgbClr val="000000"/>
              </a:solidFill>
            </a:endParaRPr>
          </a:p>
          <a:p>
            <a:pPr marL="457200" lvl="0" indent="-355600" algn="l" rtl="0">
              <a:lnSpc>
                <a:spcPct val="115000"/>
              </a:lnSpc>
              <a:spcBef>
                <a:spcPts val="0"/>
              </a:spcBef>
              <a:spcAft>
                <a:spcPts val="0"/>
              </a:spcAft>
              <a:buSzPts val="2000"/>
              <a:buChar char="●"/>
            </a:pPr>
            <a:r>
              <a:rPr lang="en" sz="2000">
                <a:solidFill>
                  <a:srgbClr val="000000"/>
                </a:solidFill>
              </a:rPr>
              <a:t>The magazine was completely discredited because of the poll, and was soon discontinued.</a:t>
            </a:r>
            <a:endParaRPr sz="2000">
              <a:solidFill>
                <a:srgbClr val="000000"/>
              </a:solidFill>
            </a:endParaRPr>
          </a:p>
        </p:txBody>
      </p:sp>
      <p:sp>
        <p:nvSpPr>
          <p:cNvPr id="179" name="Google Shape;179;p29"/>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The Literary Digest Poll</a:t>
            </a:r>
            <a:endParaRPr>
              <a:solidFill>
                <a:schemeClr val="accent1"/>
              </a:solidFill>
            </a:endParaRPr>
          </a:p>
        </p:txBody>
      </p:sp>
      <p:pic>
        <p:nvPicPr>
          <p:cNvPr id="180" name="Google Shape;180;p29"/>
          <p:cNvPicPr preferRelativeResize="0"/>
          <p:nvPr/>
        </p:nvPicPr>
        <p:blipFill>
          <a:blip r:embed="rId3">
            <a:alphaModFix/>
          </a:blip>
          <a:stretch>
            <a:fillRect/>
          </a:stretch>
        </p:blipFill>
        <p:spPr>
          <a:xfrm>
            <a:off x="5519275" y="1451225"/>
            <a:ext cx="2777650" cy="3818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body" idx="1"/>
          </p:nvPr>
        </p:nvSpPr>
        <p:spPr>
          <a:xfrm>
            <a:off x="457200" y="1613050"/>
            <a:ext cx="8136900" cy="17853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SzPts val="2200"/>
              <a:buChar char="●"/>
            </a:pPr>
            <a:r>
              <a:rPr lang="en" sz="2200">
                <a:solidFill>
                  <a:srgbClr val="000000"/>
                </a:solidFill>
              </a:rPr>
              <a:t>The magazine had surveyed</a:t>
            </a:r>
            <a:endParaRPr sz="2200">
              <a:solidFill>
                <a:srgbClr val="000000"/>
              </a:solidFill>
            </a:endParaRPr>
          </a:p>
          <a:p>
            <a:pPr marL="914400" lvl="1" indent="-368300" algn="l" rtl="0">
              <a:lnSpc>
                <a:spcPct val="115000"/>
              </a:lnSpc>
              <a:spcBef>
                <a:spcPts val="0"/>
              </a:spcBef>
              <a:spcAft>
                <a:spcPts val="0"/>
              </a:spcAft>
              <a:buSzPts val="2200"/>
              <a:buChar char="○"/>
            </a:pPr>
            <a:r>
              <a:rPr lang="en" sz="2200">
                <a:solidFill>
                  <a:srgbClr val="000000"/>
                </a:solidFill>
              </a:rPr>
              <a:t>its own readers,</a:t>
            </a:r>
            <a:endParaRPr sz="2200">
              <a:solidFill>
                <a:srgbClr val="000000"/>
              </a:solidFill>
            </a:endParaRPr>
          </a:p>
          <a:p>
            <a:pPr marL="914400" lvl="1" indent="-368300" algn="l" rtl="0">
              <a:lnSpc>
                <a:spcPct val="115000"/>
              </a:lnSpc>
              <a:spcBef>
                <a:spcPts val="0"/>
              </a:spcBef>
              <a:spcAft>
                <a:spcPts val="0"/>
              </a:spcAft>
              <a:buSzPts val="2200"/>
              <a:buChar char="○"/>
            </a:pPr>
            <a:r>
              <a:rPr lang="en" sz="2200">
                <a:solidFill>
                  <a:srgbClr val="000000"/>
                </a:solidFill>
              </a:rPr>
              <a:t>registered automobile owners, and</a:t>
            </a:r>
            <a:endParaRPr sz="2200">
              <a:solidFill>
                <a:srgbClr val="000000"/>
              </a:solidFill>
            </a:endParaRPr>
          </a:p>
          <a:p>
            <a:pPr marL="914400" lvl="1" indent="-368300" algn="l" rtl="0">
              <a:lnSpc>
                <a:spcPct val="115000"/>
              </a:lnSpc>
              <a:spcBef>
                <a:spcPts val="0"/>
              </a:spcBef>
              <a:spcAft>
                <a:spcPts val="0"/>
              </a:spcAft>
              <a:buSzPts val="2200"/>
              <a:buChar char="○"/>
            </a:pPr>
            <a:r>
              <a:rPr lang="en" sz="2200">
                <a:solidFill>
                  <a:srgbClr val="000000"/>
                </a:solidFill>
              </a:rPr>
              <a:t>registered telephone users.</a:t>
            </a:r>
            <a:endParaRPr sz="2200">
              <a:solidFill>
                <a:srgbClr val="000000"/>
              </a:solidFill>
            </a:endParaRPr>
          </a:p>
        </p:txBody>
      </p:sp>
      <p:sp>
        <p:nvSpPr>
          <p:cNvPr id="186" name="Google Shape;186;p30"/>
          <p:cNvSpPr txBox="1">
            <a:spLocks noGrp="1"/>
          </p:cNvSpPr>
          <p:nvPr>
            <p:ph type="title"/>
          </p:nvPr>
        </p:nvSpPr>
        <p:spPr>
          <a:xfrm>
            <a:off x="457200" y="27740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The Literary Digest Poll -</a:t>
            </a:r>
            <a:endParaRPr>
              <a:solidFill>
                <a:schemeClr val="accent1"/>
              </a:solidFill>
            </a:endParaRPr>
          </a:p>
          <a:p>
            <a:pPr marL="0" lvl="0" indent="0" algn="l" rtl="0">
              <a:spcBef>
                <a:spcPts val="0"/>
              </a:spcBef>
              <a:spcAft>
                <a:spcPts val="0"/>
              </a:spcAft>
              <a:buNone/>
            </a:pPr>
            <a:r>
              <a:rPr lang="en">
                <a:solidFill>
                  <a:schemeClr val="accent1"/>
                </a:solidFill>
              </a:rPr>
              <a:t>what went wrong?</a:t>
            </a:r>
            <a:endParaRPr>
              <a:solidFill>
                <a:schemeClr val="accent1"/>
              </a:solidFill>
            </a:endParaRPr>
          </a:p>
        </p:txBody>
      </p:sp>
      <p:sp>
        <p:nvSpPr>
          <p:cNvPr id="187" name="Google Shape;187;p30"/>
          <p:cNvSpPr txBox="1"/>
          <p:nvPr/>
        </p:nvSpPr>
        <p:spPr>
          <a:xfrm>
            <a:off x="457200" y="3275050"/>
            <a:ext cx="8229600" cy="28047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Clr>
                <a:schemeClr val="dk1"/>
              </a:buClr>
              <a:buSzPts val="2200"/>
              <a:buChar char="●"/>
            </a:pPr>
            <a:r>
              <a:rPr lang="en" sz="2200"/>
              <a:t>These groups had incomes well above the national average of the day (remember, this is Great Depression era) which resulted in lists of voters far more likely to support Republicans than a truly </a:t>
            </a:r>
            <a:r>
              <a:rPr lang="en" sz="2200" i="1">
                <a:solidFill>
                  <a:schemeClr val="accent1"/>
                </a:solidFill>
              </a:rPr>
              <a:t>typical</a:t>
            </a:r>
            <a:r>
              <a:rPr lang="en" sz="2200" i="1"/>
              <a:t> </a:t>
            </a:r>
            <a:r>
              <a:rPr lang="en" sz="2200"/>
              <a:t>voter of the time, i.e. the sample was not representative of the American population at the time.</a:t>
            </a:r>
            <a:endParaRPr sz="2200"/>
          </a:p>
          <a:p>
            <a:pPr marL="0" lvl="0" indent="0" algn="l" rtl="0">
              <a:spcBef>
                <a:spcPts val="0"/>
              </a:spcBef>
              <a:spcAft>
                <a:spcPts val="0"/>
              </a:spcAft>
              <a:buNone/>
            </a:pPr>
            <a:endParaRPr sz="2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body" idx="1"/>
          </p:nvPr>
        </p:nvSpPr>
        <p:spPr>
          <a:xfrm>
            <a:off x="457200" y="1335650"/>
            <a:ext cx="8136900" cy="34419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SzPts val="2200"/>
              <a:buChar char="●"/>
            </a:pPr>
            <a:r>
              <a:rPr lang="en" sz="2200">
                <a:solidFill>
                  <a:srgbClr val="000000"/>
                </a:solidFill>
              </a:rPr>
              <a:t>The Literary Digest election poll was based on a sample size of 2.4 million, which is huge, but since the sample was </a:t>
            </a:r>
            <a:r>
              <a:rPr lang="en" sz="2200" i="1">
                <a:solidFill>
                  <a:schemeClr val="accent1"/>
                </a:solidFill>
              </a:rPr>
              <a:t>biased</a:t>
            </a:r>
            <a:r>
              <a:rPr lang="en" sz="2200">
                <a:solidFill>
                  <a:srgbClr val="000000"/>
                </a:solidFill>
              </a:rPr>
              <a:t>, the sample did not yield an accurate prediction.</a:t>
            </a:r>
            <a:br>
              <a:rPr lang="en" sz="2200">
                <a:solidFill>
                  <a:srgbClr val="000000"/>
                </a:solidFill>
              </a:rPr>
            </a:br>
            <a:endParaRPr sz="1400">
              <a:solidFill>
                <a:srgbClr val="000000"/>
              </a:solidFill>
            </a:endParaRPr>
          </a:p>
          <a:p>
            <a:pPr marL="457200" lvl="0" indent="-368300" algn="l" rtl="0">
              <a:lnSpc>
                <a:spcPct val="115000"/>
              </a:lnSpc>
              <a:spcBef>
                <a:spcPts val="0"/>
              </a:spcBef>
              <a:spcAft>
                <a:spcPts val="0"/>
              </a:spcAft>
              <a:buSzPts val="2200"/>
              <a:buChar char="●"/>
            </a:pPr>
            <a:r>
              <a:rPr lang="en" sz="2200">
                <a:solidFill>
                  <a:srgbClr val="000000"/>
                </a:solidFill>
              </a:rPr>
              <a:t>Back to the soup analogy: If the soup is not well stirred, it doesn't matter how large a spoon you have, it will still not taste right. If the soup is well stirred, a small spoon will suffice to test the soup.</a:t>
            </a:r>
            <a:endParaRPr sz="2200">
              <a:solidFill>
                <a:srgbClr val="000000"/>
              </a:solidFill>
            </a:endParaRPr>
          </a:p>
        </p:txBody>
      </p:sp>
      <p:sp>
        <p:nvSpPr>
          <p:cNvPr id="193" name="Google Shape;193;p31"/>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Large samples are preferable, but...</a:t>
            </a:r>
            <a:endParaRPr>
              <a:solidFill>
                <a:schemeClr val="accen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2"/>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199" name="Google Shape;199;p32"/>
          <p:cNvSpPr txBox="1">
            <a:spLocks noGrp="1"/>
          </p:cNvSpPr>
          <p:nvPr>
            <p:ph type="body" idx="1"/>
          </p:nvPr>
        </p:nvSpPr>
        <p:spPr>
          <a:xfrm>
            <a:off x="457200" y="1335650"/>
            <a:ext cx="8136900" cy="5314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700">
                <a:solidFill>
                  <a:schemeClr val="accent1"/>
                </a:solidFill>
              </a:rPr>
              <a:t>A school district is considering whether it will no longer allow high school students to park at school after two recent accidents where students were severely injured. As a first step, they survey parents by mail, asking them whether or not the parents would object to this policy change. Of 6,000 surveys that go out, 1,200 are returned. Of these 1,200 surveys that were completed, 960 agreed with the policy change and 240 disagreed. Which of the following statements are true?</a:t>
            </a:r>
            <a:endParaRPr sz="1700">
              <a:solidFill>
                <a:schemeClr val="accent1"/>
              </a:solidFill>
            </a:endParaRPr>
          </a:p>
          <a:p>
            <a:pPr marL="0" lvl="0" indent="0" algn="l" rtl="0">
              <a:lnSpc>
                <a:spcPct val="115000"/>
              </a:lnSpc>
              <a:spcBef>
                <a:spcPts val="600"/>
              </a:spcBef>
              <a:spcAft>
                <a:spcPts val="0"/>
              </a:spcAft>
              <a:buNone/>
            </a:pPr>
            <a:endParaRPr sz="900">
              <a:solidFill>
                <a:srgbClr val="000000"/>
              </a:solidFill>
            </a:endParaRPr>
          </a:p>
          <a:p>
            <a:pPr marL="457200" lvl="0" indent="-336550" algn="l" rtl="0">
              <a:lnSpc>
                <a:spcPct val="115000"/>
              </a:lnSpc>
              <a:spcBef>
                <a:spcPts val="600"/>
              </a:spcBef>
              <a:spcAft>
                <a:spcPts val="0"/>
              </a:spcAft>
              <a:buSzPts val="1700"/>
              <a:buAutoNum type="romanUcPeriod"/>
            </a:pPr>
            <a:r>
              <a:rPr lang="en" sz="1700">
                <a:solidFill>
                  <a:srgbClr val="000000"/>
                </a:solidFill>
              </a:rPr>
              <a:t>Some of the mailings may have never reached the parents.</a:t>
            </a:r>
            <a:br>
              <a:rPr lang="en" sz="1700">
                <a:solidFill>
                  <a:srgbClr val="000000"/>
                </a:solidFill>
              </a:rPr>
            </a:br>
            <a:endParaRPr sz="600">
              <a:solidFill>
                <a:srgbClr val="000000"/>
              </a:solidFill>
            </a:endParaRPr>
          </a:p>
          <a:p>
            <a:pPr marL="457200" lvl="0" indent="-336550" algn="l" rtl="0">
              <a:lnSpc>
                <a:spcPct val="115000"/>
              </a:lnSpc>
              <a:spcBef>
                <a:spcPts val="0"/>
              </a:spcBef>
              <a:spcAft>
                <a:spcPts val="0"/>
              </a:spcAft>
              <a:buSzPts val="1700"/>
              <a:buAutoNum type="romanUcPeriod"/>
            </a:pPr>
            <a:r>
              <a:rPr lang="en" sz="1700">
                <a:solidFill>
                  <a:srgbClr val="000000"/>
                </a:solidFill>
              </a:rPr>
              <a:t>The school district has strong support from parents to move forward with the policy approval.</a:t>
            </a:r>
            <a:br>
              <a:rPr lang="en" sz="1700">
                <a:solidFill>
                  <a:srgbClr val="000000"/>
                </a:solidFill>
              </a:rPr>
            </a:br>
            <a:endParaRPr sz="600">
              <a:solidFill>
                <a:srgbClr val="000000"/>
              </a:solidFill>
            </a:endParaRPr>
          </a:p>
          <a:p>
            <a:pPr marL="457200" lvl="0" indent="-336550" algn="l" rtl="0">
              <a:lnSpc>
                <a:spcPct val="115000"/>
              </a:lnSpc>
              <a:spcBef>
                <a:spcPts val="0"/>
              </a:spcBef>
              <a:spcAft>
                <a:spcPts val="0"/>
              </a:spcAft>
              <a:buSzPts val="1700"/>
              <a:buAutoNum type="romanUcPeriod"/>
            </a:pPr>
            <a:r>
              <a:rPr lang="en" sz="1700">
                <a:solidFill>
                  <a:srgbClr val="000000"/>
                </a:solidFill>
              </a:rPr>
              <a:t>It is possible that majority of the parents of high school students disagree with the policy change.</a:t>
            </a:r>
            <a:br>
              <a:rPr lang="en" sz="1700">
                <a:solidFill>
                  <a:srgbClr val="000000"/>
                </a:solidFill>
              </a:rPr>
            </a:br>
            <a:endParaRPr sz="600">
              <a:solidFill>
                <a:srgbClr val="000000"/>
              </a:solidFill>
            </a:endParaRPr>
          </a:p>
          <a:p>
            <a:pPr marL="457200" lvl="0" indent="-336550" algn="l" rtl="0">
              <a:lnSpc>
                <a:spcPct val="115000"/>
              </a:lnSpc>
              <a:spcBef>
                <a:spcPts val="0"/>
              </a:spcBef>
              <a:spcAft>
                <a:spcPts val="0"/>
              </a:spcAft>
              <a:buSzPts val="1700"/>
              <a:buAutoNum type="romanUcPeriod"/>
            </a:pPr>
            <a:r>
              <a:rPr lang="en" sz="1700">
                <a:solidFill>
                  <a:srgbClr val="000000"/>
                </a:solidFill>
              </a:rPr>
              <a:t>The survey results are unlikely to be biased because all parents were mailed a survey.</a:t>
            </a:r>
            <a:endParaRPr sz="1700">
              <a:solidFill>
                <a:srgbClr val="000000"/>
              </a:solidFill>
            </a:endParaRPr>
          </a:p>
          <a:p>
            <a:pPr marL="0" lvl="0" indent="0" algn="l" rtl="0">
              <a:lnSpc>
                <a:spcPct val="115000"/>
              </a:lnSpc>
              <a:spcBef>
                <a:spcPts val="600"/>
              </a:spcBef>
              <a:spcAft>
                <a:spcPts val="0"/>
              </a:spcAft>
              <a:buNone/>
            </a:pPr>
            <a:endParaRPr sz="900">
              <a:solidFill>
                <a:srgbClr val="000000"/>
              </a:solidFill>
            </a:endParaRPr>
          </a:p>
          <a:p>
            <a:pPr marL="0" lvl="0" indent="0" algn="l" rtl="0">
              <a:lnSpc>
                <a:spcPct val="115000"/>
              </a:lnSpc>
              <a:spcBef>
                <a:spcPts val="600"/>
              </a:spcBef>
              <a:spcAft>
                <a:spcPts val="0"/>
              </a:spcAft>
              <a:buNone/>
            </a:pPr>
            <a:r>
              <a:rPr lang="en" sz="1700">
                <a:solidFill>
                  <a:srgbClr val="000000"/>
                </a:solidFill>
              </a:rPr>
              <a:t>(a) Only I 	(b) I and II	(c) I and III	(d) III and IV	(e) Only IV</a:t>
            </a:r>
            <a:endParaRPr sz="1700">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457200" y="1"/>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205" name="Google Shape;205;p33"/>
          <p:cNvSpPr txBox="1">
            <a:spLocks noGrp="1"/>
          </p:cNvSpPr>
          <p:nvPr>
            <p:ph type="body" idx="1"/>
          </p:nvPr>
        </p:nvSpPr>
        <p:spPr>
          <a:xfrm>
            <a:off x="457200" y="1335650"/>
            <a:ext cx="8136900" cy="5314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700" dirty="0">
                <a:solidFill>
                  <a:schemeClr val="accent1"/>
                </a:solidFill>
              </a:rPr>
              <a:t>A school district is considering whether it will no longer allow high school students to park at school after two recent accidents where students were severely injured. As a first step, they survey parents by mail, asking them whether or not the parents would object to this policy change. Of 6,000 surveys that go out, 1,200 are returned. Of these 1,200 surveys that were completed, 960 agreed with the policy change and 240 disagreed. Which of the following statements are true?</a:t>
            </a:r>
            <a:endParaRPr sz="1700" dirty="0">
              <a:solidFill>
                <a:schemeClr val="accent1"/>
              </a:solidFill>
            </a:endParaRPr>
          </a:p>
          <a:p>
            <a:pPr marL="0" lvl="0" indent="0" algn="l" rtl="0">
              <a:lnSpc>
                <a:spcPct val="115000"/>
              </a:lnSpc>
              <a:spcBef>
                <a:spcPts val="600"/>
              </a:spcBef>
              <a:spcAft>
                <a:spcPts val="0"/>
              </a:spcAft>
              <a:buNone/>
            </a:pPr>
            <a:endParaRPr sz="900" dirty="0">
              <a:solidFill>
                <a:srgbClr val="000000"/>
              </a:solidFill>
            </a:endParaRPr>
          </a:p>
          <a:p>
            <a:pPr marL="457200" lvl="0" indent="-336550" algn="l" rtl="0">
              <a:lnSpc>
                <a:spcPct val="115000"/>
              </a:lnSpc>
              <a:spcBef>
                <a:spcPts val="600"/>
              </a:spcBef>
              <a:spcAft>
                <a:spcPts val="0"/>
              </a:spcAft>
              <a:buSzPts val="1700"/>
              <a:buAutoNum type="romanUcPeriod"/>
            </a:pPr>
            <a:r>
              <a:rPr lang="en" sz="1700" dirty="0">
                <a:solidFill>
                  <a:srgbClr val="000000"/>
                </a:solidFill>
              </a:rPr>
              <a:t>Some of the mailings may have never reached the parents.</a:t>
            </a:r>
            <a:br>
              <a:rPr lang="en" sz="1700" dirty="0">
                <a:solidFill>
                  <a:srgbClr val="000000"/>
                </a:solidFill>
              </a:rPr>
            </a:br>
            <a:endParaRPr sz="600" dirty="0">
              <a:solidFill>
                <a:srgbClr val="000000"/>
              </a:solidFill>
            </a:endParaRPr>
          </a:p>
          <a:p>
            <a:pPr marL="457200" lvl="0" indent="-336550" algn="l" rtl="0">
              <a:lnSpc>
                <a:spcPct val="115000"/>
              </a:lnSpc>
              <a:spcBef>
                <a:spcPts val="0"/>
              </a:spcBef>
              <a:spcAft>
                <a:spcPts val="0"/>
              </a:spcAft>
              <a:buSzPts val="1700"/>
              <a:buAutoNum type="romanUcPeriod"/>
            </a:pPr>
            <a:r>
              <a:rPr lang="en" sz="1700" dirty="0">
                <a:solidFill>
                  <a:srgbClr val="000000"/>
                </a:solidFill>
              </a:rPr>
              <a:t>The school district has strong support from parents to move forward with the policy approval.</a:t>
            </a:r>
            <a:br>
              <a:rPr lang="en" sz="1700" dirty="0">
                <a:solidFill>
                  <a:srgbClr val="000000"/>
                </a:solidFill>
              </a:rPr>
            </a:br>
            <a:endParaRPr sz="600" dirty="0">
              <a:solidFill>
                <a:srgbClr val="000000"/>
              </a:solidFill>
            </a:endParaRPr>
          </a:p>
          <a:p>
            <a:pPr marL="457200" lvl="0" indent="-336550" algn="l" rtl="0">
              <a:lnSpc>
                <a:spcPct val="115000"/>
              </a:lnSpc>
              <a:spcBef>
                <a:spcPts val="0"/>
              </a:spcBef>
              <a:spcAft>
                <a:spcPts val="0"/>
              </a:spcAft>
              <a:buSzPts val="1700"/>
              <a:buAutoNum type="romanUcPeriod"/>
            </a:pPr>
            <a:r>
              <a:rPr lang="en" sz="1700" dirty="0">
                <a:solidFill>
                  <a:srgbClr val="000000"/>
                </a:solidFill>
              </a:rPr>
              <a:t>It is possible that majority of the parents of high school students disagree with the policy change.</a:t>
            </a:r>
            <a:br>
              <a:rPr lang="en" sz="1700" dirty="0">
                <a:solidFill>
                  <a:srgbClr val="000000"/>
                </a:solidFill>
              </a:rPr>
            </a:br>
            <a:endParaRPr sz="600" dirty="0">
              <a:solidFill>
                <a:srgbClr val="000000"/>
              </a:solidFill>
            </a:endParaRPr>
          </a:p>
          <a:p>
            <a:pPr marL="457200" lvl="0" indent="-336550" algn="l" rtl="0">
              <a:lnSpc>
                <a:spcPct val="115000"/>
              </a:lnSpc>
              <a:spcBef>
                <a:spcPts val="0"/>
              </a:spcBef>
              <a:spcAft>
                <a:spcPts val="0"/>
              </a:spcAft>
              <a:buSzPts val="1700"/>
              <a:buAutoNum type="romanUcPeriod"/>
            </a:pPr>
            <a:r>
              <a:rPr lang="en" sz="1700" dirty="0">
                <a:solidFill>
                  <a:srgbClr val="000000"/>
                </a:solidFill>
              </a:rPr>
              <a:t>The survey results are unlikely to be biased because all parents were mailed a survey.</a:t>
            </a:r>
            <a:endParaRPr sz="1700" dirty="0">
              <a:solidFill>
                <a:srgbClr val="000000"/>
              </a:solidFill>
            </a:endParaRPr>
          </a:p>
          <a:p>
            <a:pPr marL="0" lvl="0" indent="0" algn="l" rtl="0">
              <a:lnSpc>
                <a:spcPct val="115000"/>
              </a:lnSpc>
              <a:spcBef>
                <a:spcPts val="600"/>
              </a:spcBef>
              <a:spcAft>
                <a:spcPts val="0"/>
              </a:spcAft>
              <a:buNone/>
            </a:pPr>
            <a:endParaRPr sz="900" dirty="0">
              <a:solidFill>
                <a:srgbClr val="000000"/>
              </a:solidFill>
            </a:endParaRPr>
          </a:p>
          <a:p>
            <a:pPr marL="0" lvl="0" indent="0" algn="l" rtl="0">
              <a:lnSpc>
                <a:spcPct val="115000"/>
              </a:lnSpc>
              <a:spcBef>
                <a:spcPts val="600"/>
              </a:spcBef>
              <a:spcAft>
                <a:spcPts val="0"/>
              </a:spcAft>
              <a:buNone/>
            </a:pPr>
            <a:r>
              <a:rPr lang="en" sz="1700" dirty="0">
                <a:solidFill>
                  <a:srgbClr val="000000"/>
                </a:solidFill>
              </a:rPr>
              <a:t>(a) Only I 	(b) I and II	</a:t>
            </a:r>
            <a:r>
              <a:rPr lang="en" sz="1700" dirty="0">
                <a:solidFill>
                  <a:srgbClr val="FF9900"/>
                </a:solidFill>
              </a:rPr>
              <a:t>(c) I and III</a:t>
            </a:r>
            <a:r>
              <a:rPr lang="en" sz="1700" dirty="0">
                <a:solidFill>
                  <a:srgbClr val="000000"/>
                </a:solidFill>
              </a:rPr>
              <a:t>	(d) III and IV	(e) Only IV</a:t>
            </a:r>
            <a:endParaRPr sz="1700" dirty="0">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4"/>
          <p:cNvSpPr txBox="1">
            <a:spLocks noGrp="1"/>
          </p:cNvSpPr>
          <p:nvPr>
            <p:ph type="body" idx="1"/>
          </p:nvPr>
        </p:nvSpPr>
        <p:spPr>
          <a:xfrm>
            <a:off x="457200" y="1142999"/>
            <a:ext cx="8229600" cy="5019675"/>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1900" dirty="0"/>
          </a:p>
          <a:p>
            <a:pPr marL="457200" lvl="0" indent="-349250" algn="l" rtl="0">
              <a:lnSpc>
                <a:spcPct val="115000"/>
              </a:lnSpc>
              <a:spcBef>
                <a:spcPts val="600"/>
              </a:spcBef>
              <a:spcAft>
                <a:spcPts val="0"/>
              </a:spcAft>
              <a:buSzPts val="1900"/>
              <a:buChar char="●"/>
            </a:pPr>
            <a:r>
              <a:rPr lang="en" sz="1900" dirty="0"/>
              <a:t>Researchers collect data in a way that does not directly interfere with how the data arise and only by monitoring what occurs. </a:t>
            </a:r>
            <a:br>
              <a:rPr lang="en" sz="1900" dirty="0"/>
            </a:br>
            <a:endParaRPr sz="1900" dirty="0"/>
          </a:p>
          <a:p>
            <a:pPr marL="457200" lvl="0" indent="-349250" algn="l" rtl="0">
              <a:lnSpc>
                <a:spcPct val="115000"/>
              </a:lnSpc>
              <a:spcBef>
                <a:spcPts val="0"/>
              </a:spcBef>
              <a:spcAft>
                <a:spcPts val="0"/>
              </a:spcAft>
              <a:buSzPts val="1900"/>
              <a:buChar char="●"/>
            </a:pPr>
            <a:r>
              <a:rPr lang="en" sz="1900" dirty="0"/>
              <a:t>Results of an observational study can generally be used to establish an association between the explanatory (Xs) and response variables (Y).</a:t>
            </a:r>
          </a:p>
          <a:p>
            <a:pPr marL="457200" lvl="0" indent="-349250" algn="l" rtl="0">
              <a:lnSpc>
                <a:spcPct val="115000"/>
              </a:lnSpc>
              <a:spcBef>
                <a:spcPts val="0"/>
              </a:spcBef>
              <a:spcAft>
                <a:spcPts val="0"/>
              </a:spcAft>
              <a:buSzPts val="1900"/>
              <a:buChar char="●"/>
            </a:pPr>
            <a:endParaRPr lang="en" sz="1900" dirty="0"/>
          </a:p>
          <a:p>
            <a:pPr marL="457200" lvl="0" indent="-349250" algn="l" rtl="0">
              <a:lnSpc>
                <a:spcPct val="115000"/>
              </a:lnSpc>
              <a:spcBef>
                <a:spcPts val="0"/>
              </a:spcBef>
              <a:spcAft>
                <a:spcPts val="0"/>
              </a:spcAft>
              <a:buSzPts val="1900"/>
              <a:buChar char="●"/>
            </a:pPr>
            <a:r>
              <a:rPr lang="en" sz="1900" dirty="0"/>
              <a:t>Association does not imply causation. For example, sunscreen use and skin cancer.</a:t>
            </a:r>
          </a:p>
          <a:p>
            <a:pPr marL="457200" lvl="0" indent="-349250" algn="l" rtl="0">
              <a:lnSpc>
                <a:spcPct val="115000"/>
              </a:lnSpc>
              <a:spcBef>
                <a:spcPts val="0"/>
              </a:spcBef>
              <a:spcAft>
                <a:spcPts val="0"/>
              </a:spcAft>
              <a:buSzPts val="1900"/>
              <a:buChar char="●"/>
            </a:pPr>
            <a:endParaRPr lang="en" sz="1900" dirty="0"/>
          </a:p>
          <a:p>
            <a:pPr marL="457200" lvl="0" indent="-349250" algn="l" rtl="0">
              <a:lnSpc>
                <a:spcPct val="115000"/>
              </a:lnSpc>
              <a:spcBef>
                <a:spcPts val="0"/>
              </a:spcBef>
              <a:spcAft>
                <a:spcPts val="0"/>
              </a:spcAft>
              <a:buSzPts val="1900"/>
              <a:buChar char="●"/>
            </a:pPr>
            <a:endParaRPr lang="en" sz="1900" dirty="0"/>
          </a:p>
          <a:p>
            <a:pPr marL="457200" lvl="0" indent="-349250" algn="l" rtl="0">
              <a:lnSpc>
                <a:spcPct val="115000"/>
              </a:lnSpc>
              <a:spcBef>
                <a:spcPts val="0"/>
              </a:spcBef>
              <a:spcAft>
                <a:spcPts val="0"/>
              </a:spcAft>
              <a:buSzPts val="1900"/>
              <a:buChar char="●"/>
            </a:pPr>
            <a:r>
              <a:rPr lang="en" sz="1900" dirty="0"/>
              <a:t>When researchers want to investigate the possibility of a causal connection, they conduct an experiment.</a:t>
            </a:r>
          </a:p>
          <a:p>
            <a:pPr marL="457200" lvl="0" indent="-349250" algn="l" rtl="0">
              <a:lnSpc>
                <a:spcPct val="115000"/>
              </a:lnSpc>
              <a:spcBef>
                <a:spcPts val="0"/>
              </a:spcBef>
              <a:spcAft>
                <a:spcPts val="0"/>
              </a:spcAft>
              <a:buSzPts val="1900"/>
              <a:buChar char="●"/>
            </a:pPr>
            <a:endParaRPr sz="1900" dirty="0"/>
          </a:p>
        </p:txBody>
      </p:sp>
      <p:sp>
        <p:nvSpPr>
          <p:cNvPr id="211" name="Google Shape;211;p3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Observational studies</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
                                            <p:txEl>
                                              <p:pRg st="1" end="1"/>
                                            </p:txEl>
                                          </p:spTgt>
                                        </p:tgtEl>
                                        <p:attrNameLst>
                                          <p:attrName>style.visibility</p:attrName>
                                        </p:attrNameLst>
                                      </p:cBhvr>
                                      <p:to>
                                        <p:strVal val="visible"/>
                                      </p:to>
                                    </p:set>
                                    <p:animEffect transition="in" filter="fade">
                                      <p:cBhvr>
                                        <p:cTn id="7" dur="1000"/>
                                        <p:tgtEl>
                                          <p:spTgt spid="2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0">
                                            <p:txEl>
                                              <p:pRg st="2" end="2"/>
                                            </p:txEl>
                                          </p:spTgt>
                                        </p:tgtEl>
                                        <p:attrNameLst>
                                          <p:attrName>style.visibility</p:attrName>
                                        </p:attrNameLst>
                                      </p:cBhvr>
                                      <p:to>
                                        <p:strVal val="visible"/>
                                      </p:to>
                                    </p:set>
                                    <p:animEffect transition="in" filter="fade">
                                      <p:cBhvr>
                                        <p:cTn id="12" dur="1000"/>
                                        <p:tgtEl>
                                          <p:spTgt spid="2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0">
                                            <p:txEl>
                                              <p:pRg st="4" end="4"/>
                                            </p:txEl>
                                          </p:spTgt>
                                        </p:tgtEl>
                                        <p:attrNameLst>
                                          <p:attrName>style.visibility</p:attrName>
                                        </p:attrNameLst>
                                      </p:cBhvr>
                                      <p:to>
                                        <p:strVal val="visible"/>
                                      </p:to>
                                    </p:set>
                                    <p:animEffect transition="in" filter="fade">
                                      <p:cBhvr>
                                        <p:cTn id="17" dur="1000"/>
                                        <p:tgtEl>
                                          <p:spTgt spid="2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0">
                                            <p:txEl>
                                              <p:pRg st="7" end="7"/>
                                            </p:txEl>
                                          </p:spTgt>
                                        </p:tgtEl>
                                        <p:attrNameLst>
                                          <p:attrName>style.visibility</p:attrName>
                                        </p:attrNameLst>
                                      </p:cBhvr>
                                      <p:to>
                                        <p:strVal val="visible"/>
                                      </p:to>
                                    </p:set>
                                    <p:animEffect transition="in" filter="fade">
                                      <p:cBhvr>
                                        <p:cTn id="22" dur="1000"/>
                                        <p:tgtEl>
                                          <p:spTgt spid="2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a:spLocks noGrp="1"/>
          </p:cNvSpPr>
          <p:nvPr>
            <p:ph type="body" idx="1"/>
          </p:nvPr>
        </p:nvSpPr>
        <p:spPr>
          <a:xfrm>
            <a:off x="457200" y="1143000"/>
            <a:ext cx="8229600" cy="2571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1900"/>
          </a:p>
          <a:p>
            <a:pPr marL="457200" lvl="0" indent="-349250" algn="l" rtl="0">
              <a:lnSpc>
                <a:spcPct val="115000"/>
              </a:lnSpc>
              <a:spcBef>
                <a:spcPts val="600"/>
              </a:spcBef>
              <a:spcAft>
                <a:spcPts val="0"/>
              </a:spcAft>
              <a:buSzPts val="1900"/>
              <a:buChar char="●"/>
            </a:pPr>
            <a:r>
              <a:rPr lang="en" sz="1900"/>
              <a:t>Almost all statistical methods are based on the notion of implied randomness.</a:t>
            </a:r>
            <a:br>
              <a:rPr lang="en" sz="1900"/>
            </a:br>
            <a:endParaRPr sz="1900"/>
          </a:p>
          <a:p>
            <a:pPr marL="457200" lvl="0" indent="-349250" algn="l" rtl="0">
              <a:lnSpc>
                <a:spcPct val="115000"/>
              </a:lnSpc>
              <a:spcBef>
                <a:spcPts val="0"/>
              </a:spcBef>
              <a:spcAft>
                <a:spcPts val="0"/>
              </a:spcAft>
              <a:buSzPts val="1900"/>
              <a:buChar char="●"/>
            </a:pPr>
            <a:r>
              <a:rPr lang="en" sz="1900"/>
              <a:t>If observational data are not collected in a random framework from a population, these statistical methods – the estimates and errors associated with the estimates – are not reliable.</a:t>
            </a:r>
            <a:br>
              <a:rPr lang="en" sz="1900"/>
            </a:br>
            <a:endParaRPr sz="1900"/>
          </a:p>
          <a:p>
            <a:pPr marL="457200" lvl="0" indent="-349250" algn="l" rtl="0">
              <a:lnSpc>
                <a:spcPct val="115000"/>
              </a:lnSpc>
              <a:spcBef>
                <a:spcPts val="0"/>
              </a:spcBef>
              <a:spcAft>
                <a:spcPts val="0"/>
              </a:spcAft>
              <a:buSzPts val="1900"/>
              <a:buChar char="●"/>
            </a:pPr>
            <a:r>
              <a:rPr lang="en" sz="1900"/>
              <a:t>Most commonly used random sampling techniques are </a:t>
            </a:r>
            <a:r>
              <a:rPr lang="en" sz="1900" i="1">
                <a:solidFill>
                  <a:srgbClr val="3D85C6"/>
                </a:solidFill>
              </a:rPr>
              <a:t>simple</a:t>
            </a:r>
            <a:r>
              <a:rPr lang="en" sz="1900"/>
              <a:t>, </a:t>
            </a:r>
            <a:r>
              <a:rPr lang="en" sz="1900" i="1">
                <a:solidFill>
                  <a:srgbClr val="3D85C6"/>
                </a:solidFill>
              </a:rPr>
              <a:t>stratified</a:t>
            </a:r>
            <a:r>
              <a:rPr lang="en" sz="1900"/>
              <a:t>, and </a:t>
            </a:r>
            <a:r>
              <a:rPr lang="en" sz="1900" i="1">
                <a:solidFill>
                  <a:srgbClr val="3D85C6"/>
                </a:solidFill>
              </a:rPr>
              <a:t>cluster</a:t>
            </a:r>
            <a:r>
              <a:rPr lang="en" sz="1900"/>
              <a:t> sampling.</a:t>
            </a:r>
            <a:endParaRPr sz="1900"/>
          </a:p>
        </p:txBody>
      </p:sp>
      <p:sp>
        <p:nvSpPr>
          <p:cNvPr id="217" name="Google Shape;217;p3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Obtaining good samples</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6">
                                            <p:txEl>
                                              <p:pRg st="0" end="0"/>
                                            </p:txEl>
                                          </p:spTgt>
                                        </p:tgtEl>
                                        <p:attrNameLst>
                                          <p:attrName>style.visibility</p:attrName>
                                        </p:attrNameLst>
                                      </p:cBhvr>
                                      <p:to>
                                        <p:strVal val="visible"/>
                                      </p:to>
                                    </p:set>
                                    <p:animEffect transition="in" filter="fade">
                                      <p:cBhvr>
                                        <p:cTn id="7" dur="1000"/>
                                        <p:tgtEl>
                                          <p:spTgt spid="2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6">
                                            <p:txEl>
                                              <p:pRg st="1" end="1"/>
                                            </p:txEl>
                                          </p:spTgt>
                                        </p:tgtEl>
                                        <p:attrNameLst>
                                          <p:attrName>style.visibility</p:attrName>
                                        </p:attrNameLst>
                                      </p:cBhvr>
                                      <p:to>
                                        <p:strVal val="visible"/>
                                      </p:to>
                                    </p:set>
                                    <p:animEffect transition="in" filter="fade">
                                      <p:cBhvr>
                                        <p:cTn id="12" dur="1000"/>
                                        <p:tgtEl>
                                          <p:spTgt spid="2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6">
                                            <p:txEl>
                                              <p:pRg st="2" end="2"/>
                                            </p:txEl>
                                          </p:spTgt>
                                        </p:tgtEl>
                                        <p:attrNameLst>
                                          <p:attrName>style.visibility</p:attrName>
                                        </p:attrNameLst>
                                      </p:cBhvr>
                                      <p:to>
                                        <p:strVal val="visible"/>
                                      </p:to>
                                    </p:set>
                                    <p:animEffect transition="in" filter="fade">
                                      <p:cBhvr>
                                        <p:cTn id="17" dur="1000"/>
                                        <p:tgtEl>
                                          <p:spTgt spid="2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6">
                                            <p:txEl>
                                              <p:pRg st="3" end="3"/>
                                            </p:txEl>
                                          </p:spTgt>
                                        </p:tgtEl>
                                        <p:attrNameLst>
                                          <p:attrName>style.visibility</p:attrName>
                                        </p:attrNameLst>
                                      </p:cBhvr>
                                      <p:to>
                                        <p:strVal val="visible"/>
                                      </p:to>
                                    </p:set>
                                    <p:animEffect transition="in" filter="fade">
                                      <p:cBhvr>
                                        <p:cTn id="22" dur="1000"/>
                                        <p:tgtEl>
                                          <p:spTgt spid="2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6"/>
          <p:cNvSpPr txBox="1">
            <a:spLocks noGrp="1"/>
          </p:cNvSpPr>
          <p:nvPr>
            <p:ph type="title"/>
          </p:nvPr>
        </p:nvSpPr>
        <p:spPr>
          <a:xfrm>
            <a:off x="457200" y="3389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Prospective vs.</a:t>
            </a:r>
            <a:endParaRPr>
              <a:solidFill>
                <a:schemeClr val="accent1"/>
              </a:solidFill>
            </a:endParaRPr>
          </a:p>
          <a:p>
            <a:pPr marL="0" lvl="0" indent="0" algn="l" rtl="0">
              <a:spcBef>
                <a:spcPts val="0"/>
              </a:spcBef>
              <a:spcAft>
                <a:spcPts val="0"/>
              </a:spcAft>
              <a:buNone/>
            </a:pPr>
            <a:r>
              <a:rPr lang="en">
                <a:solidFill>
                  <a:schemeClr val="accent1"/>
                </a:solidFill>
              </a:rPr>
              <a:t>Retrospective Studies</a:t>
            </a:r>
            <a:endParaRPr>
              <a:solidFill>
                <a:schemeClr val="accent1"/>
              </a:solidFill>
            </a:endParaRPr>
          </a:p>
        </p:txBody>
      </p:sp>
      <p:sp>
        <p:nvSpPr>
          <p:cNvPr id="223" name="Google Shape;223;p36"/>
          <p:cNvSpPr txBox="1">
            <a:spLocks noGrp="1"/>
          </p:cNvSpPr>
          <p:nvPr>
            <p:ph type="body" idx="1"/>
          </p:nvPr>
        </p:nvSpPr>
        <p:spPr>
          <a:xfrm>
            <a:off x="457200" y="1767050"/>
            <a:ext cx="8229600" cy="4752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2200"/>
              <a:t>A </a:t>
            </a:r>
            <a:r>
              <a:rPr lang="en" sz="2200">
                <a:solidFill>
                  <a:schemeClr val="accent1"/>
                </a:solidFill>
              </a:rPr>
              <a:t>prospective study</a:t>
            </a:r>
            <a:r>
              <a:rPr lang="en" sz="2200"/>
              <a:t> identifies individuals and collects information as events unfold. </a:t>
            </a:r>
            <a:endParaRPr sz="2200"/>
          </a:p>
          <a:p>
            <a:pPr marL="457200" lvl="0" indent="-368300" algn="l" rtl="0">
              <a:lnSpc>
                <a:spcPct val="115000"/>
              </a:lnSpc>
              <a:spcBef>
                <a:spcPts val="600"/>
              </a:spcBef>
              <a:spcAft>
                <a:spcPts val="0"/>
              </a:spcAft>
              <a:buSzPts val="2200"/>
              <a:buChar char="●"/>
            </a:pPr>
            <a:r>
              <a:rPr lang="en" sz="2200"/>
              <a:t>Example: The Nurses Health Study has been recruiting registered nurses and then collecting data from them using questionnaires since 1976.</a:t>
            </a:r>
            <a:endParaRPr sz="2200"/>
          </a:p>
          <a:p>
            <a:pPr marL="0" lvl="0" indent="0" algn="l" rtl="0">
              <a:lnSpc>
                <a:spcPct val="115000"/>
              </a:lnSpc>
              <a:spcBef>
                <a:spcPts val="600"/>
              </a:spcBef>
              <a:spcAft>
                <a:spcPts val="0"/>
              </a:spcAft>
              <a:buNone/>
            </a:pPr>
            <a:endParaRPr sz="2200"/>
          </a:p>
          <a:p>
            <a:pPr marL="0" lvl="0" indent="0" algn="l" rtl="0">
              <a:lnSpc>
                <a:spcPct val="115000"/>
              </a:lnSpc>
              <a:spcBef>
                <a:spcPts val="600"/>
              </a:spcBef>
              <a:spcAft>
                <a:spcPts val="0"/>
              </a:spcAft>
              <a:buNone/>
            </a:pPr>
            <a:r>
              <a:rPr lang="en" sz="2200">
                <a:solidFill>
                  <a:schemeClr val="accent1"/>
                </a:solidFill>
              </a:rPr>
              <a:t>Retrospective studies</a:t>
            </a:r>
            <a:r>
              <a:rPr lang="en" sz="2200"/>
              <a:t> collect data after events have taken place.</a:t>
            </a:r>
            <a:endParaRPr sz="2200"/>
          </a:p>
          <a:p>
            <a:pPr marL="457200" lvl="0" indent="-368300" algn="l" rtl="0">
              <a:lnSpc>
                <a:spcPct val="115000"/>
              </a:lnSpc>
              <a:spcBef>
                <a:spcPts val="600"/>
              </a:spcBef>
              <a:spcAft>
                <a:spcPts val="0"/>
              </a:spcAft>
              <a:buSzPts val="2200"/>
              <a:buChar char="●"/>
            </a:pPr>
            <a:r>
              <a:rPr lang="en" sz="2200"/>
              <a:t>Example: Researchers reviewing past events in medical records.</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xEl>
                                              <p:pRg st="0" end="0"/>
                                            </p:txEl>
                                          </p:spTgt>
                                        </p:tgtEl>
                                        <p:attrNameLst>
                                          <p:attrName>style.visibility</p:attrName>
                                        </p:attrNameLst>
                                      </p:cBhvr>
                                      <p:to>
                                        <p:strVal val="visible"/>
                                      </p:to>
                                    </p:set>
                                    <p:animEffect transition="in" filter="fade">
                                      <p:cBhvr>
                                        <p:cTn id="7" dur="1000"/>
                                        <p:tgtEl>
                                          <p:spTgt spid="2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3">
                                            <p:txEl>
                                              <p:pRg st="1" end="1"/>
                                            </p:txEl>
                                          </p:spTgt>
                                        </p:tgtEl>
                                        <p:attrNameLst>
                                          <p:attrName>style.visibility</p:attrName>
                                        </p:attrNameLst>
                                      </p:cBhvr>
                                      <p:to>
                                        <p:strVal val="visible"/>
                                      </p:to>
                                    </p:set>
                                    <p:animEffect transition="in" filter="fade">
                                      <p:cBhvr>
                                        <p:cTn id="12" dur="1000"/>
                                        <p:tgtEl>
                                          <p:spTgt spid="2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3">
                                            <p:txEl>
                                              <p:pRg st="2" end="2"/>
                                            </p:txEl>
                                          </p:spTgt>
                                        </p:tgtEl>
                                        <p:attrNameLst>
                                          <p:attrName>style.visibility</p:attrName>
                                        </p:attrNameLst>
                                      </p:cBhvr>
                                      <p:to>
                                        <p:strVal val="visible"/>
                                      </p:to>
                                    </p:set>
                                    <p:animEffect transition="in" filter="fade">
                                      <p:cBhvr>
                                        <p:cTn id="17" dur="1000"/>
                                        <p:tgtEl>
                                          <p:spTgt spid="2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3">
                                            <p:txEl>
                                              <p:pRg st="3" end="3"/>
                                            </p:txEl>
                                          </p:spTgt>
                                        </p:tgtEl>
                                        <p:attrNameLst>
                                          <p:attrName>style.visibility</p:attrName>
                                        </p:attrNameLst>
                                      </p:cBhvr>
                                      <p:to>
                                        <p:strVal val="visible"/>
                                      </p:to>
                                    </p:set>
                                    <p:animEffect transition="in" filter="fade">
                                      <p:cBhvr>
                                        <p:cTn id="22" dur="1000"/>
                                        <p:tgtEl>
                                          <p:spTgt spid="2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3">
                                            <p:txEl>
                                              <p:pRg st="4" end="4"/>
                                            </p:txEl>
                                          </p:spTgt>
                                        </p:tgtEl>
                                        <p:attrNameLst>
                                          <p:attrName>style.visibility</p:attrName>
                                        </p:attrNameLst>
                                      </p:cBhvr>
                                      <p:to>
                                        <p:strVal val="visible"/>
                                      </p:to>
                                    </p:set>
                                    <p:animEffect transition="in" filter="fade">
                                      <p:cBhvr>
                                        <p:cTn id="27" dur="1000"/>
                                        <p:tgtEl>
                                          <p:spTgt spid="2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Obtaining Good Samples</a:t>
            </a:r>
            <a:endParaRPr>
              <a:solidFill>
                <a:schemeClr val="accent1"/>
              </a:solidFill>
            </a:endParaRPr>
          </a:p>
        </p:txBody>
      </p:sp>
      <p:sp>
        <p:nvSpPr>
          <p:cNvPr id="229" name="Google Shape;229;p37"/>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457200" lvl="0" indent="-368300" algn="l" rtl="0">
              <a:spcBef>
                <a:spcPts val="600"/>
              </a:spcBef>
              <a:spcAft>
                <a:spcPts val="0"/>
              </a:spcAft>
              <a:buClr>
                <a:srgbClr val="000000"/>
              </a:buClr>
              <a:buSzPts val="2200"/>
              <a:buChar char="●"/>
            </a:pPr>
            <a:r>
              <a:rPr lang="en" sz="2200">
                <a:solidFill>
                  <a:srgbClr val="000000"/>
                </a:solidFill>
              </a:rPr>
              <a:t>Almost all statistical methods are based on the notion of implied randomness. </a:t>
            </a:r>
            <a:endParaRPr sz="2200">
              <a:solidFill>
                <a:srgbClr val="000000"/>
              </a:solidFill>
            </a:endParaRPr>
          </a:p>
          <a:p>
            <a:pPr marL="0" lvl="0" indent="0" algn="l" rtl="0">
              <a:spcBef>
                <a:spcPts val="600"/>
              </a:spcBef>
              <a:spcAft>
                <a:spcPts val="0"/>
              </a:spcAft>
              <a:buClr>
                <a:srgbClr val="000000"/>
              </a:buClr>
              <a:buSzPts val="1100"/>
              <a:buFont typeface="Arial"/>
              <a:buNone/>
            </a:pPr>
            <a:endParaRPr sz="2200">
              <a:solidFill>
                <a:srgbClr val="000000"/>
              </a:solidFill>
            </a:endParaRPr>
          </a:p>
          <a:p>
            <a:pPr marL="457200" lvl="0" indent="-368300" algn="l" rtl="0">
              <a:spcBef>
                <a:spcPts val="600"/>
              </a:spcBef>
              <a:spcAft>
                <a:spcPts val="0"/>
              </a:spcAft>
              <a:buClr>
                <a:srgbClr val="000000"/>
              </a:buClr>
              <a:buSzPts val="2200"/>
              <a:buChar char="●"/>
            </a:pPr>
            <a:r>
              <a:rPr lang="en" sz="2200">
                <a:solidFill>
                  <a:srgbClr val="000000"/>
                </a:solidFill>
              </a:rPr>
              <a:t>If observational data are not collected in a random framework from a population, these statistical methods -- the estimates and errors associated with the estimates -- are not reliable.</a:t>
            </a:r>
            <a:endParaRPr sz="2200">
              <a:solidFill>
                <a:srgbClr val="000000"/>
              </a:solidFill>
            </a:endParaRPr>
          </a:p>
          <a:p>
            <a:pPr marL="0" lvl="0" indent="0" algn="l" rtl="0">
              <a:spcBef>
                <a:spcPts val="600"/>
              </a:spcBef>
              <a:spcAft>
                <a:spcPts val="0"/>
              </a:spcAft>
              <a:buClr>
                <a:srgbClr val="000000"/>
              </a:buClr>
              <a:buSzPts val="1100"/>
              <a:buFont typeface="Arial"/>
              <a:buNone/>
            </a:pPr>
            <a:endParaRPr sz="2200">
              <a:solidFill>
                <a:srgbClr val="000000"/>
              </a:solidFill>
            </a:endParaRPr>
          </a:p>
          <a:p>
            <a:pPr marL="457200" lvl="0" indent="-368300" algn="l" rtl="0">
              <a:spcBef>
                <a:spcPts val="600"/>
              </a:spcBef>
              <a:spcAft>
                <a:spcPts val="0"/>
              </a:spcAft>
              <a:buSzPts val="2200"/>
              <a:buChar char="●"/>
            </a:pPr>
            <a:r>
              <a:rPr lang="en" sz="2200">
                <a:solidFill>
                  <a:srgbClr val="000000"/>
                </a:solidFill>
              </a:rPr>
              <a:t>Most commonly used random sampling techniques are </a:t>
            </a:r>
            <a:r>
              <a:rPr lang="en" sz="2200" i="1">
                <a:solidFill>
                  <a:schemeClr val="accent1"/>
                </a:solidFill>
              </a:rPr>
              <a:t>simple</a:t>
            </a:r>
            <a:r>
              <a:rPr lang="en" sz="2200">
                <a:solidFill>
                  <a:srgbClr val="000000"/>
                </a:solidFill>
              </a:rPr>
              <a:t>, </a:t>
            </a:r>
            <a:r>
              <a:rPr lang="en" sz="2200" i="1">
                <a:solidFill>
                  <a:schemeClr val="accent1"/>
                </a:solidFill>
              </a:rPr>
              <a:t>stratified</a:t>
            </a:r>
            <a:r>
              <a:rPr lang="en" sz="2200">
                <a:solidFill>
                  <a:srgbClr val="000000"/>
                </a:solidFill>
              </a:rPr>
              <a:t>, and </a:t>
            </a:r>
            <a:r>
              <a:rPr lang="en" sz="2200" i="1">
                <a:solidFill>
                  <a:schemeClr val="accent1"/>
                </a:solidFill>
              </a:rPr>
              <a:t>cluster</a:t>
            </a:r>
            <a:r>
              <a:rPr lang="en" sz="2200" i="1">
                <a:solidFill>
                  <a:srgbClr val="000000"/>
                </a:solidFill>
              </a:rPr>
              <a:t> </a:t>
            </a:r>
            <a:r>
              <a:rPr lang="en" sz="2200">
                <a:solidFill>
                  <a:srgbClr val="000000"/>
                </a:solidFill>
              </a:rPr>
              <a:t>sampling.</a:t>
            </a:r>
            <a:endParaRPr sz="2200">
              <a:solidFill>
                <a:srgbClr val="000000"/>
              </a:solidFill>
            </a:endParaRPr>
          </a:p>
          <a:p>
            <a:pPr marL="0" lvl="0" indent="0" algn="l" rtl="0">
              <a:spcBef>
                <a:spcPts val="600"/>
              </a:spcBef>
              <a:spcAft>
                <a:spcPts val="0"/>
              </a:spcAft>
              <a:buNone/>
            </a:pPr>
            <a:endParaRPr sz="2200">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Simple Random Sample</a:t>
            </a:r>
            <a:endParaRPr>
              <a:solidFill>
                <a:schemeClr val="accent1"/>
              </a:solidFill>
            </a:endParaRPr>
          </a:p>
        </p:txBody>
      </p:sp>
      <p:sp>
        <p:nvSpPr>
          <p:cNvPr id="235" name="Google Shape;235;p38"/>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solidFill>
                  <a:srgbClr val="000000"/>
                </a:solidFill>
              </a:rPr>
              <a:t>Randomly select cases from the population, where there is no implied connection between the points that are selected.</a:t>
            </a:r>
          </a:p>
          <a:p>
            <a:pPr marL="0" lvl="0" indent="0">
              <a:spcBef>
                <a:spcPts val="0"/>
              </a:spcBef>
              <a:buNone/>
            </a:pPr>
            <a:r>
              <a:rPr lang="en-US" altLang="zh-CN" sz="2400" dirty="0"/>
              <a:t>Caution must be exercised if the non-response is high.</a:t>
            </a:r>
          </a:p>
          <a:p>
            <a:pPr marL="0" lvl="0" indent="0">
              <a:spcBef>
                <a:spcPts val="0"/>
              </a:spcBef>
              <a:buNone/>
            </a:pPr>
            <a:r>
              <a:rPr lang="en-US" altLang="zh-CN" sz="2400" dirty="0"/>
              <a:t>A convenience sample, where individuals who are easily accessible are more likely to be included in the sample, is generally a bad basis for making conclusions about the population</a:t>
            </a:r>
          </a:p>
          <a:p>
            <a:pPr marL="0" lvl="0" indent="0" algn="l" rtl="0">
              <a:spcBef>
                <a:spcPts val="600"/>
              </a:spcBef>
              <a:spcAft>
                <a:spcPts val="0"/>
              </a:spcAft>
              <a:buNone/>
            </a:pPr>
            <a:endParaRPr sz="2400" dirty="0">
              <a:solidFill>
                <a:srgbClr val="000000"/>
              </a:solidFill>
            </a:endParaRPr>
          </a:p>
        </p:txBody>
      </p:sp>
      <p:pic>
        <p:nvPicPr>
          <p:cNvPr id="236" name="Google Shape;236;p38"/>
          <p:cNvPicPr preferRelativeResize="0"/>
          <p:nvPr/>
        </p:nvPicPr>
        <p:blipFill>
          <a:blip r:embed="rId3">
            <a:alphaModFix/>
          </a:blip>
          <a:stretch>
            <a:fillRect/>
          </a:stretch>
        </p:blipFill>
        <p:spPr>
          <a:xfrm>
            <a:off x="4781550" y="3990974"/>
            <a:ext cx="3332450" cy="223300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9"/>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200" i="1" dirty="0">
                <a:solidFill>
                  <a:schemeClr val="accent1"/>
                </a:solidFill>
              </a:rPr>
              <a:t>Strata</a:t>
            </a:r>
            <a:r>
              <a:rPr lang="en" sz="2200" i="1" dirty="0">
                <a:solidFill>
                  <a:srgbClr val="000000"/>
                </a:solidFill>
              </a:rPr>
              <a:t> </a:t>
            </a:r>
            <a:r>
              <a:rPr lang="en" sz="2200" dirty="0">
                <a:solidFill>
                  <a:srgbClr val="000000"/>
                </a:solidFill>
              </a:rPr>
              <a:t>are made up of similar observations. We take a simple random sample from </a:t>
            </a:r>
            <a:r>
              <a:rPr lang="en" sz="2200" u="sng" dirty="0">
                <a:solidFill>
                  <a:srgbClr val="000000"/>
                </a:solidFill>
              </a:rPr>
              <a:t>each</a:t>
            </a:r>
            <a:r>
              <a:rPr lang="en" sz="2200" dirty="0">
                <a:solidFill>
                  <a:srgbClr val="000000"/>
                </a:solidFill>
              </a:rPr>
              <a:t> stratum.</a:t>
            </a:r>
            <a:endParaRPr sz="2200" dirty="0">
              <a:solidFill>
                <a:srgbClr val="000000"/>
              </a:solidFill>
            </a:endParaRPr>
          </a:p>
        </p:txBody>
      </p:sp>
      <p:sp>
        <p:nvSpPr>
          <p:cNvPr id="242" name="Google Shape;242;p3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Stratified Sample</a:t>
            </a:r>
            <a:endParaRPr>
              <a:solidFill>
                <a:schemeClr val="accent1"/>
              </a:solidFill>
            </a:endParaRPr>
          </a:p>
        </p:txBody>
      </p:sp>
      <p:pic>
        <p:nvPicPr>
          <p:cNvPr id="243" name="Google Shape;243;p39"/>
          <p:cNvPicPr preferRelativeResize="0"/>
          <p:nvPr/>
        </p:nvPicPr>
        <p:blipFill>
          <a:blip r:embed="rId3">
            <a:alphaModFix/>
          </a:blip>
          <a:stretch>
            <a:fillRect/>
          </a:stretch>
        </p:blipFill>
        <p:spPr>
          <a:xfrm>
            <a:off x="457200" y="2269150"/>
            <a:ext cx="8042101" cy="40369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0"/>
          <p:cNvSpPr txBox="1">
            <a:spLocks noGrp="1"/>
          </p:cNvSpPr>
          <p:nvPr>
            <p:ph type="body" idx="1"/>
          </p:nvPr>
        </p:nvSpPr>
        <p:spPr>
          <a:xfrm flipH="1">
            <a:off x="457200" y="1143000"/>
            <a:ext cx="8229600" cy="508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200" i="1">
                <a:solidFill>
                  <a:schemeClr val="accent1"/>
                </a:solidFill>
              </a:rPr>
              <a:t>Clusters</a:t>
            </a:r>
            <a:r>
              <a:rPr lang="en" sz="2200">
                <a:solidFill>
                  <a:srgbClr val="000000"/>
                </a:solidFill>
              </a:rPr>
              <a:t> are usually not made up of homogeneous observations. We take a simple random sample of clusters, and then sample all observations in that cluster. Usually preferred for economical reasons.</a:t>
            </a:r>
            <a:endParaRPr sz="2200">
              <a:solidFill>
                <a:srgbClr val="000000"/>
              </a:solidFill>
            </a:endParaRPr>
          </a:p>
        </p:txBody>
      </p:sp>
      <p:sp>
        <p:nvSpPr>
          <p:cNvPr id="249" name="Google Shape;249;p4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Cluster Sample</a:t>
            </a:r>
            <a:endParaRPr>
              <a:solidFill>
                <a:schemeClr val="accent1"/>
              </a:solidFill>
            </a:endParaRPr>
          </a:p>
        </p:txBody>
      </p:sp>
      <p:pic>
        <p:nvPicPr>
          <p:cNvPr id="250" name="Google Shape;250;p40"/>
          <p:cNvPicPr preferRelativeResize="0"/>
          <p:nvPr/>
        </p:nvPicPr>
        <p:blipFill>
          <a:blip r:embed="rId3">
            <a:alphaModFix/>
          </a:blip>
          <a:stretch>
            <a:fillRect/>
          </a:stretch>
        </p:blipFill>
        <p:spPr>
          <a:xfrm>
            <a:off x="1236250" y="2853575"/>
            <a:ext cx="6915150" cy="34480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1"/>
          <p:cNvSpPr txBox="1">
            <a:spLocks noGrp="1"/>
          </p:cNvSpPr>
          <p:nvPr>
            <p:ph type="body" idx="1"/>
          </p:nvPr>
        </p:nvSpPr>
        <p:spPr>
          <a:xfrm flipH="1">
            <a:off x="457200" y="1143000"/>
            <a:ext cx="8229600" cy="508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200" i="1">
                <a:solidFill>
                  <a:schemeClr val="accent1"/>
                </a:solidFill>
              </a:rPr>
              <a:t>Clusters</a:t>
            </a:r>
            <a:r>
              <a:rPr lang="en" sz="2200">
                <a:solidFill>
                  <a:srgbClr val="000000"/>
                </a:solidFill>
              </a:rPr>
              <a:t> are usually not made up of homogeneous observations. We take a simple random sample of clusters, and then take a simple random sample of observations from the sampled clusters</a:t>
            </a:r>
            <a:endParaRPr sz="2200">
              <a:solidFill>
                <a:srgbClr val="000000"/>
              </a:solidFill>
            </a:endParaRPr>
          </a:p>
        </p:txBody>
      </p:sp>
      <p:sp>
        <p:nvSpPr>
          <p:cNvPr id="256" name="Google Shape;256;p41"/>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Multistage Sample</a:t>
            </a:r>
            <a:endParaRPr>
              <a:solidFill>
                <a:schemeClr val="accent1"/>
              </a:solidFill>
            </a:endParaRPr>
          </a:p>
        </p:txBody>
      </p:sp>
      <p:pic>
        <p:nvPicPr>
          <p:cNvPr id="257" name="Google Shape;257;p41"/>
          <p:cNvPicPr preferRelativeResize="0"/>
          <p:nvPr/>
        </p:nvPicPr>
        <p:blipFill>
          <a:blip r:embed="rId3">
            <a:alphaModFix/>
          </a:blip>
          <a:stretch>
            <a:fillRect/>
          </a:stretch>
        </p:blipFill>
        <p:spPr>
          <a:xfrm>
            <a:off x="1114425" y="2818975"/>
            <a:ext cx="6915150" cy="3448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2"/>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200">
                <a:solidFill>
                  <a:schemeClr val="accent1"/>
                </a:solidFill>
              </a:rPr>
              <a:t>A city council has requested a household survey be conducted in a suburban area of their city. The area is broken into many distinct and unique neighborhoods, some including large homes, some with only apartments. Which approach would likely be the </a:t>
            </a:r>
            <a:r>
              <a:rPr lang="en" sz="2200" i="1">
                <a:solidFill>
                  <a:schemeClr val="accent1"/>
                </a:solidFill>
              </a:rPr>
              <a:t>least</a:t>
            </a:r>
            <a:r>
              <a:rPr lang="en" sz="2200">
                <a:solidFill>
                  <a:schemeClr val="accent1"/>
                </a:solidFill>
              </a:rPr>
              <a:t> effective?</a:t>
            </a:r>
            <a:endParaRPr sz="2200">
              <a:solidFill>
                <a:schemeClr val="accent1"/>
              </a:solidFill>
            </a:endParaRPr>
          </a:p>
          <a:p>
            <a:pPr marL="0" lvl="0" indent="0" algn="l" rtl="0">
              <a:spcBef>
                <a:spcPts val="600"/>
              </a:spcBef>
              <a:spcAft>
                <a:spcPts val="0"/>
              </a:spcAft>
              <a:buNone/>
            </a:pPr>
            <a:endParaRPr sz="2200">
              <a:solidFill>
                <a:srgbClr val="000000"/>
              </a:solidFill>
            </a:endParaRPr>
          </a:p>
          <a:p>
            <a:pPr marL="0" lvl="0" indent="0" algn="l" rtl="0">
              <a:spcBef>
                <a:spcPts val="600"/>
              </a:spcBef>
              <a:spcAft>
                <a:spcPts val="0"/>
              </a:spcAft>
              <a:buNone/>
            </a:pPr>
            <a:r>
              <a:rPr lang="en" sz="2200">
                <a:solidFill>
                  <a:srgbClr val="000000"/>
                </a:solidFill>
              </a:rPr>
              <a:t>(a) Simple random sampling</a:t>
            </a:r>
            <a:endParaRPr sz="2200">
              <a:solidFill>
                <a:srgbClr val="000000"/>
              </a:solidFill>
            </a:endParaRPr>
          </a:p>
          <a:p>
            <a:pPr marL="0" lvl="0" indent="0" algn="l" rtl="0">
              <a:spcBef>
                <a:spcPts val="600"/>
              </a:spcBef>
              <a:spcAft>
                <a:spcPts val="0"/>
              </a:spcAft>
              <a:buNone/>
            </a:pPr>
            <a:r>
              <a:rPr lang="en" sz="2200">
                <a:solidFill>
                  <a:srgbClr val="000000"/>
                </a:solidFill>
              </a:rPr>
              <a:t>(b) Cluster sampling</a:t>
            </a:r>
            <a:endParaRPr sz="2200">
              <a:solidFill>
                <a:srgbClr val="000000"/>
              </a:solidFill>
            </a:endParaRPr>
          </a:p>
          <a:p>
            <a:pPr marL="0" lvl="0" indent="0" algn="l" rtl="0">
              <a:spcBef>
                <a:spcPts val="600"/>
              </a:spcBef>
              <a:spcAft>
                <a:spcPts val="0"/>
              </a:spcAft>
              <a:buNone/>
            </a:pPr>
            <a:r>
              <a:rPr lang="en" sz="2200">
                <a:solidFill>
                  <a:srgbClr val="000000"/>
                </a:solidFill>
              </a:rPr>
              <a:t>(c) Stratified sampling</a:t>
            </a:r>
            <a:endParaRPr sz="2200">
              <a:solidFill>
                <a:srgbClr val="000000"/>
              </a:solidFill>
            </a:endParaRPr>
          </a:p>
          <a:p>
            <a:pPr marL="0" lvl="0" indent="0" algn="l" rtl="0">
              <a:spcBef>
                <a:spcPts val="600"/>
              </a:spcBef>
              <a:spcAft>
                <a:spcPts val="0"/>
              </a:spcAft>
              <a:buNone/>
            </a:pPr>
            <a:r>
              <a:rPr lang="en" sz="2200">
                <a:solidFill>
                  <a:srgbClr val="000000"/>
                </a:solidFill>
              </a:rPr>
              <a:t>(d) Blocked sampling</a:t>
            </a:r>
            <a:endParaRPr sz="2200">
              <a:solidFill>
                <a:srgbClr val="000000"/>
              </a:solidFill>
            </a:endParaRPr>
          </a:p>
        </p:txBody>
      </p:sp>
      <p:sp>
        <p:nvSpPr>
          <p:cNvPr id="263" name="Google Shape;263;p4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3"/>
          <p:cNvSpPr txBox="1">
            <a:spLocks noGrp="1"/>
          </p:cNvSpPr>
          <p:nvPr>
            <p:ph type="body" idx="1"/>
          </p:nvPr>
        </p:nvSpPr>
        <p:spPr>
          <a:xfrm flipH="1">
            <a:off x="457200" y="1305775"/>
            <a:ext cx="8229600" cy="4918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200">
                <a:solidFill>
                  <a:schemeClr val="accent1"/>
                </a:solidFill>
              </a:rPr>
              <a:t>A city council has requested a household survey be conducted in a suburban area of their city. The area is broken into many distinct and unique neighborhoods, some including large homes, some with only apartments. Which approach would likely be the </a:t>
            </a:r>
            <a:r>
              <a:rPr lang="en" sz="2200" i="1">
                <a:solidFill>
                  <a:schemeClr val="accent1"/>
                </a:solidFill>
              </a:rPr>
              <a:t>least</a:t>
            </a:r>
            <a:r>
              <a:rPr lang="en" sz="2200">
                <a:solidFill>
                  <a:schemeClr val="accent1"/>
                </a:solidFill>
              </a:rPr>
              <a:t> effective?</a:t>
            </a:r>
            <a:endParaRPr sz="2200">
              <a:solidFill>
                <a:schemeClr val="accent1"/>
              </a:solidFill>
            </a:endParaRPr>
          </a:p>
          <a:p>
            <a:pPr marL="0" lvl="0" indent="0" algn="l" rtl="0">
              <a:spcBef>
                <a:spcPts val="600"/>
              </a:spcBef>
              <a:spcAft>
                <a:spcPts val="0"/>
              </a:spcAft>
              <a:buNone/>
            </a:pPr>
            <a:endParaRPr sz="2200">
              <a:solidFill>
                <a:srgbClr val="000000"/>
              </a:solidFill>
            </a:endParaRPr>
          </a:p>
          <a:p>
            <a:pPr marL="0" lvl="0" indent="0" algn="l" rtl="0">
              <a:spcBef>
                <a:spcPts val="600"/>
              </a:spcBef>
              <a:spcAft>
                <a:spcPts val="0"/>
              </a:spcAft>
              <a:buNone/>
            </a:pPr>
            <a:r>
              <a:rPr lang="en" sz="2200">
                <a:solidFill>
                  <a:srgbClr val="000000"/>
                </a:solidFill>
              </a:rPr>
              <a:t>(a) Simple random sampling</a:t>
            </a:r>
            <a:endParaRPr sz="2200">
              <a:solidFill>
                <a:srgbClr val="000000"/>
              </a:solidFill>
            </a:endParaRPr>
          </a:p>
          <a:p>
            <a:pPr marL="0" lvl="0" indent="0" algn="l" rtl="0">
              <a:spcBef>
                <a:spcPts val="600"/>
              </a:spcBef>
              <a:spcAft>
                <a:spcPts val="0"/>
              </a:spcAft>
              <a:buNone/>
            </a:pPr>
            <a:r>
              <a:rPr lang="en" sz="2200">
                <a:solidFill>
                  <a:srgbClr val="FF9900"/>
                </a:solidFill>
              </a:rPr>
              <a:t>(b) </a:t>
            </a:r>
            <a:r>
              <a:rPr lang="en" sz="2200" i="1">
                <a:solidFill>
                  <a:srgbClr val="FF9900"/>
                </a:solidFill>
              </a:rPr>
              <a:t>Cluster sampling</a:t>
            </a:r>
            <a:endParaRPr sz="2200" i="1">
              <a:solidFill>
                <a:srgbClr val="FF9900"/>
              </a:solidFill>
            </a:endParaRPr>
          </a:p>
          <a:p>
            <a:pPr marL="0" lvl="0" indent="0" algn="l" rtl="0">
              <a:spcBef>
                <a:spcPts val="600"/>
              </a:spcBef>
              <a:spcAft>
                <a:spcPts val="0"/>
              </a:spcAft>
              <a:buNone/>
            </a:pPr>
            <a:r>
              <a:rPr lang="en" sz="2200">
                <a:solidFill>
                  <a:srgbClr val="000000"/>
                </a:solidFill>
              </a:rPr>
              <a:t>(c) Stratified sampling</a:t>
            </a:r>
            <a:endParaRPr sz="2200">
              <a:solidFill>
                <a:srgbClr val="000000"/>
              </a:solidFill>
            </a:endParaRPr>
          </a:p>
          <a:p>
            <a:pPr marL="0" lvl="0" indent="0" algn="l" rtl="0">
              <a:spcBef>
                <a:spcPts val="600"/>
              </a:spcBef>
              <a:spcAft>
                <a:spcPts val="0"/>
              </a:spcAft>
              <a:buNone/>
            </a:pPr>
            <a:r>
              <a:rPr lang="en" sz="2200">
                <a:solidFill>
                  <a:srgbClr val="000000"/>
                </a:solidFill>
              </a:rPr>
              <a:t>(d) Blocked sampling</a:t>
            </a:r>
            <a:endParaRPr sz="2200">
              <a:solidFill>
                <a:srgbClr val="000000"/>
              </a:solidFill>
            </a:endParaRPr>
          </a:p>
        </p:txBody>
      </p:sp>
      <p:sp>
        <p:nvSpPr>
          <p:cNvPr id="269" name="Google Shape;269;p43"/>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Experiments</a:t>
            </a:r>
            <a:endParaRPr>
              <a:solidFill>
                <a:schemeClr val="accent1"/>
              </a:solidFill>
            </a:endParaRPr>
          </a:p>
          <a:p>
            <a:pPr marL="0" lvl="0" indent="0" algn="l" rtl="0">
              <a:spcBef>
                <a:spcPts val="0"/>
              </a:spcBef>
              <a:spcAft>
                <a:spcPts val="0"/>
              </a:spcAft>
              <a:buNone/>
            </a:pP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10"/>
          <p:cNvSpPr txBox="1">
            <a:spLocks noGrp="1"/>
          </p:cNvSpPr>
          <p:nvPr>
            <p:ph type="title" idx="4294967295"/>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Principles of experimental design</a:t>
            </a:r>
            <a:endParaRPr>
              <a:solidFill>
                <a:schemeClr val="accent1"/>
              </a:solidFill>
            </a:endParaRPr>
          </a:p>
        </p:txBody>
      </p:sp>
      <p:sp>
        <p:nvSpPr>
          <p:cNvPr id="39" name="Google Shape;39;p10"/>
          <p:cNvSpPr txBox="1"/>
          <p:nvPr/>
        </p:nvSpPr>
        <p:spPr>
          <a:xfrm>
            <a:off x="583100" y="1305450"/>
            <a:ext cx="8076300" cy="40383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SzPts val="2400"/>
              <a:buAutoNum type="arabicPeriod"/>
            </a:pPr>
            <a:r>
              <a:rPr lang="en" sz="2400" b="1" dirty="0">
                <a:solidFill>
                  <a:schemeClr val="accent1"/>
                </a:solidFill>
              </a:rPr>
              <a:t>Control</a:t>
            </a:r>
            <a:r>
              <a:rPr lang="en" sz="2400" dirty="0"/>
              <a:t>: Compare treatment of interest to a control group. </a:t>
            </a:r>
            <a:endParaRPr sz="2400" dirty="0"/>
          </a:p>
          <a:p>
            <a:pPr marL="457200" lvl="0" indent="-381000" algn="l" rtl="0">
              <a:spcBef>
                <a:spcPts val="0"/>
              </a:spcBef>
              <a:spcAft>
                <a:spcPts val="0"/>
              </a:spcAft>
              <a:buSzPts val="2400"/>
              <a:buAutoNum type="arabicPeriod"/>
            </a:pPr>
            <a:r>
              <a:rPr lang="en" sz="2400" b="1" dirty="0">
                <a:solidFill>
                  <a:schemeClr val="accent1"/>
                </a:solidFill>
              </a:rPr>
              <a:t>Randomize</a:t>
            </a:r>
            <a:r>
              <a:rPr lang="en" sz="2400" dirty="0"/>
              <a:t>: Randomly assign subjects to treatments, and randomly sample from the population whenever possible.</a:t>
            </a:r>
            <a:endParaRPr sz="2400" dirty="0"/>
          </a:p>
          <a:p>
            <a:pPr marL="457200" lvl="0" indent="-381000" algn="l" rtl="0">
              <a:spcBef>
                <a:spcPts val="0"/>
              </a:spcBef>
              <a:spcAft>
                <a:spcPts val="0"/>
              </a:spcAft>
              <a:buSzPts val="2400"/>
              <a:buAutoNum type="arabicPeriod"/>
            </a:pPr>
            <a:r>
              <a:rPr lang="en" sz="2400" b="1" dirty="0">
                <a:solidFill>
                  <a:schemeClr val="accent1"/>
                </a:solidFill>
              </a:rPr>
              <a:t>Replicate</a:t>
            </a:r>
            <a:r>
              <a:rPr lang="en" sz="2400" dirty="0"/>
              <a:t>: Within a study, replicate by collecting a sufficiently large sample. Or replicate the entire study.</a:t>
            </a:r>
            <a:endParaRPr sz="2400" dirty="0"/>
          </a:p>
          <a:p>
            <a:pPr marL="457200" lvl="0" indent="-381000" algn="l" rtl="0">
              <a:spcBef>
                <a:spcPts val="0"/>
              </a:spcBef>
              <a:spcAft>
                <a:spcPts val="0"/>
              </a:spcAft>
              <a:buSzPts val="2400"/>
              <a:buAutoNum type="arabicPeriod"/>
            </a:pPr>
            <a:r>
              <a:rPr lang="en" sz="2400" b="1" dirty="0">
                <a:solidFill>
                  <a:schemeClr val="accent1"/>
                </a:solidFill>
              </a:rPr>
              <a:t>Block</a:t>
            </a:r>
            <a:r>
              <a:rPr lang="en" sz="2400" dirty="0"/>
              <a:t>: If there are variables that are known or suspected to affect the response variable, first group subjects into blocks based on these variables, and then randomize cases within each block to treatment groups.</a:t>
            </a:r>
            <a:endParaRPr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body" idx="1"/>
          </p:nvPr>
        </p:nvSpPr>
        <p:spPr>
          <a:xfrm>
            <a:off x="2927700" y="2690327"/>
            <a:ext cx="5759100" cy="1215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dirty="0">
                <a:solidFill>
                  <a:srgbClr val="000000"/>
                </a:solidFill>
              </a:rPr>
              <a:t>It is suspected that energy gels might affect pro and amateur athletes differently, therefore we block for pro status:</a:t>
            </a:r>
            <a:endParaRPr sz="1900" dirty="0">
              <a:solidFill>
                <a:srgbClr val="000000"/>
              </a:solidFill>
            </a:endParaRPr>
          </a:p>
        </p:txBody>
      </p:sp>
      <p:sp>
        <p:nvSpPr>
          <p:cNvPr id="79" name="Google Shape;79;p15"/>
          <p:cNvSpPr txBox="1">
            <a:spLocks noGrp="1"/>
          </p:cNvSpPr>
          <p:nvPr>
            <p:ph type="body" idx="1"/>
          </p:nvPr>
        </p:nvSpPr>
        <p:spPr>
          <a:xfrm>
            <a:off x="2927700" y="1143004"/>
            <a:ext cx="5759100" cy="984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a:solidFill>
                  <a:srgbClr val="000000"/>
                </a:solidFill>
              </a:rPr>
              <a:t>We would like to design an experiment to investigate if energy gels makes you run faster:</a:t>
            </a:r>
            <a:endParaRPr sz="1900">
              <a:solidFill>
                <a:srgbClr val="000000"/>
              </a:solidFill>
            </a:endParaRPr>
          </a:p>
        </p:txBody>
      </p:sp>
      <p:sp>
        <p:nvSpPr>
          <p:cNvPr id="80" name="Google Shape;80;p1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More on Blocking</a:t>
            </a:r>
            <a:endParaRPr>
              <a:solidFill>
                <a:schemeClr val="accent1"/>
              </a:solidFill>
            </a:endParaRPr>
          </a:p>
        </p:txBody>
      </p:sp>
      <p:pic>
        <p:nvPicPr>
          <p:cNvPr id="81" name="Google Shape;81;p15"/>
          <p:cNvPicPr preferRelativeResize="0"/>
          <p:nvPr/>
        </p:nvPicPr>
        <p:blipFill>
          <a:blip r:embed="rId3">
            <a:alphaModFix/>
          </a:blip>
          <a:stretch>
            <a:fillRect/>
          </a:stretch>
        </p:blipFill>
        <p:spPr>
          <a:xfrm>
            <a:off x="457197" y="1355025"/>
            <a:ext cx="1905325" cy="3928600"/>
          </a:xfrm>
          <a:prstGeom prst="rect">
            <a:avLst/>
          </a:prstGeom>
          <a:noFill/>
          <a:ln>
            <a:noFill/>
          </a:ln>
        </p:spPr>
      </p:pic>
      <p:sp>
        <p:nvSpPr>
          <p:cNvPr id="82" name="Google Shape;82;p15"/>
          <p:cNvSpPr txBox="1">
            <a:spLocks noGrp="1"/>
          </p:cNvSpPr>
          <p:nvPr>
            <p:ph type="body" idx="1"/>
          </p:nvPr>
        </p:nvSpPr>
        <p:spPr>
          <a:xfrm>
            <a:off x="2927700" y="1858729"/>
            <a:ext cx="6406800" cy="984000"/>
          </a:xfrm>
          <a:prstGeom prst="rect">
            <a:avLst/>
          </a:prstGeom>
        </p:spPr>
        <p:txBody>
          <a:bodyPr spcFirstLastPara="1" wrap="square" lIns="91425" tIns="91425" rIns="91425" bIns="91425" anchor="t" anchorCtr="0">
            <a:noAutofit/>
          </a:bodyPr>
          <a:lstStyle/>
          <a:p>
            <a:pPr marL="914400" lvl="0" indent="-349250" algn="l" rtl="0">
              <a:lnSpc>
                <a:spcPct val="115000"/>
              </a:lnSpc>
              <a:spcBef>
                <a:spcPts val="600"/>
              </a:spcBef>
              <a:spcAft>
                <a:spcPts val="0"/>
              </a:spcAft>
              <a:buSzPts val="1900"/>
              <a:buChar char="○"/>
            </a:pPr>
            <a:r>
              <a:rPr lang="en" sz="1600" dirty="0">
                <a:solidFill>
                  <a:srgbClr val="000000"/>
                </a:solidFill>
              </a:rPr>
              <a:t>Treatment: energy gel</a:t>
            </a:r>
            <a:endParaRPr sz="1600" dirty="0">
              <a:solidFill>
                <a:srgbClr val="000000"/>
              </a:solidFill>
            </a:endParaRPr>
          </a:p>
          <a:p>
            <a:pPr marL="914400" lvl="0" indent="-349250" algn="l" rtl="0">
              <a:lnSpc>
                <a:spcPct val="115000"/>
              </a:lnSpc>
              <a:spcBef>
                <a:spcPts val="0"/>
              </a:spcBef>
              <a:spcAft>
                <a:spcPts val="0"/>
              </a:spcAft>
              <a:buSzPts val="1900"/>
              <a:buChar char="○"/>
            </a:pPr>
            <a:r>
              <a:rPr lang="en" sz="1600" dirty="0">
                <a:solidFill>
                  <a:srgbClr val="000000"/>
                </a:solidFill>
              </a:rPr>
              <a:t>Control: no energy gel (or a placebo to circumvent psychological effects, often a slight but real improvement)</a:t>
            </a:r>
            <a:endParaRPr sz="1600" dirty="0">
              <a:solidFill>
                <a:srgbClr val="000000"/>
              </a:solidFill>
            </a:endParaRPr>
          </a:p>
        </p:txBody>
      </p:sp>
      <p:sp>
        <p:nvSpPr>
          <p:cNvPr id="83" name="Google Shape;83;p15"/>
          <p:cNvSpPr txBox="1">
            <a:spLocks noGrp="1"/>
          </p:cNvSpPr>
          <p:nvPr>
            <p:ph type="body" idx="1"/>
          </p:nvPr>
        </p:nvSpPr>
        <p:spPr>
          <a:xfrm>
            <a:off x="2927700" y="3751740"/>
            <a:ext cx="5759100" cy="1215000"/>
          </a:xfrm>
          <a:prstGeom prst="rect">
            <a:avLst/>
          </a:prstGeom>
        </p:spPr>
        <p:txBody>
          <a:bodyPr spcFirstLastPara="1" wrap="square" lIns="91425" tIns="91425" rIns="91425" bIns="91425" anchor="t" anchorCtr="0">
            <a:noAutofit/>
          </a:bodyPr>
          <a:lstStyle/>
          <a:p>
            <a:pPr marL="914400" lvl="0" indent="-349250" algn="l" rtl="0">
              <a:lnSpc>
                <a:spcPct val="115000"/>
              </a:lnSpc>
              <a:spcBef>
                <a:spcPts val="600"/>
              </a:spcBef>
              <a:spcAft>
                <a:spcPts val="0"/>
              </a:spcAft>
              <a:buClr>
                <a:srgbClr val="000000"/>
              </a:buClr>
              <a:buSzPts val="1900"/>
              <a:buChar char="○"/>
            </a:pPr>
            <a:r>
              <a:rPr lang="en" sz="1900" dirty="0">
                <a:solidFill>
                  <a:srgbClr val="000000"/>
                </a:solidFill>
              </a:rPr>
              <a:t>Divide the sample to pro and amateur</a:t>
            </a:r>
            <a:endParaRPr sz="1900" dirty="0">
              <a:solidFill>
                <a:srgbClr val="000000"/>
              </a:solidFill>
            </a:endParaRPr>
          </a:p>
          <a:p>
            <a:pPr marL="914400" lvl="0" indent="-349250" algn="l" rtl="0">
              <a:lnSpc>
                <a:spcPct val="115000"/>
              </a:lnSpc>
              <a:spcBef>
                <a:spcPts val="0"/>
              </a:spcBef>
              <a:spcAft>
                <a:spcPts val="0"/>
              </a:spcAft>
              <a:buClr>
                <a:srgbClr val="000000"/>
              </a:buClr>
              <a:buSzPts val="1900"/>
              <a:buChar char="○"/>
            </a:pPr>
            <a:r>
              <a:rPr lang="en" sz="1900" dirty="0">
                <a:solidFill>
                  <a:srgbClr val="000000"/>
                </a:solidFill>
              </a:rPr>
              <a:t>Randomly assign pro athletes to treatment and control groups</a:t>
            </a:r>
            <a:endParaRPr sz="1900" dirty="0">
              <a:solidFill>
                <a:srgbClr val="000000"/>
              </a:solidFill>
            </a:endParaRPr>
          </a:p>
          <a:p>
            <a:pPr marL="914400" lvl="0" indent="-349250" algn="l" rtl="0">
              <a:lnSpc>
                <a:spcPct val="115000"/>
              </a:lnSpc>
              <a:spcBef>
                <a:spcPts val="0"/>
              </a:spcBef>
              <a:spcAft>
                <a:spcPts val="0"/>
              </a:spcAft>
              <a:buClr>
                <a:srgbClr val="000000"/>
              </a:buClr>
              <a:buSzPts val="1900"/>
              <a:buChar char="○"/>
            </a:pPr>
            <a:r>
              <a:rPr lang="en" sz="1900" dirty="0">
                <a:solidFill>
                  <a:srgbClr val="000000"/>
                </a:solidFill>
              </a:rPr>
              <a:t>Randomly assign amateur athletes to treatment and control groups</a:t>
            </a:r>
            <a:endParaRPr sz="1900" dirty="0">
              <a:solidFill>
                <a:srgbClr val="000000"/>
              </a:solidFill>
            </a:endParaRPr>
          </a:p>
          <a:p>
            <a:pPr marL="914400" lvl="0" indent="-349250" algn="l" rtl="0">
              <a:lnSpc>
                <a:spcPct val="115000"/>
              </a:lnSpc>
              <a:spcBef>
                <a:spcPts val="0"/>
              </a:spcBef>
              <a:spcAft>
                <a:spcPts val="0"/>
              </a:spcAft>
              <a:buClr>
                <a:srgbClr val="000000"/>
              </a:buClr>
              <a:buSzPts val="1900"/>
              <a:buChar char="○"/>
            </a:pPr>
            <a:r>
              <a:rPr lang="en" sz="1900" dirty="0">
                <a:solidFill>
                  <a:srgbClr val="000000"/>
                </a:solidFill>
              </a:rPr>
              <a:t>Pro/amateur status is equally represented in the resulting treatment and control groups</a:t>
            </a:r>
            <a:endParaRPr sz="1900" dirty="0">
              <a:solidFill>
                <a:srgbClr val="000000"/>
              </a:solidFill>
            </a:endParaRPr>
          </a:p>
          <a:p>
            <a:pPr marL="0" lvl="0" indent="0" algn="l" rtl="0">
              <a:lnSpc>
                <a:spcPct val="115000"/>
              </a:lnSpc>
              <a:spcBef>
                <a:spcPts val="600"/>
              </a:spcBef>
              <a:spcAft>
                <a:spcPts val="0"/>
              </a:spcAft>
              <a:buNone/>
            </a:pPr>
            <a:endParaRPr sz="1900" dirty="0">
              <a:solidFill>
                <a:srgbClr val="000000"/>
              </a:solidFill>
            </a:endParaRPr>
          </a:p>
        </p:txBody>
      </p:sp>
      <p:sp>
        <p:nvSpPr>
          <p:cNvPr id="84" name="Google Shape;84;p15"/>
          <p:cNvSpPr txBox="1"/>
          <p:nvPr/>
        </p:nvSpPr>
        <p:spPr>
          <a:xfrm>
            <a:off x="539400" y="6455525"/>
            <a:ext cx="81474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accent1"/>
                </a:solidFill>
              </a:rPr>
              <a:t>Why is this important? Can you think of other variables to block for?</a:t>
            </a:r>
            <a:endParaRPr sz="180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10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8"/>
                                        </p:tgtEl>
                                        <p:attrNameLst>
                                          <p:attrName>style.visibility</p:attrName>
                                        </p:attrNameLst>
                                      </p:cBhvr>
                                      <p:to>
                                        <p:strVal val="visible"/>
                                      </p:to>
                                    </p:set>
                                    <p:animEffect transition="in" filter="fade">
                                      <p:cBhvr>
                                        <p:cTn id="12" dur="1000"/>
                                        <p:tgtEl>
                                          <p:spTgt spid="7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fade">
                                      <p:cBhvr>
                                        <p:cTn id="17"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6"/>
          <p:cNvSpPr txBox="1">
            <a:spLocks noGrp="1"/>
          </p:cNvSpPr>
          <p:nvPr>
            <p:ph type="body" idx="1"/>
          </p:nvPr>
        </p:nvSpPr>
        <p:spPr>
          <a:xfrm>
            <a:off x="503550" y="990600"/>
            <a:ext cx="8136900" cy="5314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1900">
                <a:solidFill>
                  <a:schemeClr val="accent1"/>
                </a:solidFill>
              </a:rPr>
              <a:t>A study is designed to test the effect of light level and noise level on exam performance of students. The researcher also believes that light and noise levels might have different effects on males and females, so wants to make sure both genders are equally represented in each group. Which of the below is correct?</a:t>
            </a:r>
            <a:endParaRPr sz="1900">
              <a:solidFill>
                <a:schemeClr val="accent1"/>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49250" algn="l" rtl="0">
              <a:lnSpc>
                <a:spcPct val="115000"/>
              </a:lnSpc>
              <a:spcBef>
                <a:spcPts val="600"/>
              </a:spcBef>
              <a:spcAft>
                <a:spcPts val="0"/>
              </a:spcAft>
              <a:buClr>
                <a:srgbClr val="000000"/>
              </a:buClr>
              <a:buSzPts val="1900"/>
              <a:buAutoNum type="alphaUcPeriod"/>
            </a:pPr>
            <a:r>
              <a:rPr lang="en" sz="1900">
                <a:solidFill>
                  <a:srgbClr val="000000"/>
                </a:solidFill>
              </a:rPr>
              <a:t>There are 3 explanatory variables (light, noise, gender) and 1 response variable (exam performance)</a:t>
            </a:r>
            <a:endParaRPr sz="19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2"/>
            </a:pPr>
            <a:r>
              <a:rPr lang="en" sz="1900">
                <a:solidFill>
                  <a:srgbClr val="000000"/>
                </a:solidFill>
              </a:rPr>
              <a:t>There are 2 explanatory variables (light and noise), 1 blocking variable (gender), and 1 response variable (exam performance)</a:t>
            </a:r>
            <a:endParaRPr sz="1900">
              <a:solidFill>
                <a:srgbClr val="000000"/>
              </a:solidFill>
            </a:endParaRPr>
          </a:p>
          <a:p>
            <a:pPr marL="0" lvl="0" indent="0" algn="l" rtl="0">
              <a:lnSpc>
                <a:spcPct val="115000"/>
              </a:lnSpc>
              <a:spcBef>
                <a:spcPts val="600"/>
              </a:spcBef>
              <a:spcAft>
                <a:spcPts val="0"/>
              </a:spcAft>
              <a:buNone/>
            </a:pPr>
            <a:endParaRPr sz="60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3"/>
            </a:pPr>
            <a:r>
              <a:rPr lang="en" sz="1900">
                <a:solidFill>
                  <a:srgbClr val="000000"/>
                </a:solidFill>
              </a:rPr>
              <a:t>There is 1 explanatory variable (gender) and 3 response variables (light, noise, exam performance)</a:t>
            </a:r>
            <a:endParaRPr sz="1900">
              <a:solidFill>
                <a:srgbClr val="000000"/>
              </a:solidFill>
            </a:endParaRPr>
          </a:p>
          <a:p>
            <a:pPr marL="0" lvl="0" indent="0" algn="l" rtl="0">
              <a:lnSpc>
                <a:spcPct val="115000"/>
              </a:lnSpc>
              <a:spcBef>
                <a:spcPts val="600"/>
              </a:spcBef>
              <a:spcAft>
                <a:spcPts val="0"/>
              </a:spcAft>
              <a:buNone/>
            </a:pPr>
            <a:endParaRPr sz="60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4"/>
            </a:pPr>
            <a:r>
              <a:rPr lang="en" sz="1900">
                <a:solidFill>
                  <a:srgbClr val="000000"/>
                </a:solidFill>
              </a:rPr>
              <a:t>There are 2 blocking variables (light and noise), 1 explanatory variable (gender), and 1 response variable (exam performance)</a:t>
            </a: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p:txBody>
      </p:sp>
      <p:sp>
        <p:nvSpPr>
          <p:cNvPr id="90" name="Google Shape;90;p16"/>
          <p:cNvSpPr txBox="1">
            <a:spLocks noGrp="1"/>
          </p:cNvSpPr>
          <p:nvPr>
            <p:ph type="title"/>
          </p:nvPr>
        </p:nvSpPr>
        <p:spPr>
          <a:xfrm>
            <a:off x="503550" y="0"/>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body" idx="1"/>
          </p:nvPr>
        </p:nvSpPr>
        <p:spPr>
          <a:xfrm>
            <a:off x="503550" y="990600"/>
            <a:ext cx="8136900" cy="5314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1900">
                <a:solidFill>
                  <a:schemeClr val="accent1"/>
                </a:solidFill>
              </a:rPr>
              <a:t>A study is designed to test the effect of light level and noise level on exam performance of students. The researcher also believes that light and noise levels might have different effects on males and females, so wants to make sure both genders are equally represented in each group. Which of the below is correct?</a:t>
            </a:r>
            <a:endParaRPr sz="1900">
              <a:solidFill>
                <a:schemeClr val="accent1"/>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49250" algn="l" rtl="0">
              <a:lnSpc>
                <a:spcPct val="115000"/>
              </a:lnSpc>
              <a:spcBef>
                <a:spcPts val="600"/>
              </a:spcBef>
              <a:spcAft>
                <a:spcPts val="0"/>
              </a:spcAft>
              <a:buClr>
                <a:srgbClr val="000000"/>
              </a:buClr>
              <a:buSzPts val="1900"/>
              <a:buAutoNum type="alphaUcPeriod"/>
            </a:pPr>
            <a:r>
              <a:rPr lang="en" sz="1900">
                <a:solidFill>
                  <a:srgbClr val="000000"/>
                </a:solidFill>
              </a:rPr>
              <a:t>There are 3 explanatory variables (light, noise, gender) and 1 response variable (exam performance)</a:t>
            </a:r>
            <a:endParaRPr sz="19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49250" algn="l" rtl="0">
              <a:lnSpc>
                <a:spcPct val="115000"/>
              </a:lnSpc>
              <a:spcBef>
                <a:spcPts val="600"/>
              </a:spcBef>
              <a:spcAft>
                <a:spcPts val="0"/>
              </a:spcAft>
              <a:buClr>
                <a:srgbClr val="FF9900"/>
              </a:buClr>
              <a:buSzPts val="1900"/>
              <a:buAutoNum type="alphaUcPeriod" startAt="2"/>
            </a:pPr>
            <a:r>
              <a:rPr lang="en" sz="1900" i="1">
                <a:solidFill>
                  <a:srgbClr val="FF9900"/>
                </a:solidFill>
              </a:rPr>
              <a:t>There are 2 explanatory variables (light and noise), 1 blocking variable (gender), and 1 response variable (exam performance)</a:t>
            </a:r>
            <a:endParaRPr sz="1900" i="1">
              <a:solidFill>
                <a:srgbClr val="FF9900"/>
              </a:solidFill>
            </a:endParaRPr>
          </a:p>
          <a:p>
            <a:pPr marL="0" lvl="0" indent="0" algn="l" rtl="0">
              <a:lnSpc>
                <a:spcPct val="115000"/>
              </a:lnSpc>
              <a:spcBef>
                <a:spcPts val="600"/>
              </a:spcBef>
              <a:spcAft>
                <a:spcPts val="0"/>
              </a:spcAft>
              <a:buNone/>
            </a:pPr>
            <a:endParaRPr sz="60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3"/>
            </a:pPr>
            <a:r>
              <a:rPr lang="en" sz="1900">
                <a:solidFill>
                  <a:srgbClr val="000000"/>
                </a:solidFill>
              </a:rPr>
              <a:t>There is 1 explanatory variable (gender) and 3 response variables (light, noise, exam performance)</a:t>
            </a:r>
            <a:endParaRPr sz="1900">
              <a:solidFill>
                <a:srgbClr val="000000"/>
              </a:solidFill>
            </a:endParaRPr>
          </a:p>
          <a:p>
            <a:pPr marL="0" lvl="0" indent="0" algn="l" rtl="0">
              <a:lnSpc>
                <a:spcPct val="115000"/>
              </a:lnSpc>
              <a:spcBef>
                <a:spcPts val="600"/>
              </a:spcBef>
              <a:spcAft>
                <a:spcPts val="0"/>
              </a:spcAft>
              <a:buNone/>
            </a:pPr>
            <a:endParaRPr sz="600">
              <a:solidFill>
                <a:srgbClr val="000000"/>
              </a:solidFill>
            </a:endParaRPr>
          </a:p>
          <a:p>
            <a:pPr marL="457200" lvl="0" indent="-349250" algn="l" rtl="0">
              <a:lnSpc>
                <a:spcPct val="115000"/>
              </a:lnSpc>
              <a:spcBef>
                <a:spcPts val="600"/>
              </a:spcBef>
              <a:spcAft>
                <a:spcPts val="0"/>
              </a:spcAft>
              <a:buClr>
                <a:srgbClr val="000000"/>
              </a:buClr>
              <a:buSzPts val="1900"/>
              <a:buAutoNum type="alphaUcPeriod" startAt="4"/>
            </a:pPr>
            <a:r>
              <a:rPr lang="en" sz="1900">
                <a:solidFill>
                  <a:srgbClr val="000000"/>
                </a:solidFill>
              </a:rPr>
              <a:t>There are 2 blocking variables (light and noise), 1 explanatory variable (gender), and 1 response variable (exam performance)</a:t>
            </a: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p:txBody>
      </p:sp>
      <p:sp>
        <p:nvSpPr>
          <p:cNvPr id="96" name="Google Shape;96;p17"/>
          <p:cNvSpPr txBox="1">
            <a:spLocks noGrp="1"/>
          </p:cNvSpPr>
          <p:nvPr>
            <p:ph type="title"/>
          </p:nvPr>
        </p:nvSpPr>
        <p:spPr>
          <a:xfrm>
            <a:off x="503550" y="0"/>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8"/>
          <p:cNvSpPr txBox="1">
            <a:spLocks noGrp="1"/>
          </p:cNvSpPr>
          <p:nvPr>
            <p:ph type="title"/>
          </p:nvPr>
        </p:nvSpPr>
        <p:spPr>
          <a:xfrm>
            <a:off x="503550" y="308225"/>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Difference Between Blocking and Explanatory Variables</a:t>
            </a:r>
            <a:endParaRPr>
              <a:solidFill>
                <a:schemeClr val="accent1"/>
              </a:solidFill>
            </a:endParaRPr>
          </a:p>
        </p:txBody>
      </p:sp>
      <p:sp>
        <p:nvSpPr>
          <p:cNvPr id="102" name="Google Shape;102;p18"/>
          <p:cNvSpPr txBox="1">
            <a:spLocks noGrp="1"/>
          </p:cNvSpPr>
          <p:nvPr>
            <p:ph type="body" idx="1"/>
          </p:nvPr>
        </p:nvSpPr>
        <p:spPr>
          <a:xfrm>
            <a:off x="503550" y="1643875"/>
            <a:ext cx="8136900" cy="46206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Clr>
                <a:srgbClr val="000000"/>
              </a:buClr>
              <a:buSzPts val="2200"/>
              <a:buChar char="●"/>
            </a:pPr>
            <a:r>
              <a:rPr lang="en" sz="2200">
                <a:solidFill>
                  <a:srgbClr val="000000"/>
                </a:solidFill>
              </a:rPr>
              <a:t>Factors are conditions we can impose on the experimental units.</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200">
              <a:solidFill>
                <a:srgbClr val="000000"/>
              </a:solidFill>
            </a:endParaRPr>
          </a:p>
          <a:p>
            <a:pPr marL="457200" lvl="0" indent="-368300" algn="l" rtl="0">
              <a:lnSpc>
                <a:spcPct val="115000"/>
              </a:lnSpc>
              <a:spcBef>
                <a:spcPts val="600"/>
              </a:spcBef>
              <a:spcAft>
                <a:spcPts val="0"/>
              </a:spcAft>
              <a:buClr>
                <a:srgbClr val="000000"/>
              </a:buClr>
              <a:buSzPts val="2200"/>
              <a:buChar char="●"/>
            </a:pPr>
            <a:r>
              <a:rPr lang="en" sz="2200">
                <a:solidFill>
                  <a:srgbClr val="000000"/>
                </a:solidFill>
              </a:rPr>
              <a:t>Blocking variables are characteristics that the experimental units come with, that we would like to control for.</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200">
              <a:solidFill>
                <a:srgbClr val="000000"/>
              </a:solidFill>
            </a:endParaRPr>
          </a:p>
          <a:p>
            <a:pPr marL="457200" lvl="0" indent="-368300" algn="l" rtl="0">
              <a:lnSpc>
                <a:spcPct val="115000"/>
              </a:lnSpc>
              <a:spcBef>
                <a:spcPts val="600"/>
              </a:spcBef>
              <a:spcAft>
                <a:spcPts val="0"/>
              </a:spcAft>
              <a:buClr>
                <a:srgbClr val="000000"/>
              </a:buClr>
              <a:buSzPts val="2200"/>
              <a:buChar char="●"/>
            </a:pPr>
            <a:r>
              <a:rPr lang="en" sz="2200">
                <a:solidFill>
                  <a:srgbClr val="000000"/>
                </a:solidFill>
              </a:rPr>
              <a:t>Blocking is like stratifying, except used in experimental settings when randomly assigning, as opposed to when sampling.</a:t>
            </a:r>
            <a:endParaRPr sz="2200">
              <a:solidFill>
                <a:srgbClr val="0000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503550" y="308225"/>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More Experimental Design Terminology...</a:t>
            </a:r>
            <a:endParaRPr>
              <a:solidFill>
                <a:schemeClr val="accent1"/>
              </a:solidFill>
            </a:endParaRPr>
          </a:p>
        </p:txBody>
      </p:sp>
      <p:sp>
        <p:nvSpPr>
          <p:cNvPr id="108" name="Google Shape;108;p19"/>
          <p:cNvSpPr txBox="1">
            <a:spLocks noGrp="1"/>
          </p:cNvSpPr>
          <p:nvPr>
            <p:ph type="body" idx="1"/>
          </p:nvPr>
        </p:nvSpPr>
        <p:spPr>
          <a:xfrm>
            <a:off x="503550" y="1415275"/>
            <a:ext cx="8136900" cy="4620600"/>
          </a:xfrm>
          <a:prstGeom prst="rect">
            <a:avLst/>
          </a:prstGeom>
        </p:spPr>
        <p:txBody>
          <a:bodyPr spcFirstLastPara="1" wrap="square" lIns="91425" tIns="91425" rIns="91425" bIns="91425" anchor="t" anchorCtr="0">
            <a:noAutofit/>
          </a:bodyPr>
          <a:lstStyle/>
          <a:p>
            <a:pPr marL="457200" lvl="0" indent="-368300" algn="l" rtl="0">
              <a:lnSpc>
                <a:spcPct val="115000"/>
              </a:lnSpc>
              <a:spcBef>
                <a:spcPts val="600"/>
              </a:spcBef>
              <a:spcAft>
                <a:spcPts val="0"/>
              </a:spcAft>
              <a:buSzPts val="2200"/>
              <a:buChar char="●"/>
            </a:pPr>
            <a:r>
              <a:rPr lang="en" sz="2200">
                <a:solidFill>
                  <a:schemeClr val="accent1"/>
                </a:solidFill>
              </a:rPr>
              <a:t>Placebo:</a:t>
            </a:r>
            <a:r>
              <a:rPr lang="en" sz="2200">
                <a:solidFill>
                  <a:srgbClr val="000000"/>
                </a:solidFill>
              </a:rPr>
              <a:t> fake treatment, often used as the control group for medical studies</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1200">
              <a:solidFill>
                <a:srgbClr val="000000"/>
              </a:solidFill>
            </a:endParaRPr>
          </a:p>
          <a:p>
            <a:pPr marL="457200" lvl="0" indent="-368300" algn="l" rtl="0">
              <a:lnSpc>
                <a:spcPct val="115000"/>
              </a:lnSpc>
              <a:spcBef>
                <a:spcPts val="600"/>
              </a:spcBef>
              <a:spcAft>
                <a:spcPts val="0"/>
              </a:spcAft>
              <a:buSzPts val="2200"/>
              <a:buChar char="●"/>
            </a:pPr>
            <a:r>
              <a:rPr lang="en" sz="2200">
                <a:solidFill>
                  <a:schemeClr val="accent1"/>
                </a:solidFill>
              </a:rPr>
              <a:t>Placebo effect:</a:t>
            </a:r>
            <a:r>
              <a:rPr lang="en" sz="2200">
                <a:solidFill>
                  <a:srgbClr val="000000"/>
                </a:solidFill>
              </a:rPr>
              <a:t> experimental units showing improvement simply because they believe they are receiving a special treatment</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1200">
              <a:solidFill>
                <a:srgbClr val="000000"/>
              </a:solidFill>
            </a:endParaRPr>
          </a:p>
          <a:p>
            <a:pPr marL="457200" lvl="0" indent="-368300" algn="l" rtl="0">
              <a:lnSpc>
                <a:spcPct val="115000"/>
              </a:lnSpc>
              <a:spcBef>
                <a:spcPts val="600"/>
              </a:spcBef>
              <a:spcAft>
                <a:spcPts val="0"/>
              </a:spcAft>
              <a:buSzPts val="2200"/>
              <a:buChar char="●"/>
            </a:pPr>
            <a:r>
              <a:rPr lang="en" sz="2200">
                <a:solidFill>
                  <a:schemeClr val="accent1"/>
                </a:solidFill>
              </a:rPr>
              <a:t>Blinding:</a:t>
            </a:r>
            <a:r>
              <a:rPr lang="en" sz="2200">
                <a:solidFill>
                  <a:srgbClr val="000000"/>
                </a:solidFill>
              </a:rPr>
              <a:t> when experimental units do not know whether they are in the control or treatment group</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1200">
              <a:solidFill>
                <a:srgbClr val="000000"/>
              </a:solidFill>
            </a:endParaRPr>
          </a:p>
          <a:p>
            <a:pPr marL="457200" lvl="0" indent="-368300" algn="l" rtl="0">
              <a:lnSpc>
                <a:spcPct val="115000"/>
              </a:lnSpc>
              <a:spcBef>
                <a:spcPts val="600"/>
              </a:spcBef>
              <a:spcAft>
                <a:spcPts val="0"/>
              </a:spcAft>
              <a:buSzPts val="2200"/>
              <a:buChar char="●"/>
            </a:pPr>
            <a:r>
              <a:rPr lang="en" sz="2200">
                <a:solidFill>
                  <a:schemeClr val="accent1"/>
                </a:solidFill>
              </a:rPr>
              <a:t>Double-blind:</a:t>
            </a:r>
            <a:r>
              <a:rPr lang="en" sz="2200">
                <a:solidFill>
                  <a:srgbClr val="000000"/>
                </a:solidFill>
              </a:rPr>
              <a:t> when both the experimental units and the researchers who interact with the patients do not know who is in the control and who is in the treatment group</a:t>
            </a:r>
            <a:endParaRPr sz="2200">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480450" y="0"/>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114" name="Google Shape;114;p20"/>
          <p:cNvSpPr txBox="1">
            <a:spLocks noGrp="1"/>
          </p:cNvSpPr>
          <p:nvPr>
            <p:ph type="body" idx="1"/>
          </p:nvPr>
        </p:nvSpPr>
        <p:spPr>
          <a:xfrm>
            <a:off x="480450" y="1335650"/>
            <a:ext cx="8136900" cy="4620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200">
                <a:solidFill>
                  <a:schemeClr val="accent1"/>
                </a:solidFill>
              </a:rPr>
              <a:t>What is the main difference between observational studies and experiments?</a:t>
            </a:r>
            <a:endParaRPr sz="2200">
              <a:solidFill>
                <a:schemeClr val="accent1"/>
              </a:solidFill>
            </a:endParaRPr>
          </a:p>
          <a:p>
            <a:pPr marL="0" lvl="0" indent="0" algn="l" rtl="0">
              <a:lnSpc>
                <a:spcPct val="115000"/>
              </a:lnSpc>
              <a:spcBef>
                <a:spcPts val="600"/>
              </a:spcBef>
              <a:spcAft>
                <a:spcPts val="0"/>
              </a:spcAft>
              <a:buNone/>
            </a:pPr>
            <a:endParaRPr sz="600">
              <a:solidFill>
                <a:srgbClr val="000000"/>
              </a:solidFill>
            </a:endParaRPr>
          </a:p>
          <a:p>
            <a:pPr marL="457200" lvl="0" indent="-368300" algn="l" rtl="0">
              <a:lnSpc>
                <a:spcPct val="115000"/>
              </a:lnSpc>
              <a:spcBef>
                <a:spcPts val="600"/>
              </a:spcBef>
              <a:spcAft>
                <a:spcPts val="0"/>
              </a:spcAft>
              <a:buClr>
                <a:srgbClr val="000000"/>
              </a:buClr>
              <a:buSzPts val="2200"/>
              <a:buAutoNum type="alphaUcPeriod"/>
            </a:pPr>
            <a:r>
              <a:rPr lang="en" sz="2200">
                <a:solidFill>
                  <a:srgbClr val="000000"/>
                </a:solidFill>
              </a:rPr>
              <a:t>Experiments take place in a lab while observational studies do not need to.</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2"/>
            </a:pPr>
            <a:r>
              <a:rPr lang="en" sz="2200">
                <a:solidFill>
                  <a:srgbClr val="000000"/>
                </a:solidFill>
              </a:rPr>
              <a:t>In an observational study we only look at what happened in the past.</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3"/>
            </a:pPr>
            <a:r>
              <a:rPr lang="en" sz="2200">
                <a:solidFill>
                  <a:srgbClr val="000000"/>
                </a:solidFill>
              </a:rPr>
              <a:t>Most experiments use random assignment while observational studies do not.</a:t>
            </a:r>
            <a:endParaRPr sz="2200">
              <a:solidFill>
                <a:srgbClr val="000000"/>
              </a:solidFill>
            </a:endParaRPr>
          </a:p>
          <a:p>
            <a:pPr marL="0" lvl="0" indent="0" algn="l" rtl="0">
              <a:lnSpc>
                <a:spcPct val="115000"/>
              </a:lnSpc>
              <a:spcBef>
                <a:spcPts val="600"/>
              </a:spcBef>
              <a:spcAft>
                <a:spcPts val="0"/>
              </a:spcAft>
              <a:buNone/>
            </a:pPr>
            <a:endParaRPr sz="60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4"/>
            </a:pPr>
            <a:r>
              <a:rPr lang="en" sz="2200">
                <a:solidFill>
                  <a:srgbClr val="000000"/>
                </a:solidFill>
              </a:rPr>
              <a:t>Observational studies are completely useless since no causal inference can be made based on their findings.</a:t>
            </a:r>
            <a:endParaRPr sz="2200">
              <a:solidFill>
                <a:srgbClr val="0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480450" y="0"/>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120" name="Google Shape;120;p21"/>
          <p:cNvSpPr txBox="1">
            <a:spLocks noGrp="1"/>
          </p:cNvSpPr>
          <p:nvPr>
            <p:ph type="body" idx="1"/>
          </p:nvPr>
        </p:nvSpPr>
        <p:spPr>
          <a:xfrm>
            <a:off x="480450" y="1335650"/>
            <a:ext cx="8136900" cy="4620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200">
                <a:solidFill>
                  <a:schemeClr val="accent1"/>
                </a:solidFill>
              </a:rPr>
              <a:t>What is the main difference between observational studies and experiments?</a:t>
            </a:r>
            <a:endParaRPr sz="2200">
              <a:solidFill>
                <a:schemeClr val="accent1"/>
              </a:solidFill>
            </a:endParaRPr>
          </a:p>
          <a:p>
            <a:pPr marL="0" lvl="0" indent="0" algn="l" rtl="0">
              <a:lnSpc>
                <a:spcPct val="115000"/>
              </a:lnSpc>
              <a:spcBef>
                <a:spcPts val="600"/>
              </a:spcBef>
              <a:spcAft>
                <a:spcPts val="0"/>
              </a:spcAft>
              <a:buNone/>
            </a:pPr>
            <a:endParaRPr sz="600">
              <a:solidFill>
                <a:srgbClr val="000000"/>
              </a:solidFill>
            </a:endParaRPr>
          </a:p>
          <a:p>
            <a:pPr marL="457200" lvl="0" indent="-368300" algn="l" rtl="0">
              <a:lnSpc>
                <a:spcPct val="115000"/>
              </a:lnSpc>
              <a:spcBef>
                <a:spcPts val="600"/>
              </a:spcBef>
              <a:spcAft>
                <a:spcPts val="0"/>
              </a:spcAft>
              <a:buClr>
                <a:srgbClr val="000000"/>
              </a:buClr>
              <a:buSzPts val="2200"/>
              <a:buAutoNum type="alphaUcPeriod"/>
            </a:pPr>
            <a:r>
              <a:rPr lang="en" sz="2200">
                <a:solidFill>
                  <a:srgbClr val="000000"/>
                </a:solidFill>
              </a:rPr>
              <a:t>Experiments take place in a lab while observational studies do not need to.</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2"/>
            </a:pPr>
            <a:r>
              <a:rPr lang="en" sz="2200">
                <a:solidFill>
                  <a:srgbClr val="000000"/>
                </a:solidFill>
              </a:rPr>
              <a:t>In an observational study we only look at what happened in the past.</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600">
              <a:solidFill>
                <a:srgbClr val="000000"/>
              </a:solidFill>
            </a:endParaRPr>
          </a:p>
          <a:p>
            <a:pPr marL="457200" lvl="0" indent="-368300" algn="l" rtl="0">
              <a:lnSpc>
                <a:spcPct val="115000"/>
              </a:lnSpc>
              <a:spcBef>
                <a:spcPts val="600"/>
              </a:spcBef>
              <a:spcAft>
                <a:spcPts val="0"/>
              </a:spcAft>
              <a:buClr>
                <a:srgbClr val="FF9900"/>
              </a:buClr>
              <a:buSzPts val="2200"/>
              <a:buAutoNum type="alphaUcPeriod" startAt="3"/>
            </a:pPr>
            <a:r>
              <a:rPr lang="en" sz="2200" i="1">
                <a:solidFill>
                  <a:srgbClr val="FF9900"/>
                </a:solidFill>
              </a:rPr>
              <a:t>Most experiments use random assignment while observational studies do not.</a:t>
            </a:r>
            <a:endParaRPr sz="2200" i="1">
              <a:solidFill>
                <a:srgbClr val="FF9900"/>
              </a:solidFill>
            </a:endParaRPr>
          </a:p>
          <a:p>
            <a:pPr marL="0" lvl="0" indent="0" algn="l" rtl="0">
              <a:lnSpc>
                <a:spcPct val="115000"/>
              </a:lnSpc>
              <a:spcBef>
                <a:spcPts val="600"/>
              </a:spcBef>
              <a:spcAft>
                <a:spcPts val="0"/>
              </a:spcAft>
              <a:buNone/>
            </a:pPr>
            <a:endParaRPr sz="600">
              <a:solidFill>
                <a:srgbClr val="000000"/>
              </a:solidFill>
            </a:endParaRPr>
          </a:p>
          <a:p>
            <a:pPr marL="457200" lvl="0" indent="-368300" algn="l" rtl="0">
              <a:lnSpc>
                <a:spcPct val="115000"/>
              </a:lnSpc>
              <a:spcBef>
                <a:spcPts val="600"/>
              </a:spcBef>
              <a:spcAft>
                <a:spcPts val="0"/>
              </a:spcAft>
              <a:buClr>
                <a:srgbClr val="000000"/>
              </a:buClr>
              <a:buSzPts val="2200"/>
              <a:buAutoNum type="alphaUcPeriod" startAt="4"/>
            </a:pPr>
            <a:r>
              <a:rPr lang="en" sz="2200">
                <a:solidFill>
                  <a:srgbClr val="000000"/>
                </a:solidFill>
              </a:rPr>
              <a:t>Observational studies are completely useless since no causal inference can be made based on their findings.</a:t>
            </a:r>
            <a:endParaRPr sz="2200">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503550" y="308225"/>
            <a:ext cx="81831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Random Assignment</a:t>
            </a:r>
            <a:endParaRPr>
              <a:solidFill>
                <a:schemeClr val="accent1"/>
              </a:solidFill>
            </a:endParaRPr>
          </a:p>
          <a:p>
            <a:pPr marL="0" lvl="0" indent="0" algn="l" rtl="0">
              <a:spcBef>
                <a:spcPts val="0"/>
              </a:spcBef>
              <a:spcAft>
                <a:spcPts val="0"/>
              </a:spcAft>
              <a:buNone/>
            </a:pPr>
            <a:r>
              <a:rPr lang="en">
                <a:solidFill>
                  <a:schemeClr val="accent1"/>
                </a:solidFill>
              </a:rPr>
              <a:t>vs. Random Sampling</a:t>
            </a:r>
            <a:endParaRPr>
              <a:solidFill>
                <a:schemeClr val="accent1"/>
              </a:solidFill>
            </a:endParaRPr>
          </a:p>
        </p:txBody>
      </p:sp>
      <p:pic>
        <p:nvPicPr>
          <p:cNvPr id="126" name="Google Shape;126;p22"/>
          <p:cNvPicPr preferRelativeResize="0"/>
          <p:nvPr/>
        </p:nvPicPr>
        <p:blipFill>
          <a:blip r:embed="rId3">
            <a:alphaModFix/>
          </a:blip>
          <a:stretch>
            <a:fillRect/>
          </a:stretch>
        </p:blipFill>
        <p:spPr>
          <a:xfrm>
            <a:off x="503550" y="1728074"/>
            <a:ext cx="7842801" cy="39644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607</TotalTime>
  <Words>3681</Words>
  <Application>Microsoft Office PowerPoint</Application>
  <PresentationFormat>全屏显示(4:3)</PresentationFormat>
  <Paragraphs>304</Paragraphs>
  <Slides>52</Slides>
  <Notes>52</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52</vt:i4>
      </vt:variant>
    </vt:vector>
  </HeadingPairs>
  <TitlesOfParts>
    <vt:vector size="54" baseType="lpstr">
      <vt:lpstr>Arial</vt:lpstr>
      <vt:lpstr>Simple Light</vt:lpstr>
      <vt:lpstr>   Statistics B Chapter 1: Introduction to Data  Shizhe Peng School of Economics and Management Changsha University of Science and Technology</vt:lpstr>
      <vt:lpstr>What is Statistics?</vt:lpstr>
      <vt:lpstr>   Case Study: Treating Chronic Fatigue Syndrome</vt:lpstr>
      <vt:lpstr>Treating Chronic Fatigue Syndrome</vt:lpstr>
      <vt:lpstr>Study Design</vt:lpstr>
      <vt:lpstr>Results</vt:lpstr>
      <vt:lpstr>Understanding the results</vt:lpstr>
      <vt:lpstr>Generalizing the results</vt:lpstr>
      <vt:lpstr>   Data Basics </vt:lpstr>
      <vt:lpstr>Classroom survey</vt:lpstr>
      <vt:lpstr>Data matrix</vt:lpstr>
      <vt:lpstr>Types of variables</vt:lpstr>
      <vt:lpstr>Types of variables (cont.)</vt:lpstr>
      <vt:lpstr>Practice</vt:lpstr>
      <vt:lpstr>Practice</vt:lpstr>
      <vt:lpstr>Scatter Plots and Relationships among variables</vt:lpstr>
      <vt:lpstr>Practice</vt:lpstr>
      <vt:lpstr>Practice</vt:lpstr>
      <vt:lpstr>Associated vs. independent</vt:lpstr>
      <vt:lpstr>Observational studies and sampling strategies </vt:lpstr>
      <vt:lpstr>Populations and Samples</vt:lpstr>
      <vt:lpstr>Anecdotal evidence and early smoking research</vt:lpstr>
      <vt:lpstr>Census</vt:lpstr>
      <vt:lpstr>PowerPoint 演示文稿</vt:lpstr>
      <vt:lpstr>Exploratory analysis to inference</vt:lpstr>
      <vt:lpstr>Sampling bias</vt:lpstr>
      <vt:lpstr>Sampling bias example: Landon vs. FDR</vt:lpstr>
      <vt:lpstr>The Literary Digest Poll</vt:lpstr>
      <vt:lpstr>The Literary Digest Poll - what went wrong?</vt:lpstr>
      <vt:lpstr>Large samples are preferable, but...</vt:lpstr>
      <vt:lpstr>Practice</vt:lpstr>
      <vt:lpstr>Practice</vt:lpstr>
      <vt:lpstr>Observational studies</vt:lpstr>
      <vt:lpstr>Obtaining good samples</vt:lpstr>
      <vt:lpstr>Prospective vs. Retrospective Studies</vt:lpstr>
      <vt:lpstr>Obtaining Good Samples</vt:lpstr>
      <vt:lpstr>Simple Random Sample</vt:lpstr>
      <vt:lpstr>Stratified Sample</vt:lpstr>
      <vt:lpstr>Cluster Sample</vt:lpstr>
      <vt:lpstr>Multistage Sample</vt:lpstr>
      <vt:lpstr>Practice</vt:lpstr>
      <vt:lpstr>Practice</vt:lpstr>
      <vt:lpstr>Experiments  </vt:lpstr>
      <vt:lpstr>Principles of experimental design</vt:lpstr>
      <vt:lpstr>More on Blocking</vt:lpstr>
      <vt:lpstr>Practice</vt:lpstr>
      <vt:lpstr>Practice</vt:lpstr>
      <vt:lpstr>Difference Between Blocking and Explanatory Variables</vt:lpstr>
      <vt:lpstr>More Experimental Design Terminology...</vt:lpstr>
      <vt:lpstr>Practice</vt:lpstr>
      <vt:lpstr>Practice</vt:lpstr>
      <vt:lpstr>Random Assignment vs. Random Sampling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peng shizhe</cp:lastModifiedBy>
  <cp:revision>10</cp:revision>
  <dcterms:modified xsi:type="dcterms:W3CDTF">2026-09-13T04:52:03Z</dcterms:modified>
</cp:coreProperties>
</file>