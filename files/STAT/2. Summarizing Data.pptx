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54" r:id="rId1"/>
  </p:sldMasterIdLst>
  <p:notesMasterIdLst>
    <p:notesMasterId r:id="rId64"/>
  </p:notesMasterIdLst>
  <p:sldIdLst>
    <p:sldId id="352" r:id="rId2"/>
    <p:sldId id="257" r:id="rId3"/>
    <p:sldId id="260" r:id="rId4"/>
    <p:sldId id="261" r:id="rId5"/>
    <p:sldId id="262" r:id="rId6"/>
    <p:sldId id="263" r:id="rId7"/>
    <p:sldId id="264" r:id="rId8"/>
    <p:sldId id="265" r:id="rId9"/>
    <p:sldId id="266" r:id="rId10"/>
    <p:sldId id="267" r:id="rId11"/>
    <p:sldId id="268" r:id="rId12"/>
    <p:sldId id="269" r:id="rId13"/>
    <p:sldId id="271" r:id="rId14"/>
    <p:sldId id="280" r:id="rId15"/>
    <p:sldId id="281" r:id="rId16"/>
    <p:sldId id="282" r:id="rId17"/>
    <p:sldId id="283" r:id="rId18"/>
    <p:sldId id="285" r:id="rId19"/>
    <p:sldId id="288" r:id="rId20"/>
    <p:sldId id="290" r:id="rId21"/>
    <p:sldId id="293" r:id="rId22"/>
    <p:sldId id="294" r:id="rId23"/>
    <p:sldId id="295" r:id="rId24"/>
    <p:sldId id="296" r:id="rId25"/>
    <p:sldId id="297" r:id="rId26"/>
    <p:sldId id="300" r:id="rId27"/>
    <p:sldId id="302" r:id="rId28"/>
    <p:sldId id="303" r:id="rId29"/>
    <p:sldId id="304" r:id="rId30"/>
    <p:sldId id="307" r:id="rId31"/>
    <p:sldId id="308" r:id="rId32"/>
    <p:sldId id="309" r:id="rId33"/>
    <p:sldId id="310" r:id="rId34"/>
    <p:sldId id="312" r:id="rId35"/>
    <p:sldId id="315" r:id="rId36"/>
    <p:sldId id="316" r:id="rId37"/>
    <p:sldId id="317" r:id="rId38"/>
    <p:sldId id="319" r:id="rId39"/>
    <p:sldId id="322" r:id="rId40"/>
    <p:sldId id="326" r:id="rId41"/>
    <p:sldId id="327" r:id="rId42"/>
    <p:sldId id="328" r:id="rId43"/>
    <p:sldId id="329" r:id="rId44"/>
    <p:sldId id="330" r:id="rId45"/>
    <p:sldId id="331" r:id="rId46"/>
    <p:sldId id="332" r:id="rId47"/>
    <p:sldId id="333" r:id="rId48"/>
    <p:sldId id="335" r:id="rId49"/>
    <p:sldId id="336" r:id="rId50"/>
    <p:sldId id="337" r:id="rId51"/>
    <p:sldId id="339" r:id="rId52"/>
    <p:sldId id="340" r:id="rId53"/>
    <p:sldId id="341" r:id="rId54"/>
    <p:sldId id="342" r:id="rId55"/>
    <p:sldId id="343" r:id="rId56"/>
    <p:sldId id="344" r:id="rId57"/>
    <p:sldId id="345" r:id="rId58"/>
    <p:sldId id="346" r:id="rId59"/>
    <p:sldId id="347" r:id="rId60"/>
    <p:sldId id="348" r:id="rId61"/>
    <p:sldId id="350" r:id="rId62"/>
    <p:sldId id="349" r:id="rId63"/>
  </p:sldIdLst>
  <p:sldSz cx="9144000" cy="6858000" type="screen4x3"/>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83422" autoAdjust="0"/>
  </p:normalViewPr>
  <p:slideViewPr>
    <p:cSldViewPr snapToGrid="0">
      <p:cViewPr varScale="1">
        <p:scale>
          <a:sx n="101" d="100"/>
          <a:sy n="101" d="100"/>
        </p:scale>
        <p:origin x="2218" y="58"/>
      </p:cViewPr>
      <p:guideLst/>
    </p:cSldViewPr>
  </p:slideViewPr>
  <p:notesTextViewPr>
    <p:cViewPr>
      <p:scale>
        <a:sx n="1" d="1"/>
        <a:sy n="1" d="1"/>
      </p:scale>
      <p:origin x="0" y="0"/>
    </p:cViewPr>
  </p:notesTextViewPr>
  <p:sorterViewPr>
    <p:cViewPr>
      <p:scale>
        <a:sx n="100" d="100"/>
        <a:sy n="100" d="100"/>
      </p:scale>
      <p:origin x="0" y="0"/>
    </p:cViewPr>
  </p:sorter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slide" Target="slides/slide62.xml"/><Relationship Id="rId68"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viewProps" Target="viewProps.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notesMaster" Target="notesMasters/notesMaster1.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theme" Target="theme/theme1.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317500">
              <a:spcBef>
                <a:spcPts val="0"/>
              </a:spcBef>
              <a:spcAft>
                <a:spcPts val="0"/>
              </a:spcAft>
              <a:buSzPts val="1400"/>
              <a:buChar char="●"/>
              <a:defRPr sz="1100"/>
            </a:lvl1pPr>
            <a:lvl2pPr marL="914400" lvl="1" indent="-317500">
              <a:spcBef>
                <a:spcPts val="0"/>
              </a:spcBef>
              <a:spcAft>
                <a:spcPts val="0"/>
              </a:spcAft>
              <a:buSzPts val="1400"/>
              <a:buChar char="○"/>
              <a:defRPr sz="1100"/>
            </a:lvl2pPr>
            <a:lvl3pPr marL="1371600" lvl="2" indent="-317500">
              <a:spcBef>
                <a:spcPts val="0"/>
              </a:spcBef>
              <a:spcAft>
                <a:spcPts val="0"/>
              </a:spcAft>
              <a:buSzPts val="1400"/>
              <a:buChar char="■"/>
              <a:defRPr sz="1100"/>
            </a:lvl3pPr>
            <a:lvl4pPr marL="1828800" lvl="3" indent="-317500">
              <a:spcBef>
                <a:spcPts val="0"/>
              </a:spcBef>
              <a:spcAft>
                <a:spcPts val="0"/>
              </a:spcAft>
              <a:buSzPts val="1400"/>
              <a:buChar char="●"/>
              <a:defRPr sz="1100"/>
            </a:lvl4pPr>
            <a:lvl5pPr marL="2286000" lvl="4" indent="-317500">
              <a:spcBef>
                <a:spcPts val="0"/>
              </a:spcBef>
              <a:spcAft>
                <a:spcPts val="0"/>
              </a:spcAft>
              <a:buSzPts val="1400"/>
              <a:buChar char="○"/>
              <a:defRPr sz="1100"/>
            </a:lvl5pPr>
            <a:lvl6pPr marL="2743200" lvl="5" indent="-317500">
              <a:spcBef>
                <a:spcPts val="0"/>
              </a:spcBef>
              <a:spcAft>
                <a:spcPts val="0"/>
              </a:spcAft>
              <a:buSzPts val="1400"/>
              <a:buChar char="■"/>
              <a:defRPr sz="1100"/>
            </a:lvl6pPr>
            <a:lvl7pPr marL="3200400" lvl="6" indent="-317500">
              <a:spcBef>
                <a:spcPts val="0"/>
              </a:spcBef>
              <a:spcAft>
                <a:spcPts val="0"/>
              </a:spcAft>
              <a:buSzPts val="1400"/>
              <a:buChar char="●"/>
              <a:defRPr sz="1100"/>
            </a:lvl7pPr>
            <a:lvl8pPr marL="3657600" lvl="7" indent="-317500">
              <a:spcBef>
                <a:spcPts val="0"/>
              </a:spcBef>
              <a:spcAft>
                <a:spcPts val="0"/>
              </a:spcAft>
              <a:buSzPts val="1400"/>
              <a:buChar char="○"/>
              <a:defRPr sz="1100"/>
            </a:lvl8pPr>
            <a:lvl9pPr marL="4114800" lvl="8" indent="-317500">
              <a:spcBef>
                <a:spcPts val="0"/>
              </a:spcBef>
              <a:spcAft>
                <a:spcPts val="0"/>
              </a:spcAft>
              <a:buSzPts val="14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
        <p:cNvGrpSpPr/>
        <p:nvPr/>
      </p:nvGrpSpPr>
      <p:grpSpPr>
        <a:xfrm>
          <a:off x="0" y="0"/>
          <a:ext cx="0" cy="0"/>
          <a:chOff x="0" y="0"/>
          <a:chExt cx="0" cy="0"/>
        </a:xfrm>
      </p:grpSpPr>
      <p:sp>
        <p:nvSpPr>
          <p:cNvPr id="31" name="Google Shape;31;p: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2" name="Google Shape;32;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
        <p:cNvGrpSpPr/>
        <p:nvPr/>
      </p:nvGrpSpPr>
      <p:grpSpPr>
        <a:xfrm>
          <a:off x="0" y="0"/>
          <a:ext cx="0" cy="0"/>
          <a:chOff x="0" y="0"/>
          <a:chExt cx="0" cy="0"/>
        </a:xfrm>
      </p:grpSpPr>
      <p:sp>
        <p:nvSpPr>
          <p:cNvPr id="30" name="Google Shape;30;gf5d86b5a_018: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1" name="Google Shape;31;gf5d86b5a_01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2"/>
        <p:cNvGrpSpPr/>
        <p:nvPr/>
      </p:nvGrpSpPr>
      <p:grpSpPr>
        <a:xfrm>
          <a:off x="0" y="0"/>
          <a:ext cx="0" cy="0"/>
          <a:chOff x="0" y="0"/>
          <a:chExt cx="0" cy="0"/>
        </a:xfrm>
      </p:grpSpPr>
      <p:sp>
        <p:nvSpPr>
          <p:cNvPr id="53" name="Google Shape;53;g1726b84cdb_0_53: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4" name="Google Shape;54;g1726b84cdb_0_5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1"/>
        <p:cNvGrpSpPr/>
        <p:nvPr/>
      </p:nvGrpSpPr>
      <p:grpSpPr>
        <a:xfrm>
          <a:off x="0" y="0"/>
          <a:ext cx="0" cy="0"/>
          <a:chOff x="0" y="0"/>
          <a:chExt cx="0" cy="0"/>
        </a:xfrm>
      </p:grpSpPr>
      <p:sp>
        <p:nvSpPr>
          <p:cNvPr id="62" name="Google Shape;62;gf5d86b5a_057: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3" name="Google Shape;63;gf5d86b5a_05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8"/>
        <p:cNvGrpSpPr/>
        <p:nvPr/>
      </p:nvGrpSpPr>
      <p:grpSpPr>
        <a:xfrm>
          <a:off x="0" y="0"/>
          <a:ext cx="0" cy="0"/>
          <a:chOff x="0" y="0"/>
          <a:chExt cx="0" cy="0"/>
        </a:xfrm>
      </p:grpSpPr>
      <p:sp>
        <p:nvSpPr>
          <p:cNvPr id="69" name="Google Shape;69;gf5d86b5a_068: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0" name="Google Shape;70;gf5d86b5a_06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5"/>
        <p:cNvGrpSpPr/>
        <p:nvPr/>
      </p:nvGrpSpPr>
      <p:grpSpPr>
        <a:xfrm>
          <a:off x="0" y="0"/>
          <a:ext cx="0" cy="0"/>
          <a:chOff x="0" y="0"/>
          <a:chExt cx="0" cy="0"/>
        </a:xfrm>
      </p:grpSpPr>
      <p:sp>
        <p:nvSpPr>
          <p:cNvPr id="76" name="Google Shape;76;gf5d86b5a_076: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7" name="Google Shape;77;gf5d86b5a_07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2"/>
        <p:cNvGrpSpPr/>
        <p:nvPr/>
      </p:nvGrpSpPr>
      <p:grpSpPr>
        <a:xfrm>
          <a:off x="0" y="0"/>
          <a:ext cx="0" cy="0"/>
          <a:chOff x="0" y="0"/>
          <a:chExt cx="0" cy="0"/>
        </a:xfrm>
      </p:grpSpPr>
      <p:sp>
        <p:nvSpPr>
          <p:cNvPr id="83" name="Google Shape;83;gf5d86b5a_085: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4" name="Google Shape;84;gf5d86b5a_08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9"/>
        <p:cNvGrpSpPr/>
        <p:nvPr/>
      </p:nvGrpSpPr>
      <p:grpSpPr>
        <a:xfrm>
          <a:off x="0" y="0"/>
          <a:ext cx="0" cy="0"/>
          <a:chOff x="0" y="0"/>
          <a:chExt cx="0" cy="0"/>
        </a:xfrm>
      </p:grpSpPr>
      <p:sp>
        <p:nvSpPr>
          <p:cNvPr id="90" name="Google Shape;90;gf5d86b5a_093: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1" name="Google Shape;91;gf5d86b5a_09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belong to a bin</a:t>
            </a:r>
          </a:p>
          <a:p>
            <a:pPr marL="0" lvl="0" indent="0" algn="l" rtl="0">
              <a:spcBef>
                <a:spcPts val="0"/>
              </a:spcBef>
              <a:spcAft>
                <a:spcPts val="0"/>
              </a:spcAft>
              <a:buNone/>
            </a:pPr>
            <a:r>
              <a:rPr lang="en-US" dirty="0"/>
              <a:t>the number of cases</a:t>
            </a:r>
            <a:endParaRPr dirty="0"/>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6"/>
        <p:cNvGrpSpPr/>
        <p:nvPr/>
      </p:nvGrpSpPr>
      <p:grpSpPr>
        <a:xfrm>
          <a:off x="0" y="0"/>
          <a:ext cx="0" cy="0"/>
          <a:chOff x="0" y="0"/>
          <a:chExt cx="0" cy="0"/>
        </a:xfrm>
      </p:grpSpPr>
      <p:sp>
        <p:nvSpPr>
          <p:cNvPr id="97" name="Google Shape;97;gf5d86b5a_0102: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8" name="Google Shape;98;gf5d86b5a_010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6"/>
        <p:cNvGrpSpPr/>
        <p:nvPr/>
      </p:nvGrpSpPr>
      <p:grpSpPr>
        <a:xfrm>
          <a:off x="0" y="0"/>
          <a:ext cx="0" cy="0"/>
          <a:chOff x="0" y="0"/>
          <a:chExt cx="0" cy="0"/>
        </a:xfrm>
      </p:grpSpPr>
      <p:sp>
        <p:nvSpPr>
          <p:cNvPr id="107" name="Google Shape;107;gf5d86b5a_14: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8" name="Google Shape;108;gf5d86b5a_1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p:cNvGrpSpPr/>
        <p:nvPr/>
      </p:nvGrpSpPr>
      <p:grpSpPr>
        <a:xfrm>
          <a:off x="0" y="0"/>
          <a:ext cx="0" cy="0"/>
          <a:chOff x="0" y="0"/>
          <a:chExt cx="0" cy="0"/>
        </a:xfrm>
      </p:grpSpPr>
      <p:sp>
        <p:nvSpPr>
          <p:cNvPr id="115" name="Google Shape;115;gfc5810fb_00: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6" name="Google Shape;116;gfc5810fb_0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trail off </a:t>
            </a:r>
            <a:r>
              <a:rPr lang="zh-CN" altLang="en-US" dirty="0"/>
              <a:t>逐渐消失</a:t>
            </a:r>
            <a:endParaRPr lang="en-US" altLang="zh-CN" dirty="0"/>
          </a:p>
          <a:p>
            <a:pPr marL="0" lvl="0" indent="0" algn="l" rtl="0">
              <a:spcBef>
                <a:spcPts val="0"/>
              </a:spcBef>
              <a:spcAft>
                <a:spcPts val="0"/>
              </a:spcAft>
              <a:buNone/>
            </a:pPr>
            <a:r>
              <a:rPr lang="en-US" altLang="zh-CN" dirty="0"/>
              <a:t>a long. thin tail</a:t>
            </a:r>
          </a:p>
          <a:p>
            <a:pPr marL="0" lvl="0" indent="0" algn="l" rtl="0">
              <a:spcBef>
                <a:spcPts val="0"/>
              </a:spcBef>
              <a:spcAft>
                <a:spcPts val="0"/>
              </a:spcAft>
              <a:buNone/>
            </a:pPr>
            <a:r>
              <a:rPr lang="en-US" dirty="0"/>
              <a:t>equal trailing</a:t>
            </a:r>
            <a:endParaRPr dirty="0"/>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2"/>
        <p:cNvGrpSpPr/>
        <p:nvPr/>
      </p:nvGrpSpPr>
      <p:grpSpPr>
        <a:xfrm>
          <a:off x="0" y="0"/>
          <a:ext cx="0" cy="0"/>
          <a:chOff x="0" y="0"/>
          <a:chExt cx="0" cy="0"/>
        </a:xfrm>
      </p:grpSpPr>
      <p:sp>
        <p:nvSpPr>
          <p:cNvPr id="123" name="Google Shape;123;gfc5810fb_010: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4" name="Google Shape;124;gfc5810fb_0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6"/>
        <p:cNvGrpSpPr/>
        <p:nvPr/>
      </p:nvGrpSpPr>
      <p:grpSpPr>
        <a:xfrm>
          <a:off x="0" y="0"/>
          <a:ext cx="0" cy="0"/>
          <a:chOff x="0" y="0"/>
          <a:chExt cx="0" cy="0"/>
        </a:xfrm>
      </p:grpSpPr>
      <p:sp>
        <p:nvSpPr>
          <p:cNvPr id="137" name="Google Shape;137;g1726b84cdb_0_78: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8" name="Google Shape;138;g1726b84cdb_0_7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0"/>
        <p:cNvGrpSpPr/>
        <p:nvPr/>
      </p:nvGrpSpPr>
      <p:grpSpPr>
        <a:xfrm>
          <a:off x="0" y="0"/>
          <a:ext cx="0" cy="0"/>
          <a:chOff x="0" y="0"/>
          <a:chExt cx="0" cy="0"/>
        </a:xfrm>
      </p:grpSpPr>
      <p:sp>
        <p:nvSpPr>
          <p:cNvPr id="221" name="Google Shape;221;g1726b84cdb_0_177: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22" name="Google Shape;222;g1726b84cdb_0_17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4"/>
        <p:cNvGrpSpPr/>
        <p:nvPr/>
      </p:nvGrpSpPr>
      <p:grpSpPr>
        <a:xfrm>
          <a:off x="0" y="0"/>
          <a:ext cx="0" cy="0"/>
          <a:chOff x="0" y="0"/>
          <a:chExt cx="0" cy="0"/>
        </a:xfrm>
      </p:grpSpPr>
      <p:sp>
        <p:nvSpPr>
          <p:cNvPr id="235" name="Google Shape;235;gfc5810fb_040: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6" name="Google Shape;236;gfc5810fb_04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0"/>
        <p:cNvGrpSpPr/>
        <p:nvPr/>
      </p:nvGrpSpPr>
      <p:grpSpPr>
        <a:xfrm>
          <a:off x="0" y="0"/>
          <a:ext cx="0" cy="0"/>
          <a:chOff x="0" y="0"/>
          <a:chExt cx="0" cy="0"/>
        </a:xfrm>
      </p:grpSpPr>
      <p:sp>
        <p:nvSpPr>
          <p:cNvPr id="241" name="Google Shape;241;gfc5810fb_048: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42" name="Google Shape;242;gfc5810fb_04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6"/>
        <p:cNvGrpSpPr/>
        <p:nvPr/>
      </p:nvGrpSpPr>
      <p:grpSpPr>
        <a:xfrm>
          <a:off x="0" y="0"/>
          <a:ext cx="0" cy="0"/>
          <a:chOff x="0" y="0"/>
          <a:chExt cx="0" cy="0"/>
        </a:xfrm>
      </p:grpSpPr>
      <p:sp>
        <p:nvSpPr>
          <p:cNvPr id="247" name="Google Shape;247;gfc5810fb_053: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48" name="Google Shape;248;gfc5810fb_05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9"/>
        <p:cNvGrpSpPr/>
        <p:nvPr/>
      </p:nvGrpSpPr>
      <p:grpSpPr>
        <a:xfrm>
          <a:off x="0" y="0"/>
          <a:ext cx="0" cy="0"/>
          <a:chOff x="0" y="0"/>
          <a:chExt cx="0" cy="0"/>
        </a:xfrm>
      </p:grpSpPr>
      <p:sp>
        <p:nvSpPr>
          <p:cNvPr id="260" name="Google Shape;260;g1726b84cdb_0_190: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61" name="Google Shape;261;g1726b84cdb_0_19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4"/>
        <p:cNvGrpSpPr/>
        <p:nvPr/>
      </p:nvGrpSpPr>
      <p:grpSpPr>
        <a:xfrm>
          <a:off x="0" y="0"/>
          <a:ext cx="0" cy="0"/>
          <a:chOff x="0" y="0"/>
          <a:chExt cx="0" cy="0"/>
        </a:xfrm>
      </p:grpSpPr>
      <p:sp>
        <p:nvSpPr>
          <p:cNvPr id="285" name="Google Shape;285;g1726b84cdb_0_208: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86" name="Google Shape;286;g1726b84cdb_0_20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2"/>
        <p:cNvGrpSpPr/>
        <p:nvPr/>
      </p:nvGrpSpPr>
      <p:grpSpPr>
        <a:xfrm>
          <a:off x="0" y="0"/>
          <a:ext cx="0" cy="0"/>
          <a:chOff x="0" y="0"/>
          <a:chExt cx="0" cy="0"/>
        </a:xfrm>
      </p:grpSpPr>
      <p:sp>
        <p:nvSpPr>
          <p:cNvPr id="303" name="Google Shape;303;g1726b84cdb_0_219: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4" name="Google Shape;304;g1726b84cdb_0_21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5"/>
        <p:cNvGrpSpPr/>
        <p:nvPr/>
      </p:nvGrpSpPr>
      <p:grpSpPr>
        <a:xfrm>
          <a:off x="0" y="0"/>
          <a:ext cx="0" cy="0"/>
          <a:chOff x="0" y="0"/>
          <a:chExt cx="0" cy="0"/>
        </a:xfrm>
      </p:grpSpPr>
      <p:sp>
        <p:nvSpPr>
          <p:cNvPr id="326" name="Google Shape;326;g1726b84cdb_0_234: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27" name="Google Shape;327;g1726b84cdb_0_23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6"/>
        <p:cNvGrpSpPr/>
        <p:nvPr/>
      </p:nvGrpSpPr>
      <p:grpSpPr>
        <a:xfrm>
          <a:off x="0" y="0"/>
          <a:ext cx="0" cy="0"/>
          <a:chOff x="0" y="0"/>
          <a:chExt cx="0" cy="0"/>
        </a:xfrm>
      </p:grpSpPr>
      <p:sp>
        <p:nvSpPr>
          <p:cNvPr id="337" name="Google Shape;337;gfc5810fb_0114: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38" name="Google Shape;338;gfc5810fb_011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6"/>
        <p:cNvGrpSpPr/>
        <p:nvPr/>
      </p:nvGrpSpPr>
      <p:grpSpPr>
        <a:xfrm>
          <a:off x="0" y="0"/>
          <a:ext cx="0" cy="0"/>
          <a:chOff x="0" y="0"/>
          <a:chExt cx="0" cy="0"/>
        </a:xfrm>
      </p:grpSpPr>
      <p:sp>
        <p:nvSpPr>
          <p:cNvPr id="347" name="Google Shape;347;gfc5810fb_013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48" name="Google Shape;348;gfc5810fb_013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aka: also known as</a:t>
            </a:r>
            <a:endParaRPr dirty="0"/>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2"/>
        <p:cNvGrpSpPr/>
        <p:nvPr/>
      </p:nvGrpSpPr>
      <p:grpSpPr>
        <a:xfrm>
          <a:off x="0" y="0"/>
          <a:ext cx="0" cy="0"/>
          <a:chOff x="0" y="0"/>
          <a:chExt cx="0" cy="0"/>
        </a:xfrm>
      </p:grpSpPr>
      <p:sp>
        <p:nvSpPr>
          <p:cNvPr id="353" name="Google Shape;353;gfc5810fb_0142: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54" name="Google Shape;354;gfc5810fb_014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9"/>
        <p:cNvGrpSpPr/>
        <p:nvPr/>
      </p:nvGrpSpPr>
      <p:grpSpPr>
        <a:xfrm>
          <a:off x="0" y="0"/>
          <a:ext cx="0" cy="0"/>
          <a:chOff x="0" y="0"/>
          <a:chExt cx="0" cy="0"/>
        </a:xfrm>
      </p:grpSpPr>
      <p:sp>
        <p:nvSpPr>
          <p:cNvPr id="360" name="Google Shape;360;gfc5810fb_0149: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61" name="Google Shape;361;gfc5810fb_014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8"/>
        <p:cNvGrpSpPr/>
        <p:nvPr/>
      </p:nvGrpSpPr>
      <p:grpSpPr>
        <a:xfrm>
          <a:off x="0" y="0"/>
          <a:ext cx="0" cy="0"/>
          <a:chOff x="0" y="0"/>
          <a:chExt cx="0" cy="0"/>
        </a:xfrm>
      </p:grpSpPr>
      <p:sp>
        <p:nvSpPr>
          <p:cNvPr id="379" name="Google Shape;379;g1726b84cdb_0_25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80" name="Google Shape;380;g1726b84cdb_0_25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2"/>
        <p:cNvGrpSpPr/>
        <p:nvPr/>
      </p:nvGrpSpPr>
      <p:grpSpPr>
        <a:xfrm>
          <a:off x="0" y="0"/>
          <a:ext cx="0" cy="0"/>
          <a:chOff x="0" y="0"/>
          <a:chExt cx="0" cy="0"/>
        </a:xfrm>
      </p:grpSpPr>
      <p:sp>
        <p:nvSpPr>
          <p:cNvPr id="393" name="Google Shape;393;g1726b84cdb_0_258: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94" name="Google Shape;394;g1726b84cdb_0_25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9"/>
        <p:cNvGrpSpPr/>
        <p:nvPr/>
      </p:nvGrpSpPr>
      <p:grpSpPr>
        <a:xfrm>
          <a:off x="0" y="0"/>
          <a:ext cx="0" cy="0"/>
          <a:chOff x="0" y="0"/>
          <a:chExt cx="0" cy="0"/>
        </a:xfrm>
      </p:grpSpPr>
      <p:sp>
        <p:nvSpPr>
          <p:cNvPr id="400" name="Google Shape;400;gfc5810fb_0180: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01" name="Google Shape;401;gfc5810fb_018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6"/>
        <p:cNvGrpSpPr/>
        <p:nvPr/>
      </p:nvGrpSpPr>
      <p:grpSpPr>
        <a:xfrm>
          <a:off x="0" y="0"/>
          <a:ext cx="0" cy="0"/>
          <a:chOff x="0" y="0"/>
          <a:chExt cx="0" cy="0"/>
        </a:xfrm>
      </p:grpSpPr>
      <p:sp>
        <p:nvSpPr>
          <p:cNvPr id="407" name="Google Shape;407;gfc5810fb_0189: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08" name="Google Shape;408;gfc5810fb_018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25"/>
        <p:cNvGrpSpPr/>
        <p:nvPr/>
      </p:nvGrpSpPr>
      <p:grpSpPr>
        <a:xfrm>
          <a:off x="0" y="0"/>
          <a:ext cx="0" cy="0"/>
          <a:chOff x="0" y="0"/>
          <a:chExt cx="0" cy="0"/>
        </a:xfrm>
      </p:grpSpPr>
      <p:sp>
        <p:nvSpPr>
          <p:cNvPr id="426" name="Google Shape;426;g1726b84cdb_0_270: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27" name="Google Shape;427;g1726b84cdb_0_27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32"/>
        <p:cNvGrpSpPr/>
        <p:nvPr/>
      </p:nvGrpSpPr>
      <p:grpSpPr>
        <a:xfrm>
          <a:off x="0" y="0"/>
          <a:ext cx="0" cy="0"/>
          <a:chOff x="0" y="0"/>
          <a:chExt cx="0" cy="0"/>
        </a:xfrm>
      </p:grpSpPr>
      <p:sp>
        <p:nvSpPr>
          <p:cNvPr id="433" name="Google Shape;433;gfc5810fb_0204: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34" name="Google Shape;434;gfc5810fb_020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0"/>
        <p:cNvGrpSpPr/>
        <p:nvPr/>
      </p:nvGrpSpPr>
      <p:grpSpPr>
        <a:xfrm>
          <a:off x="0" y="0"/>
          <a:ext cx="0" cy="0"/>
          <a:chOff x="0" y="0"/>
          <a:chExt cx="0" cy="0"/>
        </a:xfrm>
      </p:grpSpPr>
      <p:sp>
        <p:nvSpPr>
          <p:cNvPr id="441" name="Google Shape;441;gfc5810fb_0214: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42" name="Google Shape;442;gfc5810fb_021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7"/>
        <p:cNvGrpSpPr/>
        <p:nvPr/>
      </p:nvGrpSpPr>
      <p:grpSpPr>
        <a:xfrm>
          <a:off x="0" y="0"/>
          <a:ext cx="0" cy="0"/>
          <a:chOff x="0" y="0"/>
          <a:chExt cx="0" cy="0"/>
        </a:xfrm>
      </p:grpSpPr>
      <p:sp>
        <p:nvSpPr>
          <p:cNvPr id="448" name="Google Shape;448;gfc5810fb_0223: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49" name="Google Shape;449;gfc5810fb_022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0"/>
        <p:cNvGrpSpPr/>
        <p:nvPr/>
      </p:nvGrpSpPr>
      <p:grpSpPr>
        <a:xfrm>
          <a:off x="0" y="0"/>
          <a:ext cx="0" cy="0"/>
          <a:chOff x="0" y="0"/>
          <a:chExt cx="0" cy="0"/>
        </a:xfrm>
      </p:grpSpPr>
      <p:sp>
        <p:nvSpPr>
          <p:cNvPr id="461" name="Google Shape;461;g1726b84cdb_0_276: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62" name="Google Shape;462;g1726b84cdb_0_27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81"/>
        <p:cNvGrpSpPr/>
        <p:nvPr/>
      </p:nvGrpSpPr>
      <p:grpSpPr>
        <a:xfrm>
          <a:off x="0" y="0"/>
          <a:ext cx="0" cy="0"/>
          <a:chOff x="0" y="0"/>
          <a:chExt cx="0" cy="0"/>
        </a:xfrm>
      </p:grpSpPr>
      <p:sp>
        <p:nvSpPr>
          <p:cNvPr id="482" name="Google Shape;482;g1726b84cdb_0_289: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83" name="Google Shape;483;g1726b84cdb_0_28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88"/>
        <p:cNvGrpSpPr/>
        <p:nvPr/>
      </p:nvGrpSpPr>
      <p:grpSpPr>
        <a:xfrm>
          <a:off x="0" y="0"/>
          <a:ext cx="0" cy="0"/>
          <a:chOff x="0" y="0"/>
          <a:chExt cx="0" cy="0"/>
        </a:xfrm>
      </p:grpSpPr>
      <p:sp>
        <p:nvSpPr>
          <p:cNvPr id="489" name="Google Shape;489;gfc5810fb_0249: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90" name="Google Shape;490;gfc5810fb_024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
        <p:cNvGrpSpPr/>
        <p:nvPr/>
      </p:nvGrpSpPr>
      <p:grpSpPr>
        <a:xfrm>
          <a:off x="0" y="0"/>
          <a:ext cx="0" cy="0"/>
          <a:chOff x="0" y="0"/>
          <a:chExt cx="0" cy="0"/>
        </a:xfrm>
      </p:grpSpPr>
      <p:sp>
        <p:nvSpPr>
          <p:cNvPr id="30" name="Google Shape;30;ge49e5a93_00: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1" name="Google Shape;31;ge49e5a93_0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
        <p:cNvGrpSpPr/>
        <p:nvPr/>
      </p:nvGrpSpPr>
      <p:grpSpPr>
        <a:xfrm>
          <a:off x="0" y="0"/>
          <a:ext cx="0" cy="0"/>
          <a:chOff x="0" y="0"/>
          <a:chExt cx="0" cy="0"/>
        </a:xfrm>
      </p:grpSpPr>
      <p:sp>
        <p:nvSpPr>
          <p:cNvPr id="41" name="Google Shape;41;g16c7639abc_0_45: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2" name="Google Shape;42;g16c7639abc_0_4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interior cells</a:t>
            </a:r>
          </a:p>
          <a:p>
            <a:pPr marL="0" lvl="0" indent="0" algn="l" rtl="0">
              <a:spcBef>
                <a:spcPts val="0"/>
              </a:spcBef>
              <a:spcAft>
                <a:spcPts val="0"/>
              </a:spcAft>
              <a:buNone/>
            </a:pPr>
            <a:r>
              <a:rPr lang="en-US" dirty="0"/>
              <a:t>margins/the bottom margin</a:t>
            </a:r>
          </a:p>
          <a:p>
            <a:pPr marL="0" lvl="0" indent="0" algn="l" rtl="0">
              <a:spcBef>
                <a:spcPts val="0"/>
              </a:spcBef>
              <a:spcAft>
                <a:spcPts val="0"/>
              </a:spcAft>
              <a:buNone/>
            </a:pPr>
            <a:r>
              <a:rPr lang="en-US" dirty="0"/>
              <a:t>sum up</a:t>
            </a:r>
          </a:p>
          <a:p>
            <a:pPr marL="0" lvl="0" indent="0" algn="l" rtl="0">
              <a:spcBef>
                <a:spcPts val="0"/>
              </a:spcBef>
              <a:spcAft>
                <a:spcPts val="0"/>
              </a:spcAft>
              <a:buNone/>
            </a:pPr>
            <a:r>
              <a:rPr lang="en-US" dirty="0"/>
              <a:t>lower right hand corner</a:t>
            </a:r>
            <a:endParaRPr dirty="0"/>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3"/>
        <p:cNvGrpSpPr/>
        <p:nvPr/>
      </p:nvGrpSpPr>
      <p:grpSpPr>
        <a:xfrm>
          <a:off x="0" y="0"/>
          <a:ext cx="0" cy="0"/>
          <a:chOff x="0" y="0"/>
          <a:chExt cx="0" cy="0"/>
        </a:xfrm>
      </p:grpSpPr>
      <p:sp>
        <p:nvSpPr>
          <p:cNvPr id="64" name="Google Shape;64;g16c7639abc_0_59: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5" name="Google Shape;65;g16c7639abc_0_5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4"/>
        <p:cNvGrpSpPr/>
        <p:nvPr/>
      </p:nvGrpSpPr>
      <p:grpSpPr>
        <a:xfrm>
          <a:off x="0" y="0"/>
          <a:ext cx="0" cy="0"/>
          <a:chOff x="0" y="0"/>
          <a:chExt cx="0" cy="0"/>
        </a:xfrm>
      </p:grpSpPr>
      <p:sp>
        <p:nvSpPr>
          <p:cNvPr id="95" name="Google Shape;95;g16c7639abc_0_73: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6" name="Google Shape;96;g16c7639abc_0_7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cell values</a:t>
            </a:r>
            <a:endParaRPr dirty="0"/>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2"/>
        <p:cNvGrpSpPr/>
        <p:nvPr/>
      </p:nvGrpSpPr>
      <p:grpSpPr>
        <a:xfrm>
          <a:off x="0" y="0"/>
          <a:ext cx="0" cy="0"/>
          <a:chOff x="0" y="0"/>
          <a:chExt cx="0" cy="0"/>
        </a:xfrm>
      </p:grpSpPr>
      <p:sp>
        <p:nvSpPr>
          <p:cNvPr id="103" name="Google Shape;103;g5e3e75528d_0_22: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4" name="Google Shape;104;g5e3e75528d_0_2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8"/>
        <p:cNvGrpSpPr/>
        <p:nvPr/>
      </p:nvGrpSpPr>
      <p:grpSpPr>
        <a:xfrm>
          <a:off x="0" y="0"/>
          <a:ext cx="0" cy="0"/>
          <a:chOff x="0" y="0"/>
          <a:chExt cx="0" cy="0"/>
        </a:xfrm>
      </p:grpSpPr>
      <p:sp>
        <p:nvSpPr>
          <p:cNvPr id="109" name="Google Shape;109;ge49e5a93_072: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0" name="Google Shape;110;ge49e5a93_07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5"/>
        <p:cNvGrpSpPr/>
        <p:nvPr/>
      </p:nvGrpSpPr>
      <p:grpSpPr>
        <a:xfrm>
          <a:off x="0" y="0"/>
          <a:ext cx="0" cy="0"/>
          <a:chOff x="0" y="0"/>
          <a:chExt cx="0" cy="0"/>
        </a:xfrm>
      </p:grpSpPr>
      <p:sp>
        <p:nvSpPr>
          <p:cNvPr id="116" name="Google Shape;116;g5e3e75528d_0_3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7" name="Google Shape;117;g5e3e75528d_0_3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2"/>
        <p:cNvGrpSpPr/>
        <p:nvPr/>
      </p:nvGrpSpPr>
      <p:grpSpPr>
        <a:xfrm>
          <a:off x="0" y="0"/>
          <a:ext cx="0" cy="0"/>
          <a:chOff x="0" y="0"/>
          <a:chExt cx="0" cy="0"/>
        </a:xfrm>
      </p:grpSpPr>
      <p:sp>
        <p:nvSpPr>
          <p:cNvPr id="123" name="Google Shape;123;ge49e5a93_082: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4" name="Google Shape;124;ge49e5a93_08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9"/>
        <p:cNvGrpSpPr/>
        <p:nvPr/>
      </p:nvGrpSpPr>
      <p:grpSpPr>
        <a:xfrm>
          <a:off x="0" y="0"/>
          <a:ext cx="0" cy="0"/>
          <a:chOff x="0" y="0"/>
          <a:chExt cx="0" cy="0"/>
        </a:xfrm>
      </p:grpSpPr>
      <p:sp>
        <p:nvSpPr>
          <p:cNvPr id="130" name="Google Shape;130;ge49e5a93_092: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1" name="Google Shape;131;ge49e5a93_09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side-by-side</a:t>
            </a:r>
            <a:endParaRPr dirty="0"/>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
        <p:cNvGrpSpPr/>
        <p:nvPr/>
      </p:nvGrpSpPr>
      <p:grpSpPr>
        <a:xfrm>
          <a:off x="0" y="0"/>
          <a:ext cx="0" cy="0"/>
          <a:chOff x="0" y="0"/>
          <a:chExt cx="0" cy="0"/>
        </a:xfrm>
      </p:grpSpPr>
      <p:sp>
        <p:nvSpPr>
          <p:cNvPr id="30" name="Google Shape;30;ge4a04296_00: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1" name="Google Shape;31;ge4a04296_0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
        <p:cNvGrpSpPr/>
        <p:nvPr/>
      </p:nvGrpSpPr>
      <p:grpSpPr>
        <a:xfrm>
          <a:off x="0" y="0"/>
          <a:ext cx="0" cy="0"/>
          <a:chOff x="0" y="0"/>
          <a:chExt cx="0" cy="0"/>
        </a:xfrm>
      </p:grpSpPr>
      <p:sp>
        <p:nvSpPr>
          <p:cNvPr id="35" name="Google Shape;35;ge4a04296_024: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6" name="Google Shape;36;ge4a04296_02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7"/>
        <p:cNvGrpSpPr/>
        <p:nvPr/>
      </p:nvGrpSpPr>
      <p:grpSpPr>
        <a:xfrm>
          <a:off x="0" y="0"/>
          <a:ext cx="0" cy="0"/>
          <a:chOff x="0" y="0"/>
          <a:chExt cx="0" cy="0"/>
        </a:xfrm>
      </p:grpSpPr>
      <p:sp>
        <p:nvSpPr>
          <p:cNvPr id="48" name="Google Shape;48;g1726bf53b7_0_23: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9" name="Google Shape;49;g1726bf53b7_0_2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5"/>
        <p:cNvGrpSpPr/>
        <p:nvPr/>
      </p:nvGrpSpPr>
      <p:grpSpPr>
        <a:xfrm>
          <a:off x="0" y="0"/>
          <a:ext cx="0" cy="0"/>
          <a:chOff x="0" y="0"/>
          <a:chExt cx="0" cy="0"/>
        </a:xfrm>
      </p:grpSpPr>
      <p:sp>
        <p:nvSpPr>
          <p:cNvPr id="56" name="Google Shape;56;ge4a04296_062: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7" name="Google Shape;57;ge4a04296_06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1"/>
        <p:cNvGrpSpPr/>
        <p:nvPr/>
      </p:nvGrpSpPr>
      <p:grpSpPr>
        <a:xfrm>
          <a:off x="0" y="0"/>
          <a:ext cx="0" cy="0"/>
          <a:chOff x="0" y="0"/>
          <a:chExt cx="0" cy="0"/>
        </a:xfrm>
      </p:grpSpPr>
      <p:sp>
        <p:nvSpPr>
          <p:cNvPr id="62" name="Google Shape;62;g1726bf53b7_0_30: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3" name="Google Shape;63;g1726bf53b7_0_3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3"/>
        <p:cNvGrpSpPr/>
        <p:nvPr/>
      </p:nvGrpSpPr>
      <p:grpSpPr>
        <a:xfrm>
          <a:off x="0" y="0"/>
          <a:ext cx="0" cy="0"/>
          <a:chOff x="0" y="0"/>
          <a:chExt cx="0" cy="0"/>
        </a:xfrm>
      </p:grpSpPr>
      <p:sp>
        <p:nvSpPr>
          <p:cNvPr id="74" name="Google Shape;74;g5e27b8acae_0_23: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5" name="Google Shape;75;g5e27b8acae_0_2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
        <p:cNvGrpSpPr/>
        <p:nvPr/>
      </p:nvGrpSpPr>
      <p:grpSpPr>
        <a:xfrm>
          <a:off x="0" y="0"/>
          <a:ext cx="0" cy="0"/>
          <a:chOff x="0" y="0"/>
          <a:chExt cx="0" cy="0"/>
        </a:xfrm>
      </p:grpSpPr>
      <p:sp>
        <p:nvSpPr>
          <p:cNvPr id="81" name="Google Shape;81;ge4a04296_092: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2" name="Google Shape;82;ge4a04296_09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8"/>
        <p:cNvGrpSpPr/>
        <p:nvPr/>
      </p:nvGrpSpPr>
      <p:grpSpPr>
        <a:xfrm>
          <a:off x="0" y="0"/>
          <a:ext cx="0" cy="0"/>
          <a:chOff x="0" y="0"/>
          <a:chExt cx="0" cy="0"/>
        </a:xfrm>
      </p:grpSpPr>
      <p:sp>
        <p:nvSpPr>
          <p:cNvPr id="89" name="Google Shape;89;ge4a04296_0105: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0" name="Google Shape;90;ge4a04296_010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4"/>
        <p:cNvGrpSpPr/>
        <p:nvPr/>
      </p:nvGrpSpPr>
      <p:grpSpPr>
        <a:xfrm>
          <a:off x="0" y="0"/>
          <a:ext cx="0" cy="0"/>
          <a:chOff x="0" y="0"/>
          <a:chExt cx="0" cy="0"/>
        </a:xfrm>
      </p:grpSpPr>
      <p:sp>
        <p:nvSpPr>
          <p:cNvPr id="95" name="Google Shape;95;ge4a04296_0113: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6" name="Google Shape;96;ge4a04296_011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p:cNvGrpSpPr/>
        <p:nvPr/>
      </p:nvGrpSpPr>
      <p:grpSpPr>
        <a:xfrm>
          <a:off x="0" y="0"/>
          <a:ext cx="0" cy="0"/>
          <a:chOff x="0" y="0"/>
          <a:chExt cx="0" cy="0"/>
        </a:xfrm>
      </p:grpSpPr>
      <p:sp>
        <p:nvSpPr>
          <p:cNvPr id="101" name="Google Shape;101;ge4a04296_0119: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2" name="Google Shape;102;ge4a04296_011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6"/>
        <p:cNvGrpSpPr/>
        <p:nvPr/>
      </p:nvGrpSpPr>
      <p:grpSpPr>
        <a:xfrm>
          <a:off x="0" y="0"/>
          <a:ext cx="0" cy="0"/>
          <a:chOff x="0" y="0"/>
          <a:chExt cx="0" cy="0"/>
        </a:xfrm>
      </p:grpSpPr>
      <p:sp>
        <p:nvSpPr>
          <p:cNvPr id="107" name="Google Shape;107;ge4a04296_0126: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8" name="Google Shape;108;ge4a04296_012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2"/>
        <p:cNvGrpSpPr/>
        <p:nvPr/>
      </p:nvGrpSpPr>
      <p:grpSpPr>
        <a:xfrm>
          <a:off x="0" y="0"/>
          <a:ext cx="0" cy="0"/>
          <a:chOff x="0" y="0"/>
          <a:chExt cx="0" cy="0"/>
        </a:xfrm>
      </p:grpSpPr>
      <p:sp>
        <p:nvSpPr>
          <p:cNvPr id="113" name="Google Shape;113;ge4a04296_0133: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4" name="Google Shape;114;ge4a04296_013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8"/>
        <p:cNvGrpSpPr/>
        <p:nvPr/>
      </p:nvGrpSpPr>
      <p:grpSpPr>
        <a:xfrm>
          <a:off x="0" y="0"/>
          <a:ext cx="0" cy="0"/>
          <a:chOff x="0" y="0"/>
          <a:chExt cx="0" cy="0"/>
        </a:xfrm>
      </p:grpSpPr>
      <p:sp>
        <p:nvSpPr>
          <p:cNvPr id="119" name="Google Shape;119;ge4a04296_0146: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0" name="Google Shape;120;ge4a04296_014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4"/>
        <p:cNvGrpSpPr/>
        <p:nvPr/>
      </p:nvGrpSpPr>
      <p:grpSpPr>
        <a:xfrm>
          <a:off x="0" y="0"/>
          <a:ext cx="0" cy="0"/>
          <a:chOff x="0" y="0"/>
          <a:chExt cx="0" cy="0"/>
        </a:xfrm>
      </p:grpSpPr>
      <p:sp>
        <p:nvSpPr>
          <p:cNvPr id="125" name="Google Shape;125;ge4a04296_0152: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6" name="Google Shape;126;ge4a04296_015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0"/>
        <p:cNvGrpSpPr/>
        <p:nvPr/>
      </p:nvGrpSpPr>
      <p:grpSpPr>
        <a:xfrm>
          <a:off x="0" y="0"/>
          <a:ext cx="0" cy="0"/>
          <a:chOff x="0" y="0"/>
          <a:chExt cx="0" cy="0"/>
        </a:xfrm>
      </p:grpSpPr>
      <p:sp>
        <p:nvSpPr>
          <p:cNvPr id="131" name="Google Shape;131;ge4a04296_0158: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2" name="Google Shape;132;ge4a04296_015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2"/>
        <p:cNvGrpSpPr/>
        <p:nvPr/>
      </p:nvGrpSpPr>
      <p:grpSpPr>
        <a:xfrm>
          <a:off x="0" y="0"/>
          <a:ext cx="0" cy="0"/>
          <a:chOff x="0" y="0"/>
          <a:chExt cx="0" cy="0"/>
        </a:xfrm>
      </p:grpSpPr>
      <p:sp>
        <p:nvSpPr>
          <p:cNvPr id="143" name="Google Shape;143;ge4a04296_0169: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4" name="Google Shape;144;ge4a04296_016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in favor of</a:t>
            </a:r>
            <a:endParaRPr dirty="0"/>
          </a:p>
        </p:txBody>
      </p:sp>
    </p:spTree>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6"/>
        <p:cNvGrpSpPr/>
        <p:nvPr/>
      </p:nvGrpSpPr>
      <p:grpSpPr>
        <a:xfrm>
          <a:off x="0" y="0"/>
          <a:ext cx="0" cy="0"/>
          <a:chOff x="0" y="0"/>
          <a:chExt cx="0" cy="0"/>
        </a:xfrm>
      </p:grpSpPr>
      <p:sp>
        <p:nvSpPr>
          <p:cNvPr id="137" name="Google Shape;137;g1726bf53b7_0_4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8" name="Google Shape;138;g1726bf53b7_0_4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8"/>
        <p:cNvGrpSpPr/>
        <p:nvPr/>
      </p:nvGrpSpPr>
      <p:grpSpPr>
        <a:xfrm>
          <a:off x="0" y="0"/>
          <a:ext cx="0" cy="0"/>
          <a:chOff x="0" y="0"/>
          <a:chExt cx="0" cy="0"/>
        </a:xfrm>
      </p:grpSpPr>
      <p:sp>
        <p:nvSpPr>
          <p:cNvPr id="9" name="Google Shape;9;p2"/>
          <p:cNvSpPr txBox="1">
            <a:spLocks noGrp="1"/>
          </p:cNvSpPr>
          <p:nvPr>
            <p:ph type="ctrTitle"/>
          </p:nvPr>
        </p:nvSpPr>
        <p:spPr>
          <a:xfrm>
            <a:off x="685800" y="2111123"/>
            <a:ext cx="7772400" cy="1546475"/>
          </a:xfrm>
          <a:prstGeom prst="rect">
            <a:avLst/>
          </a:prstGeom>
          <a:noFill/>
          <a:ln>
            <a:noFill/>
          </a:ln>
        </p:spPr>
        <p:txBody>
          <a:bodyPr spcFirstLastPara="1" wrap="square" lIns="91425" tIns="91425" rIns="91425" bIns="91425" anchor="b" anchorCtr="0">
            <a:noAutofit/>
          </a:bodyPr>
          <a:lstStyle>
            <a:lvl1pPr lvl="0" algn="ctr" rtl="0">
              <a:spcBef>
                <a:spcPts val="0"/>
              </a:spcBef>
              <a:spcAft>
                <a:spcPts val="0"/>
              </a:spcAft>
              <a:buClr>
                <a:schemeClr val="dk1"/>
              </a:buClr>
              <a:buSzPts val="4800"/>
              <a:buFont typeface="Arial"/>
              <a:buNone/>
              <a:defRPr sz="4800" b="1" i="0" u="none" strike="noStrike" cap="none">
                <a:solidFill>
                  <a:schemeClr val="dk1"/>
                </a:solidFill>
                <a:latin typeface="Arial"/>
                <a:ea typeface="Arial"/>
                <a:cs typeface="Arial"/>
                <a:sym typeface="Arial"/>
              </a:defRPr>
            </a:lvl1pPr>
            <a:lvl2pPr lvl="1" algn="ctr" rtl="0">
              <a:spcBef>
                <a:spcPts val="0"/>
              </a:spcBef>
              <a:spcAft>
                <a:spcPts val="0"/>
              </a:spcAft>
              <a:buClr>
                <a:schemeClr val="dk1"/>
              </a:buClr>
              <a:buSzPts val="4800"/>
              <a:buFont typeface="Arial"/>
              <a:buNone/>
              <a:defRPr sz="4800" b="1" i="0" u="none" strike="noStrike" cap="none">
                <a:solidFill>
                  <a:schemeClr val="dk1"/>
                </a:solidFill>
                <a:latin typeface="Arial"/>
                <a:ea typeface="Arial"/>
                <a:cs typeface="Arial"/>
                <a:sym typeface="Arial"/>
              </a:defRPr>
            </a:lvl2pPr>
            <a:lvl3pPr lvl="2" algn="ctr" rtl="0">
              <a:spcBef>
                <a:spcPts val="0"/>
              </a:spcBef>
              <a:spcAft>
                <a:spcPts val="0"/>
              </a:spcAft>
              <a:buClr>
                <a:schemeClr val="dk1"/>
              </a:buClr>
              <a:buSzPts val="4800"/>
              <a:buFont typeface="Arial"/>
              <a:buNone/>
              <a:defRPr sz="4800" b="1" i="0" u="none" strike="noStrike" cap="none">
                <a:solidFill>
                  <a:schemeClr val="dk1"/>
                </a:solidFill>
                <a:latin typeface="Arial"/>
                <a:ea typeface="Arial"/>
                <a:cs typeface="Arial"/>
                <a:sym typeface="Arial"/>
              </a:defRPr>
            </a:lvl3pPr>
            <a:lvl4pPr lvl="3" algn="ctr" rtl="0">
              <a:spcBef>
                <a:spcPts val="0"/>
              </a:spcBef>
              <a:spcAft>
                <a:spcPts val="0"/>
              </a:spcAft>
              <a:buClr>
                <a:schemeClr val="dk1"/>
              </a:buClr>
              <a:buSzPts val="4800"/>
              <a:buFont typeface="Arial"/>
              <a:buNone/>
              <a:defRPr sz="4800" b="1" i="0" u="none" strike="noStrike" cap="none">
                <a:solidFill>
                  <a:schemeClr val="dk1"/>
                </a:solidFill>
                <a:latin typeface="Arial"/>
                <a:ea typeface="Arial"/>
                <a:cs typeface="Arial"/>
                <a:sym typeface="Arial"/>
              </a:defRPr>
            </a:lvl4pPr>
            <a:lvl5pPr lvl="4" algn="ctr" rtl="0">
              <a:spcBef>
                <a:spcPts val="0"/>
              </a:spcBef>
              <a:spcAft>
                <a:spcPts val="0"/>
              </a:spcAft>
              <a:buClr>
                <a:schemeClr val="dk1"/>
              </a:buClr>
              <a:buSzPts val="4800"/>
              <a:buFont typeface="Arial"/>
              <a:buNone/>
              <a:defRPr sz="4800" b="1" i="0" u="none" strike="noStrike" cap="none">
                <a:solidFill>
                  <a:schemeClr val="dk1"/>
                </a:solidFill>
                <a:latin typeface="Arial"/>
                <a:ea typeface="Arial"/>
                <a:cs typeface="Arial"/>
                <a:sym typeface="Arial"/>
              </a:defRPr>
            </a:lvl5pPr>
            <a:lvl6pPr lvl="5" algn="ctr" rtl="0">
              <a:spcBef>
                <a:spcPts val="0"/>
              </a:spcBef>
              <a:spcAft>
                <a:spcPts val="0"/>
              </a:spcAft>
              <a:buClr>
                <a:schemeClr val="dk1"/>
              </a:buClr>
              <a:buSzPts val="4800"/>
              <a:buFont typeface="Arial"/>
              <a:buNone/>
              <a:defRPr sz="4800" b="1" i="0" u="none" strike="noStrike" cap="none">
                <a:solidFill>
                  <a:schemeClr val="dk1"/>
                </a:solidFill>
                <a:latin typeface="Arial"/>
                <a:ea typeface="Arial"/>
                <a:cs typeface="Arial"/>
                <a:sym typeface="Arial"/>
              </a:defRPr>
            </a:lvl6pPr>
            <a:lvl7pPr lvl="6" algn="ctr" rtl="0">
              <a:spcBef>
                <a:spcPts val="0"/>
              </a:spcBef>
              <a:spcAft>
                <a:spcPts val="0"/>
              </a:spcAft>
              <a:buClr>
                <a:schemeClr val="dk1"/>
              </a:buClr>
              <a:buSzPts val="4800"/>
              <a:buFont typeface="Arial"/>
              <a:buNone/>
              <a:defRPr sz="4800" b="1" i="0" u="none" strike="noStrike" cap="none">
                <a:solidFill>
                  <a:schemeClr val="dk1"/>
                </a:solidFill>
                <a:latin typeface="Arial"/>
                <a:ea typeface="Arial"/>
                <a:cs typeface="Arial"/>
                <a:sym typeface="Arial"/>
              </a:defRPr>
            </a:lvl7pPr>
            <a:lvl8pPr lvl="7" algn="ctr" rtl="0">
              <a:spcBef>
                <a:spcPts val="0"/>
              </a:spcBef>
              <a:spcAft>
                <a:spcPts val="0"/>
              </a:spcAft>
              <a:buClr>
                <a:schemeClr val="dk1"/>
              </a:buClr>
              <a:buSzPts val="4800"/>
              <a:buFont typeface="Arial"/>
              <a:buNone/>
              <a:defRPr sz="4800" b="1" i="0" u="none" strike="noStrike" cap="none">
                <a:solidFill>
                  <a:schemeClr val="dk1"/>
                </a:solidFill>
                <a:latin typeface="Arial"/>
                <a:ea typeface="Arial"/>
                <a:cs typeface="Arial"/>
                <a:sym typeface="Arial"/>
              </a:defRPr>
            </a:lvl8pPr>
            <a:lvl9pPr lvl="8" algn="ctr" rtl="0">
              <a:spcBef>
                <a:spcPts val="0"/>
              </a:spcBef>
              <a:spcAft>
                <a:spcPts val="0"/>
              </a:spcAft>
              <a:buClr>
                <a:schemeClr val="dk1"/>
              </a:buClr>
              <a:buSzPts val="4800"/>
              <a:buFont typeface="Arial"/>
              <a:buNone/>
              <a:defRPr sz="4800" b="1" i="0" u="none" strike="noStrike" cap="none">
                <a:solidFill>
                  <a:schemeClr val="dk1"/>
                </a:solidFill>
                <a:latin typeface="Arial"/>
                <a:ea typeface="Arial"/>
                <a:cs typeface="Arial"/>
                <a:sym typeface="Arial"/>
              </a:defRPr>
            </a:lvl9pPr>
          </a:lstStyle>
          <a:p>
            <a:endParaRPr/>
          </a:p>
        </p:txBody>
      </p:sp>
      <p:sp>
        <p:nvSpPr>
          <p:cNvPr id="10" name="Google Shape;10;p2"/>
          <p:cNvSpPr txBox="1">
            <a:spLocks noGrp="1"/>
          </p:cNvSpPr>
          <p:nvPr>
            <p:ph type="subTitle" idx="1"/>
          </p:nvPr>
        </p:nvSpPr>
        <p:spPr>
          <a:xfrm>
            <a:off x="685800" y="3786738"/>
            <a:ext cx="7772400" cy="1046317"/>
          </a:xfrm>
          <a:prstGeom prst="rect">
            <a:avLst/>
          </a:prstGeom>
          <a:noFill/>
          <a:ln>
            <a:noFill/>
          </a:ln>
        </p:spPr>
        <p:txBody>
          <a:bodyPr spcFirstLastPara="1" wrap="square" lIns="91425" tIns="91425" rIns="91425" bIns="91425" anchor="t" anchorCtr="0">
            <a:noAutofit/>
          </a:bodyPr>
          <a:lstStyle>
            <a:lvl1pPr lvl="0" algn="ctr" rtl="0">
              <a:lnSpc>
                <a:spcPct val="100000"/>
              </a:lnSpc>
              <a:spcBef>
                <a:spcPts val="0"/>
              </a:spcBef>
              <a:spcAft>
                <a:spcPts val="0"/>
              </a:spcAft>
              <a:buClr>
                <a:schemeClr val="dk2"/>
              </a:buClr>
              <a:buSzPts val="3000"/>
              <a:buFont typeface="Arial"/>
              <a:buNone/>
              <a:defRPr sz="3000" b="0" i="0" u="none" strike="noStrike" cap="none">
                <a:solidFill>
                  <a:schemeClr val="dk2"/>
                </a:solidFill>
                <a:latin typeface="Arial"/>
                <a:ea typeface="Arial"/>
                <a:cs typeface="Arial"/>
                <a:sym typeface="Arial"/>
              </a:defRPr>
            </a:lvl1pPr>
            <a:lvl2pPr lvl="1" algn="ctr" rtl="0">
              <a:lnSpc>
                <a:spcPct val="100000"/>
              </a:lnSpc>
              <a:spcBef>
                <a:spcPts val="0"/>
              </a:spcBef>
              <a:spcAft>
                <a:spcPts val="0"/>
              </a:spcAft>
              <a:buClr>
                <a:schemeClr val="dk2"/>
              </a:buClr>
              <a:buSzPts val="3000"/>
              <a:buFont typeface="Arial"/>
              <a:buNone/>
              <a:defRPr sz="3000" b="0" i="0" u="none" strike="noStrike" cap="none">
                <a:solidFill>
                  <a:schemeClr val="dk2"/>
                </a:solidFill>
                <a:latin typeface="Arial"/>
                <a:ea typeface="Arial"/>
                <a:cs typeface="Arial"/>
                <a:sym typeface="Arial"/>
              </a:defRPr>
            </a:lvl2pPr>
            <a:lvl3pPr lvl="2" algn="ctr" rtl="0">
              <a:lnSpc>
                <a:spcPct val="100000"/>
              </a:lnSpc>
              <a:spcBef>
                <a:spcPts val="0"/>
              </a:spcBef>
              <a:spcAft>
                <a:spcPts val="0"/>
              </a:spcAft>
              <a:buClr>
                <a:schemeClr val="dk2"/>
              </a:buClr>
              <a:buSzPts val="3000"/>
              <a:buFont typeface="Arial"/>
              <a:buNone/>
              <a:defRPr sz="3000" b="0" i="0" u="none" strike="noStrike" cap="none">
                <a:solidFill>
                  <a:schemeClr val="dk2"/>
                </a:solidFill>
                <a:latin typeface="Arial"/>
                <a:ea typeface="Arial"/>
                <a:cs typeface="Arial"/>
                <a:sym typeface="Arial"/>
              </a:defRPr>
            </a:lvl3pPr>
            <a:lvl4pPr lvl="3" algn="ctr" rtl="0">
              <a:lnSpc>
                <a:spcPct val="100000"/>
              </a:lnSpc>
              <a:spcBef>
                <a:spcPts val="0"/>
              </a:spcBef>
              <a:spcAft>
                <a:spcPts val="0"/>
              </a:spcAft>
              <a:buClr>
                <a:schemeClr val="dk2"/>
              </a:buClr>
              <a:buSzPts val="3000"/>
              <a:buFont typeface="Arial"/>
              <a:buNone/>
              <a:defRPr sz="3000" b="0" i="0" u="none" strike="noStrike" cap="none">
                <a:solidFill>
                  <a:schemeClr val="dk2"/>
                </a:solidFill>
                <a:latin typeface="Arial"/>
                <a:ea typeface="Arial"/>
                <a:cs typeface="Arial"/>
                <a:sym typeface="Arial"/>
              </a:defRPr>
            </a:lvl4pPr>
            <a:lvl5pPr lvl="4" algn="ctr" rtl="0">
              <a:lnSpc>
                <a:spcPct val="100000"/>
              </a:lnSpc>
              <a:spcBef>
                <a:spcPts val="0"/>
              </a:spcBef>
              <a:spcAft>
                <a:spcPts val="0"/>
              </a:spcAft>
              <a:buClr>
                <a:schemeClr val="dk2"/>
              </a:buClr>
              <a:buSzPts val="3000"/>
              <a:buFont typeface="Arial"/>
              <a:buNone/>
              <a:defRPr sz="3000" b="0" i="0" u="none" strike="noStrike" cap="none">
                <a:solidFill>
                  <a:schemeClr val="dk2"/>
                </a:solidFill>
                <a:latin typeface="Arial"/>
                <a:ea typeface="Arial"/>
                <a:cs typeface="Arial"/>
                <a:sym typeface="Arial"/>
              </a:defRPr>
            </a:lvl5pPr>
            <a:lvl6pPr lvl="5" algn="ctr" rtl="0">
              <a:lnSpc>
                <a:spcPct val="100000"/>
              </a:lnSpc>
              <a:spcBef>
                <a:spcPts val="0"/>
              </a:spcBef>
              <a:spcAft>
                <a:spcPts val="0"/>
              </a:spcAft>
              <a:buClr>
                <a:schemeClr val="dk2"/>
              </a:buClr>
              <a:buSzPts val="3000"/>
              <a:buFont typeface="Arial"/>
              <a:buNone/>
              <a:defRPr sz="3000" b="0" i="0" u="none" strike="noStrike" cap="none">
                <a:solidFill>
                  <a:schemeClr val="dk2"/>
                </a:solidFill>
                <a:latin typeface="Arial"/>
                <a:ea typeface="Arial"/>
                <a:cs typeface="Arial"/>
                <a:sym typeface="Arial"/>
              </a:defRPr>
            </a:lvl6pPr>
            <a:lvl7pPr lvl="6" algn="ctr" rtl="0">
              <a:lnSpc>
                <a:spcPct val="100000"/>
              </a:lnSpc>
              <a:spcBef>
                <a:spcPts val="0"/>
              </a:spcBef>
              <a:spcAft>
                <a:spcPts val="0"/>
              </a:spcAft>
              <a:buClr>
                <a:schemeClr val="dk2"/>
              </a:buClr>
              <a:buSzPts val="3000"/>
              <a:buFont typeface="Arial"/>
              <a:buNone/>
              <a:defRPr sz="3000" b="0" i="0" u="none" strike="noStrike" cap="none">
                <a:solidFill>
                  <a:schemeClr val="dk2"/>
                </a:solidFill>
                <a:latin typeface="Arial"/>
                <a:ea typeface="Arial"/>
                <a:cs typeface="Arial"/>
                <a:sym typeface="Arial"/>
              </a:defRPr>
            </a:lvl7pPr>
            <a:lvl8pPr lvl="7" algn="ctr" rtl="0">
              <a:lnSpc>
                <a:spcPct val="100000"/>
              </a:lnSpc>
              <a:spcBef>
                <a:spcPts val="0"/>
              </a:spcBef>
              <a:spcAft>
                <a:spcPts val="0"/>
              </a:spcAft>
              <a:buClr>
                <a:schemeClr val="dk2"/>
              </a:buClr>
              <a:buSzPts val="3000"/>
              <a:buFont typeface="Arial"/>
              <a:buNone/>
              <a:defRPr sz="3000" b="0" i="0" u="none" strike="noStrike" cap="none">
                <a:solidFill>
                  <a:schemeClr val="dk2"/>
                </a:solidFill>
                <a:latin typeface="Arial"/>
                <a:ea typeface="Arial"/>
                <a:cs typeface="Arial"/>
                <a:sym typeface="Arial"/>
              </a:defRPr>
            </a:lvl8pPr>
            <a:lvl9pPr lvl="8" algn="ctr" rtl="0">
              <a:lnSpc>
                <a:spcPct val="100000"/>
              </a:lnSpc>
              <a:spcBef>
                <a:spcPts val="0"/>
              </a:spcBef>
              <a:spcAft>
                <a:spcPts val="0"/>
              </a:spcAft>
              <a:buClr>
                <a:schemeClr val="dk2"/>
              </a:buClr>
              <a:buSzPts val="3000"/>
              <a:buFont typeface="Arial"/>
              <a:buNone/>
              <a:defRPr sz="3000" b="0" i="0" u="none" strike="noStrike" cap="none">
                <a:solidFill>
                  <a:schemeClr val="dk2"/>
                </a:solidFill>
                <a:latin typeface="Arial"/>
                <a:ea typeface="Arial"/>
                <a:cs typeface="Arial"/>
                <a:sym typeface="Arial"/>
              </a:defRPr>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1"/>
        <p:cNvGrpSpPr/>
        <p:nvPr/>
      </p:nvGrpSpPr>
      <p:grpSpPr>
        <a:xfrm>
          <a:off x="0" y="0"/>
          <a:ext cx="0" cy="0"/>
          <a:chOff x="0" y="0"/>
          <a:chExt cx="0" cy="0"/>
        </a:xfrm>
      </p:grpSpPr>
      <p:sp>
        <p:nvSpPr>
          <p:cNvPr id="12" name="Google Shape;12;p3"/>
          <p:cNvSpPr txBox="1">
            <a:spLocks noGrp="1"/>
          </p:cNvSpPr>
          <p:nvPr>
            <p:ph type="title"/>
          </p:nvPr>
        </p:nvSpPr>
        <p:spPr>
          <a:xfrm>
            <a:off x="457200" y="274638"/>
            <a:ext cx="8229600" cy="1143000"/>
          </a:xfrm>
          <a:prstGeom prst="rect">
            <a:avLst/>
          </a:prstGeom>
          <a:noFill/>
          <a:ln>
            <a:noFill/>
          </a:ln>
        </p:spPr>
        <p:txBody>
          <a:bodyPr spcFirstLastPara="1" wrap="square" lIns="91425" tIns="91425" rIns="91425" bIns="91425" anchor="b" anchorCtr="0">
            <a:noAutofit/>
          </a:bodyPr>
          <a:lstStyle>
            <a:lvl1pPr lvl="0" algn="l" rtl="0">
              <a:spcBef>
                <a:spcPts val="0"/>
              </a:spcBef>
              <a:spcAft>
                <a:spcPts val="0"/>
              </a:spcAft>
              <a:buSzPts val="3600"/>
              <a:buFont typeface="Arial"/>
              <a:buNone/>
              <a:defRPr sz="3600" b="1">
                <a:solidFill>
                  <a:schemeClr val="dk1"/>
                </a:solidFill>
                <a:latin typeface="Arial"/>
                <a:ea typeface="Arial"/>
                <a:cs typeface="Arial"/>
                <a:sym typeface="Arial"/>
              </a:defRPr>
            </a:lvl1pPr>
            <a:lvl2pPr lvl="1" algn="l" rtl="0">
              <a:spcBef>
                <a:spcPts val="0"/>
              </a:spcBef>
              <a:spcAft>
                <a:spcPts val="0"/>
              </a:spcAft>
              <a:buSzPts val="3600"/>
              <a:buFont typeface="Arial"/>
              <a:buNone/>
              <a:defRPr sz="3600" b="1">
                <a:solidFill>
                  <a:schemeClr val="dk1"/>
                </a:solidFill>
                <a:latin typeface="Arial"/>
                <a:ea typeface="Arial"/>
                <a:cs typeface="Arial"/>
                <a:sym typeface="Arial"/>
              </a:defRPr>
            </a:lvl2pPr>
            <a:lvl3pPr lvl="2" algn="l" rtl="0">
              <a:spcBef>
                <a:spcPts val="0"/>
              </a:spcBef>
              <a:spcAft>
                <a:spcPts val="0"/>
              </a:spcAft>
              <a:buSzPts val="3600"/>
              <a:buFont typeface="Arial"/>
              <a:buNone/>
              <a:defRPr sz="3600" b="1">
                <a:solidFill>
                  <a:schemeClr val="dk1"/>
                </a:solidFill>
                <a:latin typeface="Arial"/>
                <a:ea typeface="Arial"/>
                <a:cs typeface="Arial"/>
                <a:sym typeface="Arial"/>
              </a:defRPr>
            </a:lvl3pPr>
            <a:lvl4pPr lvl="3" algn="l" rtl="0">
              <a:spcBef>
                <a:spcPts val="0"/>
              </a:spcBef>
              <a:spcAft>
                <a:spcPts val="0"/>
              </a:spcAft>
              <a:buSzPts val="3600"/>
              <a:buFont typeface="Arial"/>
              <a:buNone/>
              <a:defRPr sz="3600" b="1">
                <a:solidFill>
                  <a:schemeClr val="dk1"/>
                </a:solidFill>
                <a:latin typeface="Arial"/>
                <a:ea typeface="Arial"/>
                <a:cs typeface="Arial"/>
                <a:sym typeface="Arial"/>
              </a:defRPr>
            </a:lvl4pPr>
            <a:lvl5pPr lvl="4" algn="l" rtl="0">
              <a:spcBef>
                <a:spcPts val="0"/>
              </a:spcBef>
              <a:spcAft>
                <a:spcPts val="0"/>
              </a:spcAft>
              <a:buSzPts val="3600"/>
              <a:buFont typeface="Arial"/>
              <a:buNone/>
              <a:defRPr sz="3600" b="1">
                <a:solidFill>
                  <a:schemeClr val="dk1"/>
                </a:solidFill>
                <a:latin typeface="Arial"/>
                <a:ea typeface="Arial"/>
                <a:cs typeface="Arial"/>
                <a:sym typeface="Arial"/>
              </a:defRPr>
            </a:lvl5pPr>
            <a:lvl6pPr lvl="5" algn="l" rtl="0">
              <a:spcBef>
                <a:spcPts val="0"/>
              </a:spcBef>
              <a:spcAft>
                <a:spcPts val="0"/>
              </a:spcAft>
              <a:buSzPts val="3600"/>
              <a:buFont typeface="Arial"/>
              <a:buNone/>
              <a:defRPr sz="3600" b="1">
                <a:solidFill>
                  <a:schemeClr val="dk1"/>
                </a:solidFill>
                <a:latin typeface="Arial"/>
                <a:ea typeface="Arial"/>
                <a:cs typeface="Arial"/>
                <a:sym typeface="Arial"/>
              </a:defRPr>
            </a:lvl6pPr>
            <a:lvl7pPr lvl="6" algn="l" rtl="0">
              <a:spcBef>
                <a:spcPts val="0"/>
              </a:spcBef>
              <a:spcAft>
                <a:spcPts val="0"/>
              </a:spcAft>
              <a:buSzPts val="3600"/>
              <a:buFont typeface="Arial"/>
              <a:buNone/>
              <a:defRPr sz="3600" b="1">
                <a:solidFill>
                  <a:schemeClr val="dk1"/>
                </a:solidFill>
                <a:latin typeface="Arial"/>
                <a:ea typeface="Arial"/>
                <a:cs typeface="Arial"/>
                <a:sym typeface="Arial"/>
              </a:defRPr>
            </a:lvl7pPr>
            <a:lvl8pPr lvl="7" algn="l" rtl="0">
              <a:spcBef>
                <a:spcPts val="0"/>
              </a:spcBef>
              <a:spcAft>
                <a:spcPts val="0"/>
              </a:spcAft>
              <a:buSzPts val="3600"/>
              <a:buFont typeface="Arial"/>
              <a:buNone/>
              <a:defRPr sz="3600" b="1">
                <a:solidFill>
                  <a:schemeClr val="dk1"/>
                </a:solidFill>
                <a:latin typeface="Arial"/>
                <a:ea typeface="Arial"/>
                <a:cs typeface="Arial"/>
                <a:sym typeface="Arial"/>
              </a:defRPr>
            </a:lvl8pPr>
            <a:lvl9pPr lvl="8" algn="l" rtl="0">
              <a:spcBef>
                <a:spcPts val="0"/>
              </a:spcBef>
              <a:spcAft>
                <a:spcPts val="0"/>
              </a:spcAft>
              <a:buSzPts val="3600"/>
              <a:buFont typeface="Arial"/>
              <a:buNone/>
              <a:defRPr sz="3600" b="1">
                <a:solidFill>
                  <a:schemeClr val="dk1"/>
                </a:solidFill>
                <a:latin typeface="Arial"/>
                <a:ea typeface="Arial"/>
                <a:cs typeface="Arial"/>
                <a:sym typeface="Arial"/>
              </a:defRPr>
            </a:lvl9pPr>
          </a:lstStyle>
          <a:p>
            <a:endParaRPr/>
          </a:p>
        </p:txBody>
      </p:sp>
      <p:sp>
        <p:nvSpPr>
          <p:cNvPr id="13" name="Google Shape;13;p3"/>
          <p:cNvSpPr txBox="1">
            <a:spLocks noGrp="1"/>
          </p:cNvSpPr>
          <p:nvPr>
            <p:ph type="body" idx="1"/>
          </p:nvPr>
        </p:nvSpPr>
        <p:spPr>
          <a:xfrm>
            <a:off x="457200" y="1600200"/>
            <a:ext cx="8229600" cy="4967574"/>
          </a:xfrm>
          <a:prstGeom prst="rect">
            <a:avLst/>
          </a:prstGeom>
          <a:noFill/>
          <a:ln>
            <a:noFill/>
          </a:ln>
        </p:spPr>
        <p:txBody>
          <a:bodyPr spcFirstLastPara="1" wrap="square" lIns="91425" tIns="91425" rIns="91425" bIns="91425" anchor="t" anchorCtr="0">
            <a:noAutofit/>
          </a:bodyPr>
          <a:lstStyle>
            <a:lvl1pPr marL="457200" lvl="0" indent="-419100" rtl="0">
              <a:spcBef>
                <a:spcPts val="600"/>
              </a:spcBef>
              <a:spcAft>
                <a:spcPts val="0"/>
              </a:spcAft>
              <a:buSzPts val="3000"/>
              <a:buChar char="●"/>
              <a:defRPr/>
            </a:lvl1pPr>
            <a:lvl2pPr marL="914400" lvl="1" indent="-381000" rtl="0">
              <a:spcBef>
                <a:spcPts val="0"/>
              </a:spcBef>
              <a:spcAft>
                <a:spcPts val="0"/>
              </a:spcAft>
              <a:buSzPts val="2400"/>
              <a:buChar char="○"/>
              <a:defRPr/>
            </a:lvl2pPr>
            <a:lvl3pPr marL="1371600" lvl="2" indent="-381000" rtl="0">
              <a:spcBef>
                <a:spcPts val="0"/>
              </a:spcBef>
              <a:spcAft>
                <a:spcPts val="0"/>
              </a:spcAft>
              <a:buSzPts val="2400"/>
              <a:buChar char="■"/>
              <a:defRPr/>
            </a:lvl3pPr>
            <a:lvl4pPr marL="1828800" lvl="3" indent="-342900" rtl="0">
              <a:spcBef>
                <a:spcPts val="0"/>
              </a:spcBef>
              <a:spcAft>
                <a:spcPts val="0"/>
              </a:spcAft>
              <a:buSzPts val="1800"/>
              <a:buChar char="●"/>
              <a:defRPr/>
            </a:lvl4pPr>
            <a:lvl5pPr marL="2286000" lvl="4" indent="-342900" rtl="0">
              <a:spcBef>
                <a:spcPts val="0"/>
              </a:spcBef>
              <a:spcAft>
                <a:spcPts val="0"/>
              </a:spcAft>
              <a:buSzPts val="1800"/>
              <a:buChar char="○"/>
              <a:defRPr sz="1800"/>
            </a:lvl5pPr>
            <a:lvl6pPr marL="2743200" lvl="5" indent="-342900" rtl="0">
              <a:spcBef>
                <a:spcPts val="0"/>
              </a:spcBef>
              <a:spcAft>
                <a:spcPts val="0"/>
              </a:spcAft>
              <a:buSzPts val="1800"/>
              <a:buChar char="■"/>
              <a:defRPr sz="1800"/>
            </a:lvl6pPr>
            <a:lvl7pPr marL="3200400" lvl="6" indent="-342900" rtl="0">
              <a:spcBef>
                <a:spcPts val="0"/>
              </a:spcBef>
              <a:spcAft>
                <a:spcPts val="0"/>
              </a:spcAft>
              <a:buSzPts val="1800"/>
              <a:buChar char="●"/>
              <a:defRPr sz="1800"/>
            </a:lvl7pPr>
            <a:lvl8pPr marL="3657600" lvl="7" indent="-342900" rtl="0">
              <a:spcBef>
                <a:spcPts val="0"/>
              </a:spcBef>
              <a:spcAft>
                <a:spcPts val="0"/>
              </a:spcAft>
              <a:buSzPts val="1800"/>
              <a:buChar char="○"/>
              <a:defRPr sz="1800"/>
            </a:lvl8pPr>
            <a:lvl9pPr marL="4114800" lvl="8" indent="-342900" rtl="0">
              <a:spcBef>
                <a:spcPts val="0"/>
              </a:spcBef>
              <a:spcAft>
                <a:spcPts val="0"/>
              </a:spcAft>
              <a:buSzPts val="1800"/>
              <a:buChar char="■"/>
              <a:defRPr sz="1800"/>
            </a:lvl9pPr>
          </a:lstStyle>
          <a:p>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14"/>
        <p:cNvGrpSpPr/>
        <p:nvPr/>
      </p:nvGrpSpPr>
      <p:grpSpPr>
        <a:xfrm>
          <a:off x="0" y="0"/>
          <a:ext cx="0" cy="0"/>
          <a:chOff x="0" y="0"/>
          <a:chExt cx="0" cy="0"/>
        </a:xfrm>
      </p:grpSpPr>
      <p:sp>
        <p:nvSpPr>
          <p:cNvPr id="15" name="Google Shape;15;p4"/>
          <p:cNvSpPr txBox="1">
            <a:spLocks noGrp="1"/>
          </p:cNvSpPr>
          <p:nvPr>
            <p:ph type="title"/>
          </p:nvPr>
        </p:nvSpPr>
        <p:spPr>
          <a:xfrm>
            <a:off x="457200" y="274638"/>
            <a:ext cx="8229600" cy="1143000"/>
          </a:xfrm>
          <a:prstGeom prst="rect">
            <a:avLst/>
          </a:prstGeom>
          <a:noFill/>
          <a:ln>
            <a:noFill/>
          </a:ln>
        </p:spPr>
        <p:txBody>
          <a:bodyPr spcFirstLastPara="1" wrap="square" lIns="91425" tIns="91425" rIns="91425" bIns="91425" anchor="b" anchorCtr="0">
            <a:noAutofit/>
          </a:bodyPr>
          <a:lstStyle>
            <a:lvl1pPr lvl="0" algn="l" rtl="0">
              <a:spcBef>
                <a:spcPts val="0"/>
              </a:spcBef>
              <a:spcAft>
                <a:spcPts val="0"/>
              </a:spcAft>
              <a:buSzPts val="3600"/>
              <a:buFont typeface="Arial"/>
              <a:buNone/>
              <a:defRPr sz="3600" b="1">
                <a:solidFill>
                  <a:schemeClr val="dk1"/>
                </a:solidFill>
                <a:latin typeface="Arial"/>
                <a:ea typeface="Arial"/>
                <a:cs typeface="Arial"/>
                <a:sym typeface="Arial"/>
              </a:defRPr>
            </a:lvl1pPr>
            <a:lvl2pPr lvl="1" algn="l" rtl="0">
              <a:spcBef>
                <a:spcPts val="0"/>
              </a:spcBef>
              <a:spcAft>
                <a:spcPts val="0"/>
              </a:spcAft>
              <a:buSzPts val="3600"/>
              <a:buFont typeface="Arial"/>
              <a:buNone/>
              <a:defRPr sz="3600" b="1">
                <a:solidFill>
                  <a:schemeClr val="dk1"/>
                </a:solidFill>
                <a:latin typeface="Arial"/>
                <a:ea typeface="Arial"/>
                <a:cs typeface="Arial"/>
                <a:sym typeface="Arial"/>
              </a:defRPr>
            </a:lvl2pPr>
            <a:lvl3pPr lvl="2" algn="l" rtl="0">
              <a:spcBef>
                <a:spcPts val="0"/>
              </a:spcBef>
              <a:spcAft>
                <a:spcPts val="0"/>
              </a:spcAft>
              <a:buSzPts val="3600"/>
              <a:buFont typeface="Arial"/>
              <a:buNone/>
              <a:defRPr sz="3600" b="1">
                <a:solidFill>
                  <a:schemeClr val="dk1"/>
                </a:solidFill>
                <a:latin typeface="Arial"/>
                <a:ea typeface="Arial"/>
                <a:cs typeface="Arial"/>
                <a:sym typeface="Arial"/>
              </a:defRPr>
            </a:lvl3pPr>
            <a:lvl4pPr lvl="3" algn="l" rtl="0">
              <a:spcBef>
                <a:spcPts val="0"/>
              </a:spcBef>
              <a:spcAft>
                <a:spcPts val="0"/>
              </a:spcAft>
              <a:buSzPts val="3600"/>
              <a:buFont typeface="Arial"/>
              <a:buNone/>
              <a:defRPr sz="3600" b="1">
                <a:solidFill>
                  <a:schemeClr val="dk1"/>
                </a:solidFill>
                <a:latin typeface="Arial"/>
                <a:ea typeface="Arial"/>
                <a:cs typeface="Arial"/>
                <a:sym typeface="Arial"/>
              </a:defRPr>
            </a:lvl4pPr>
            <a:lvl5pPr lvl="4" algn="l" rtl="0">
              <a:spcBef>
                <a:spcPts val="0"/>
              </a:spcBef>
              <a:spcAft>
                <a:spcPts val="0"/>
              </a:spcAft>
              <a:buSzPts val="3600"/>
              <a:buFont typeface="Arial"/>
              <a:buNone/>
              <a:defRPr sz="3600" b="1">
                <a:solidFill>
                  <a:schemeClr val="dk1"/>
                </a:solidFill>
                <a:latin typeface="Arial"/>
                <a:ea typeface="Arial"/>
                <a:cs typeface="Arial"/>
                <a:sym typeface="Arial"/>
              </a:defRPr>
            </a:lvl5pPr>
            <a:lvl6pPr lvl="5" algn="l" rtl="0">
              <a:spcBef>
                <a:spcPts val="0"/>
              </a:spcBef>
              <a:spcAft>
                <a:spcPts val="0"/>
              </a:spcAft>
              <a:buSzPts val="3600"/>
              <a:buFont typeface="Arial"/>
              <a:buNone/>
              <a:defRPr sz="3600" b="1">
                <a:solidFill>
                  <a:schemeClr val="dk1"/>
                </a:solidFill>
                <a:latin typeface="Arial"/>
                <a:ea typeface="Arial"/>
                <a:cs typeface="Arial"/>
                <a:sym typeface="Arial"/>
              </a:defRPr>
            </a:lvl6pPr>
            <a:lvl7pPr lvl="6" algn="l" rtl="0">
              <a:spcBef>
                <a:spcPts val="0"/>
              </a:spcBef>
              <a:spcAft>
                <a:spcPts val="0"/>
              </a:spcAft>
              <a:buSzPts val="3600"/>
              <a:buFont typeface="Arial"/>
              <a:buNone/>
              <a:defRPr sz="3600" b="1">
                <a:solidFill>
                  <a:schemeClr val="dk1"/>
                </a:solidFill>
                <a:latin typeface="Arial"/>
                <a:ea typeface="Arial"/>
                <a:cs typeface="Arial"/>
                <a:sym typeface="Arial"/>
              </a:defRPr>
            </a:lvl7pPr>
            <a:lvl8pPr lvl="7" algn="l" rtl="0">
              <a:spcBef>
                <a:spcPts val="0"/>
              </a:spcBef>
              <a:spcAft>
                <a:spcPts val="0"/>
              </a:spcAft>
              <a:buSzPts val="3600"/>
              <a:buFont typeface="Arial"/>
              <a:buNone/>
              <a:defRPr sz="3600" b="1">
                <a:solidFill>
                  <a:schemeClr val="dk1"/>
                </a:solidFill>
                <a:latin typeface="Arial"/>
                <a:ea typeface="Arial"/>
                <a:cs typeface="Arial"/>
                <a:sym typeface="Arial"/>
              </a:defRPr>
            </a:lvl8pPr>
            <a:lvl9pPr lvl="8" algn="l" rtl="0">
              <a:spcBef>
                <a:spcPts val="0"/>
              </a:spcBef>
              <a:spcAft>
                <a:spcPts val="0"/>
              </a:spcAft>
              <a:buSzPts val="3600"/>
              <a:buFont typeface="Arial"/>
              <a:buNone/>
              <a:defRPr sz="3600" b="1">
                <a:solidFill>
                  <a:schemeClr val="dk1"/>
                </a:solidFill>
                <a:latin typeface="Arial"/>
                <a:ea typeface="Arial"/>
                <a:cs typeface="Arial"/>
                <a:sym typeface="Arial"/>
              </a:defRPr>
            </a:lvl9pPr>
          </a:lstStyle>
          <a:p>
            <a:endParaRPr/>
          </a:p>
        </p:txBody>
      </p:sp>
      <p:sp>
        <p:nvSpPr>
          <p:cNvPr id="16" name="Google Shape;16;p4"/>
          <p:cNvSpPr txBox="1">
            <a:spLocks noGrp="1"/>
          </p:cNvSpPr>
          <p:nvPr>
            <p:ph type="body" idx="1"/>
          </p:nvPr>
        </p:nvSpPr>
        <p:spPr>
          <a:xfrm>
            <a:off x="457200" y="1600200"/>
            <a:ext cx="3994526" cy="4967574"/>
          </a:xfrm>
          <a:prstGeom prst="rect">
            <a:avLst/>
          </a:prstGeom>
          <a:noFill/>
          <a:ln>
            <a:noFill/>
          </a:ln>
        </p:spPr>
        <p:txBody>
          <a:bodyPr spcFirstLastPara="1" wrap="square" lIns="91425" tIns="91425" rIns="91425" bIns="91425" anchor="t" anchorCtr="0">
            <a:noAutofit/>
          </a:bodyPr>
          <a:lstStyle>
            <a:lvl1pPr marL="457200" lvl="0" indent="-419100" rtl="0">
              <a:spcBef>
                <a:spcPts val="600"/>
              </a:spcBef>
              <a:spcAft>
                <a:spcPts val="0"/>
              </a:spcAft>
              <a:buSzPts val="3000"/>
              <a:buChar char="●"/>
              <a:defRPr/>
            </a:lvl1pPr>
            <a:lvl2pPr marL="914400" lvl="1" indent="-381000" rtl="0">
              <a:spcBef>
                <a:spcPts val="0"/>
              </a:spcBef>
              <a:spcAft>
                <a:spcPts val="0"/>
              </a:spcAft>
              <a:buSzPts val="2400"/>
              <a:buChar char="○"/>
              <a:defRPr/>
            </a:lvl2pPr>
            <a:lvl3pPr marL="1371600" lvl="2" indent="-381000" rtl="0">
              <a:spcBef>
                <a:spcPts val="0"/>
              </a:spcBef>
              <a:spcAft>
                <a:spcPts val="0"/>
              </a:spcAft>
              <a:buSzPts val="2400"/>
              <a:buChar char="■"/>
              <a:defRPr/>
            </a:lvl3pPr>
            <a:lvl4pPr marL="1828800" lvl="3" indent="-342900" rtl="0">
              <a:spcBef>
                <a:spcPts val="0"/>
              </a:spcBef>
              <a:spcAft>
                <a:spcPts val="0"/>
              </a:spcAft>
              <a:buSzPts val="1800"/>
              <a:buChar char="●"/>
              <a:defRPr/>
            </a:lvl4pPr>
            <a:lvl5pPr marL="2286000" lvl="4" indent="-342900" rtl="0">
              <a:spcBef>
                <a:spcPts val="0"/>
              </a:spcBef>
              <a:spcAft>
                <a:spcPts val="0"/>
              </a:spcAft>
              <a:buSzPts val="1800"/>
              <a:buChar char="○"/>
              <a:defRPr sz="1800"/>
            </a:lvl5pPr>
            <a:lvl6pPr marL="2743200" lvl="5" indent="-342900" rtl="0">
              <a:spcBef>
                <a:spcPts val="0"/>
              </a:spcBef>
              <a:spcAft>
                <a:spcPts val="0"/>
              </a:spcAft>
              <a:buSzPts val="1800"/>
              <a:buChar char="■"/>
              <a:defRPr sz="1800"/>
            </a:lvl6pPr>
            <a:lvl7pPr marL="3200400" lvl="6" indent="-342900" rtl="0">
              <a:spcBef>
                <a:spcPts val="0"/>
              </a:spcBef>
              <a:spcAft>
                <a:spcPts val="0"/>
              </a:spcAft>
              <a:buSzPts val="1800"/>
              <a:buChar char="●"/>
              <a:defRPr sz="1800"/>
            </a:lvl7pPr>
            <a:lvl8pPr marL="3657600" lvl="7" indent="-342900" rtl="0">
              <a:spcBef>
                <a:spcPts val="0"/>
              </a:spcBef>
              <a:spcAft>
                <a:spcPts val="0"/>
              </a:spcAft>
              <a:buSzPts val="1800"/>
              <a:buChar char="○"/>
              <a:defRPr sz="1800"/>
            </a:lvl8pPr>
            <a:lvl9pPr marL="4114800" lvl="8" indent="-342900" rtl="0">
              <a:spcBef>
                <a:spcPts val="0"/>
              </a:spcBef>
              <a:spcAft>
                <a:spcPts val="0"/>
              </a:spcAft>
              <a:buSzPts val="1800"/>
              <a:buChar char="■"/>
              <a:defRPr sz="1800"/>
            </a:lvl9pPr>
          </a:lstStyle>
          <a:p>
            <a:endParaRPr/>
          </a:p>
        </p:txBody>
      </p:sp>
      <p:sp>
        <p:nvSpPr>
          <p:cNvPr id="17" name="Google Shape;17;p4"/>
          <p:cNvSpPr txBox="1">
            <a:spLocks noGrp="1"/>
          </p:cNvSpPr>
          <p:nvPr>
            <p:ph type="body" idx="2"/>
          </p:nvPr>
        </p:nvSpPr>
        <p:spPr>
          <a:xfrm>
            <a:off x="4692274" y="1600200"/>
            <a:ext cx="3994526" cy="4967574"/>
          </a:xfrm>
          <a:prstGeom prst="rect">
            <a:avLst/>
          </a:prstGeom>
          <a:noFill/>
          <a:ln>
            <a:noFill/>
          </a:ln>
        </p:spPr>
        <p:txBody>
          <a:bodyPr spcFirstLastPara="1" wrap="square" lIns="91425" tIns="91425" rIns="91425" bIns="91425" anchor="t" anchorCtr="0">
            <a:noAutofit/>
          </a:bodyPr>
          <a:lstStyle>
            <a:lvl1pPr marL="457200" lvl="0" indent="-419100" rtl="0">
              <a:spcBef>
                <a:spcPts val="600"/>
              </a:spcBef>
              <a:spcAft>
                <a:spcPts val="0"/>
              </a:spcAft>
              <a:buSzPts val="3000"/>
              <a:buChar char="●"/>
              <a:defRPr/>
            </a:lvl1pPr>
            <a:lvl2pPr marL="914400" lvl="1" indent="-381000" rtl="0">
              <a:spcBef>
                <a:spcPts val="0"/>
              </a:spcBef>
              <a:spcAft>
                <a:spcPts val="0"/>
              </a:spcAft>
              <a:buSzPts val="2400"/>
              <a:buChar char="○"/>
              <a:defRPr/>
            </a:lvl2pPr>
            <a:lvl3pPr marL="1371600" lvl="2" indent="-381000" rtl="0">
              <a:spcBef>
                <a:spcPts val="0"/>
              </a:spcBef>
              <a:spcAft>
                <a:spcPts val="0"/>
              </a:spcAft>
              <a:buSzPts val="2400"/>
              <a:buChar char="■"/>
              <a:defRPr/>
            </a:lvl3pPr>
            <a:lvl4pPr marL="1828800" lvl="3" indent="-342900" rtl="0">
              <a:spcBef>
                <a:spcPts val="0"/>
              </a:spcBef>
              <a:spcAft>
                <a:spcPts val="0"/>
              </a:spcAft>
              <a:buSzPts val="1800"/>
              <a:buChar char="●"/>
              <a:defRPr/>
            </a:lvl4pPr>
            <a:lvl5pPr marL="2286000" lvl="4" indent="-342900" rtl="0">
              <a:spcBef>
                <a:spcPts val="0"/>
              </a:spcBef>
              <a:spcAft>
                <a:spcPts val="0"/>
              </a:spcAft>
              <a:buSzPts val="1800"/>
              <a:buChar char="○"/>
              <a:defRPr sz="1800"/>
            </a:lvl5pPr>
            <a:lvl6pPr marL="2743200" lvl="5" indent="-342900" rtl="0">
              <a:spcBef>
                <a:spcPts val="0"/>
              </a:spcBef>
              <a:spcAft>
                <a:spcPts val="0"/>
              </a:spcAft>
              <a:buSzPts val="1800"/>
              <a:buChar char="■"/>
              <a:defRPr sz="1800"/>
            </a:lvl6pPr>
            <a:lvl7pPr marL="3200400" lvl="6" indent="-342900" rtl="0">
              <a:spcBef>
                <a:spcPts val="0"/>
              </a:spcBef>
              <a:spcAft>
                <a:spcPts val="0"/>
              </a:spcAft>
              <a:buSzPts val="1800"/>
              <a:buChar char="●"/>
              <a:defRPr sz="1800"/>
            </a:lvl7pPr>
            <a:lvl8pPr marL="3657600" lvl="7" indent="-342900" rtl="0">
              <a:spcBef>
                <a:spcPts val="0"/>
              </a:spcBef>
              <a:spcAft>
                <a:spcPts val="0"/>
              </a:spcAft>
              <a:buSzPts val="1800"/>
              <a:buChar char="○"/>
              <a:defRPr sz="1800"/>
            </a:lvl8pPr>
            <a:lvl9pPr marL="4114800" lvl="8" indent="-342900" rtl="0">
              <a:spcBef>
                <a:spcPts val="0"/>
              </a:spcBef>
              <a:spcAft>
                <a:spcPts val="0"/>
              </a:spcAft>
              <a:buSzPts val="1800"/>
              <a:buChar char="■"/>
              <a:defRPr sz="1800"/>
            </a:lvl9pPr>
          </a:lstStyle>
          <a:p>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18"/>
        <p:cNvGrpSpPr/>
        <p:nvPr/>
      </p:nvGrpSpPr>
      <p:grpSpPr>
        <a:xfrm>
          <a:off x="0" y="0"/>
          <a:ext cx="0" cy="0"/>
          <a:chOff x="0" y="0"/>
          <a:chExt cx="0" cy="0"/>
        </a:xfrm>
      </p:grpSpPr>
      <p:sp>
        <p:nvSpPr>
          <p:cNvPr id="19" name="Google Shape;19;p5"/>
          <p:cNvSpPr txBox="1">
            <a:spLocks noGrp="1"/>
          </p:cNvSpPr>
          <p:nvPr>
            <p:ph type="title"/>
          </p:nvPr>
        </p:nvSpPr>
        <p:spPr>
          <a:xfrm>
            <a:off x="457200" y="274638"/>
            <a:ext cx="8229600" cy="1143000"/>
          </a:xfrm>
          <a:prstGeom prst="rect">
            <a:avLst/>
          </a:prstGeom>
          <a:noFill/>
          <a:ln>
            <a:noFill/>
          </a:ln>
        </p:spPr>
        <p:txBody>
          <a:bodyPr spcFirstLastPara="1" wrap="square" lIns="91425" tIns="91425" rIns="91425" bIns="91425" anchor="b" anchorCtr="0">
            <a:noAutofit/>
          </a:bodyPr>
          <a:lstStyle>
            <a:lvl1pPr lvl="0" algn="l" rtl="0">
              <a:spcBef>
                <a:spcPts val="0"/>
              </a:spcBef>
              <a:spcAft>
                <a:spcPts val="0"/>
              </a:spcAft>
              <a:buSzPts val="3600"/>
              <a:buFont typeface="Arial"/>
              <a:buNone/>
              <a:defRPr sz="3600" b="1">
                <a:solidFill>
                  <a:schemeClr val="dk1"/>
                </a:solidFill>
                <a:latin typeface="Arial"/>
                <a:ea typeface="Arial"/>
                <a:cs typeface="Arial"/>
                <a:sym typeface="Arial"/>
              </a:defRPr>
            </a:lvl1pPr>
            <a:lvl2pPr lvl="1" algn="l" rtl="0">
              <a:spcBef>
                <a:spcPts val="0"/>
              </a:spcBef>
              <a:spcAft>
                <a:spcPts val="0"/>
              </a:spcAft>
              <a:buSzPts val="3600"/>
              <a:buFont typeface="Arial"/>
              <a:buNone/>
              <a:defRPr sz="3600" b="1">
                <a:solidFill>
                  <a:schemeClr val="dk1"/>
                </a:solidFill>
                <a:latin typeface="Arial"/>
                <a:ea typeface="Arial"/>
                <a:cs typeface="Arial"/>
                <a:sym typeface="Arial"/>
              </a:defRPr>
            </a:lvl2pPr>
            <a:lvl3pPr lvl="2" algn="l" rtl="0">
              <a:spcBef>
                <a:spcPts val="0"/>
              </a:spcBef>
              <a:spcAft>
                <a:spcPts val="0"/>
              </a:spcAft>
              <a:buSzPts val="3600"/>
              <a:buFont typeface="Arial"/>
              <a:buNone/>
              <a:defRPr sz="3600" b="1">
                <a:solidFill>
                  <a:schemeClr val="dk1"/>
                </a:solidFill>
                <a:latin typeface="Arial"/>
                <a:ea typeface="Arial"/>
                <a:cs typeface="Arial"/>
                <a:sym typeface="Arial"/>
              </a:defRPr>
            </a:lvl3pPr>
            <a:lvl4pPr lvl="3" algn="l" rtl="0">
              <a:spcBef>
                <a:spcPts val="0"/>
              </a:spcBef>
              <a:spcAft>
                <a:spcPts val="0"/>
              </a:spcAft>
              <a:buSzPts val="3600"/>
              <a:buFont typeface="Arial"/>
              <a:buNone/>
              <a:defRPr sz="3600" b="1">
                <a:solidFill>
                  <a:schemeClr val="dk1"/>
                </a:solidFill>
                <a:latin typeface="Arial"/>
                <a:ea typeface="Arial"/>
                <a:cs typeface="Arial"/>
                <a:sym typeface="Arial"/>
              </a:defRPr>
            </a:lvl4pPr>
            <a:lvl5pPr lvl="4" algn="l" rtl="0">
              <a:spcBef>
                <a:spcPts val="0"/>
              </a:spcBef>
              <a:spcAft>
                <a:spcPts val="0"/>
              </a:spcAft>
              <a:buSzPts val="3600"/>
              <a:buFont typeface="Arial"/>
              <a:buNone/>
              <a:defRPr sz="3600" b="1">
                <a:solidFill>
                  <a:schemeClr val="dk1"/>
                </a:solidFill>
                <a:latin typeface="Arial"/>
                <a:ea typeface="Arial"/>
                <a:cs typeface="Arial"/>
                <a:sym typeface="Arial"/>
              </a:defRPr>
            </a:lvl5pPr>
            <a:lvl6pPr lvl="5" algn="l" rtl="0">
              <a:spcBef>
                <a:spcPts val="0"/>
              </a:spcBef>
              <a:spcAft>
                <a:spcPts val="0"/>
              </a:spcAft>
              <a:buSzPts val="3600"/>
              <a:buFont typeface="Arial"/>
              <a:buNone/>
              <a:defRPr sz="3600" b="1">
                <a:solidFill>
                  <a:schemeClr val="dk1"/>
                </a:solidFill>
                <a:latin typeface="Arial"/>
                <a:ea typeface="Arial"/>
                <a:cs typeface="Arial"/>
                <a:sym typeface="Arial"/>
              </a:defRPr>
            </a:lvl6pPr>
            <a:lvl7pPr lvl="6" algn="l" rtl="0">
              <a:spcBef>
                <a:spcPts val="0"/>
              </a:spcBef>
              <a:spcAft>
                <a:spcPts val="0"/>
              </a:spcAft>
              <a:buSzPts val="3600"/>
              <a:buFont typeface="Arial"/>
              <a:buNone/>
              <a:defRPr sz="3600" b="1">
                <a:solidFill>
                  <a:schemeClr val="dk1"/>
                </a:solidFill>
                <a:latin typeface="Arial"/>
                <a:ea typeface="Arial"/>
                <a:cs typeface="Arial"/>
                <a:sym typeface="Arial"/>
              </a:defRPr>
            </a:lvl7pPr>
            <a:lvl8pPr lvl="7" algn="l" rtl="0">
              <a:spcBef>
                <a:spcPts val="0"/>
              </a:spcBef>
              <a:spcAft>
                <a:spcPts val="0"/>
              </a:spcAft>
              <a:buSzPts val="3600"/>
              <a:buFont typeface="Arial"/>
              <a:buNone/>
              <a:defRPr sz="3600" b="1">
                <a:solidFill>
                  <a:schemeClr val="dk1"/>
                </a:solidFill>
                <a:latin typeface="Arial"/>
                <a:ea typeface="Arial"/>
                <a:cs typeface="Arial"/>
                <a:sym typeface="Arial"/>
              </a:defRPr>
            </a:lvl8pPr>
            <a:lvl9pPr lvl="8" algn="l" rtl="0">
              <a:spcBef>
                <a:spcPts val="0"/>
              </a:spcBef>
              <a:spcAft>
                <a:spcPts val="0"/>
              </a:spcAft>
              <a:buSzPts val="3600"/>
              <a:buFont typeface="Arial"/>
              <a:buNone/>
              <a:defRPr sz="3600" b="1">
                <a:solidFill>
                  <a:schemeClr val="dk1"/>
                </a:solidFill>
                <a:latin typeface="Arial"/>
                <a:ea typeface="Arial"/>
                <a:cs typeface="Arial"/>
                <a:sym typeface="Arial"/>
              </a:defRPr>
            </a:lvl9pPr>
          </a:lstStyle>
          <a:p>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20"/>
        <p:cNvGrpSpPr/>
        <p:nvPr/>
      </p:nvGrpSpPr>
      <p:grpSpPr>
        <a:xfrm>
          <a:off x="0" y="0"/>
          <a:ext cx="0" cy="0"/>
          <a:chOff x="0" y="0"/>
          <a:chExt cx="0" cy="0"/>
        </a:xfrm>
      </p:grpSpPr>
      <p:sp>
        <p:nvSpPr>
          <p:cNvPr id="21" name="Google Shape;21;p6"/>
          <p:cNvSpPr txBox="1">
            <a:spLocks noGrp="1"/>
          </p:cNvSpPr>
          <p:nvPr>
            <p:ph type="body" idx="1"/>
          </p:nvPr>
        </p:nvSpPr>
        <p:spPr>
          <a:xfrm>
            <a:off x="457200" y="5875079"/>
            <a:ext cx="8229600" cy="692694"/>
          </a:xfrm>
          <a:prstGeom prst="rect">
            <a:avLst/>
          </a:prstGeom>
          <a:noFill/>
          <a:ln>
            <a:noFill/>
          </a:ln>
        </p:spPr>
        <p:txBody>
          <a:bodyPr spcFirstLastPara="1" wrap="square" lIns="91425" tIns="91425" rIns="91425" bIns="91425" anchor="t" anchorCtr="0">
            <a:noAutofit/>
          </a:bodyPr>
          <a:lstStyle>
            <a:lvl1pPr marL="457200" lvl="0" indent="-342900" algn="ctr" rtl="0">
              <a:lnSpc>
                <a:spcPct val="100000"/>
              </a:lnSpc>
              <a:spcBef>
                <a:spcPts val="360"/>
              </a:spcBef>
              <a:spcAft>
                <a:spcPts val="0"/>
              </a:spcAft>
              <a:buClr>
                <a:schemeClr val="dk1"/>
              </a:buClr>
              <a:buSzPts val="1800"/>
              <a:buFont typeface="Arial"/>
              <a:buChar char="●"/>
              <a:defRPr sz="1800">
                <a:solidFill>
                  <a:schemeClr val="dk1"/>
                </a:solidFill>
              </a:defRPr>
            </a:lvl1pPr>
            <a:lvl2pPr marL="914400" lvl="1" indent="-342900" algn="ctr" rtl="0">
              <a:lnSpc>
                <a:spcPct val="100000"/>
              </a:lnSpc>
              <a:spcBef>
                <a:spcPts val="0"/>
              </a:spcBef>
              <a:spcAft>
                <a:spcPts val="0"/>
              </a:spcAft>
              <a:buClr>
                <a:schemeClr val="dk1"/>
              </a:buClr>
              <a:buSzPts val="1800"/>
              <a:buFont typeface="Arial"/>
              <a:buChar char="○"/>
              <a:defRPr sz="1800">
                <a:solidFill>
                  <a:schemeClr val="dk1"/>
                </a:solidFill>
              </a:defRPr>
            </a:lvl2pPr>
            <a:lvl3pPr marL="1371600" lvl="2" indent="-342900" algn="ctr" rtl="0">
              <a:lnSpc>
                <a:spcPct val="100000"/>
              </a:lnSpc>
              <a:spcBef>
                <a:spcPts val="0"/>
              </a:spcBef>
              <a:spcAft>
                <a:spcPts val="0"/>
              </a:spcAft>
              <a:buClr>
                <a:schemeClr val="dk1"/>
              </a:buClr>
              <a:buSzPts val="1800"/>
              <a:buFont typeface="Arial"/>
              <a:buChar char="■"/>
              <a:defRPr sz="1800">
                <a:solidFill>
                  <a:schemeClr val="dk1"/>
                </a:solidFill>
              </a:defRPr>
            </a:lvl3pPr>
            <a:lvl4pPr marL="1828800" lvl="3" indent="-342900" algn="ctr" rtl="0">
              <a:lnSpc>
                <a:spcPct val="100000"/>
              </a:lnSpc>
              <a:spcBef>
                <a:spcPts val="0"/>
              </a:spcBef>
              <a:spcAft>
                <a:spcPts val="0"/>
              </a:spcAft>
              <a:buClr>
                <a:schemeClr val="dk1"/>
              </a:buClr>
              <a:buSzPts val="1800"/>
              <a:buFont typeface="Arial"/>
              <a:buChar char="●"/>
              <a:defRPr sz="1800">
                <a:solidFill>
                  <a:schemeClr val="dk1"/>
                </a:solidFill>
              </a:defRPr>
            </a:lvl4pPr>
            <a:lvl5pPr marL="2286000" lvl="4" indent="-342900" algn="ctr" rtl="0">
              <a:lnSpc>
                <a:spcPct val="100000"/>
              </a:lnSpc>
              <a:spcBef>
                <a:spcPts val="0"/>
              </a:spcBef>
              <a:spcAft>
                <a:spcPts val="0"/>
              </a:spcAft>
              <a:buClr>
                <a:schemeClr val="dk1"/>
              </a:buClr>
              <a:buSzPts val="1800"/>
              <a:buFont typeface="Arial"/>
              <a:buChar char="○"/>
              <a:defRPr sz="1800">
                <a:solidFill>
                  <a:schemeClr val="dk1"/>
                </a:solidFill>
              </a:defRPr>
            </a:lvl5pPr>
            <a:lvl6pPr marL="2743200" lvl="5" indent="-342900" algn="ctr" rtl="0">
              <a:lnSpc>
                <a:spcPct val="100000"/>
              </a:lnSpc>
              <a:spcBef>
                <a:spcPts val="0"/>
              </a:spcBef>
              <a:spcAft>
                <a:spcPts val="0"/>
              </a:spcAft>
              <a:buClr>
                <a:schemeClr val="dk1"/>
              </a:buClr>
              <a:buSzPts val="1800"/>
              <a:buFont typeface="Arial"/>
              <a:buChar char="■"/>
              <a:defRPr sz="1800">
                <a:solidFill>
                  <a:schemeClr val="dk1"/>
                </a:solidFill>
              </a:defRPr>
            </a:lvl6pPr>
            <a:lvl7pPr marL="3200400" lvl="6" indent="-342900" algn="ctr" rtl="0">
              <a:lnSpc>
                <a:spcPct val="100000"/>
              </a:lnSpc>
              <a:spcBef>
                <a:spcPts val="0"/>
              </a:spcBef>
              <a:spcAft>
                <a:spcPts val="0"/>
              </a:spcAft>
              <a:buClr>
                <a:schemeClr val="dk1"/>
              </a:buClr>
              <a:buSzPts val="1800"/>
              <a:buFont typeface="Arial"/>
              <a:buChar char="●"/>
              <a:defRPr sz="1800">
                <a:solidFill>
                  <a:schemeClr val="dk1"/>
                </a:solidFill>
              </a:defRPr>
            </a:lvl7pPr>
            <a:lvl8pPr marL="3657600" lvl="7" indent="-342900" algn="ctr" rtl="0">
              <a:lnSpc>
                <a:spcPct val="100000"/>
              </a:lnSpc>
              <a:spcBef>
                <a:spcPts val="0"/>
              </a:spcBef>
              <a:spcAft>
                <a:spcPts val="0"/>
              </a:spcAft>
              <a:buClr>
                <a:schemeClr val="dk1"/>
              </a:buClr>
              <a:buSzPts val="1800"/>
              <a:buFont typeface="Arial"/>
              <a:buChar char="○"/>
              <a:defRPr sz="1800">
                <a:solidFill>
                  <a:schemeClr val="dk1"/>
                </a:solidFill>
              </a:defRPr>
            </a:lvl8pPr>
            <a:lvl9pPr marL="4114800" lvl="8" indent="-342900" algn="ctr" rtl="0">
              <a:lnSpc>
                <a:spcPct val="100000"/>
              </a:lnSpc>
              <a:spcBef>
                <a:spcPts val="0"/>
              </a:spcBef>
              <a:spcAft>
                <a:spcPts val="0"/>
              </a:spcAft>
              <a:buClr>
                <a:schemeClr val="dk1"/>
              </a:buClr>
              <a:buSzPts val="1800"/>
              <a:buFont typeface="Arial"/>
              <a:buChar char="■"/>
              <a:defRPr sz="1800">
                <a:solidFill>
                  <a:schemeClr val="dk1"/>
                </a:solidFill>
              </a:defRPr>
            </a:lvl9pPr>
          </a:lstStyle>
          <a:p>
            <a:endParaRPr/>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457200" y="274638"/>
            <a:ext cx="8229600" cy="1143000"/>
          </a:xfrm>
          <a:prstGeom prst="rect">
            <a:avLst/>
          </a:prstGeom>
          <a:noFill/>
          <a:ln>
            <a:noFill/>
          </a:ln>
        </p:spPr>
        <p:txBody>
          <a:bodyPr spcFirstLastPara="1" wrap="square" lIns="91425" tIns="91425" rIns="91425" bIns="91425" anchor="b" anchorCtr="0">
            <a:noAutofit/>
          </a:bodyPr>
          <a:lstStyle>
            <a:lvl1pPr lvl="0" algn="l" rtl="0">
              <a:spcBef>
                <a:spcPts val="0"/>
              </a:spcBef>
              <a:spcAft>
                <a:spcPts val="0"/>
              </a:spcAft>
              <a:buClr>
                <a:schemeClr val="dk1"/>
              </a:buClr>
              <a:buSzPts val="3600"/>
              <a:buFont typeface="Arial"/>
              <a:buNone/>
              <a:defRPr sz="3600" b="1" i="0" u="none" strike="noStrike" cap="none">
                <a:solidFill>
                  <a:schemeClr val="dk1"/>
                </a:solidFill>
                <a:latin typeface="Arial"/>
                <a:ea typeface="Arial"/>
                <a:cs typeface="Arial"/>
                <a:sym typeface="Arial"/>
              </a:defRPr>
            </a:lvl1pPr>
            <a:lvl2pPr lvl="1" algn="l" rtl="0">
              <a:spcBef>
                <a:spcPts val="0"/>
              </a:spcBef>
              <a:spcAft>
                <a:spcPts val="0"/>
              </a:spcAft>
              <a:buClr>
                <a:schemeClr val="dk1"/>
              </a:buClr>
              <a:buSzPts val="3600"/>
              <a:buFont typeface="Arial"/>
              <a:buNone/>
              <a:defRPr sz="3600" b="1" i="0" u="none" strike="noStrike" cap="none">
                <a:solidFill>
                  <a:schemeClr val="dk1"/>
                </a:solidFill>
                <a:latin typeface="Arial"/>
                <a:ea typeface="Arial"/>
                <a:cs typeface="Arial"/>
                <a:sym typeface="Arial"/>
              </a:defRPr>
            </a:lvl2pPr>
            <a:lvl3pPr lvl="2" algn="l" rtl="0">
              <a:spcBef>
                <a:spcPts val="0"/>
              </a:spcBef>
              <a:spcAft>
                <a:spcPts val="0"/>
              </a:spcAft>
              <a:buClr>
                <a:schemeClr val="dk1"/>
              </a:buClr>
              <a:buSzPts val="3600"/>
              <a:buFont typeface="Arial"/>
              <a:buNone/>
              <a:defRPr sz="3600" b="1" i="0" u="none" strike="noStrike" cap="none">
                <a:solidFill>
                  <a:schemeClr val="dk1"/>
                </a:solidFill>
                <a:latin typeface="Arial"/>
                <a:ea typeface="Arial"/>
                <a:cs typeface="Arial"/>
                <a:sym typeface="Arial"/>
              </a:defRPr>
            </a:lvl3pPr>
            <a:lvl4pPr lvl="3" algn="l" rtl="0">
              <a:spcBef>
                <a:spcPts val="0"/>
              </a:spcBef>
              <a:spcAft>
                <a:spcPts val="0"/>
              </a:spcAft>
              <a:buClr>
                <a:schemeClr val="dk1"/>
              </a:buClr>
              <a:buSzPts val="3600"/>
              <a:buFont typeface="Arial"/>
              <a:buNone/>
              <a:defRPr sz="3600" b="1" i="0" u="none" strike="noStrike" cap="none">
                <a:solidFill>
                  <a:schemeClr val="dk1"/>
                </a:solidFill>
                <a:latin typeface="Arial"/>
                <a:ea typeface="Arial"/>
                <a:cs typeface="Arial"/>
                <a:sym typeface="Arial"/>
              </a:defRPr>
            </a:lvl4pPr>
            <a:lvl5pPr lvl="4" algn="l" rtl="0">
              <a:spcBef>
                <a:spcPts val="0"/>
              </a:spcBef>
              <a:spcAft>
                <a:spcPts val="0"/>
              </a:spcAft>
              <a:buClr>
                <a:schemeClr val="dk1"/>
              </a:buClr>
              <a:buSzPts val="3600"/>
              <a:buFont typeface="Arial"/>
              <a:buNone/>
              <a:defRPr sz="3600" b="1" i="0" u="none" strike="noStrike" cap="none">
                <a:solidFill>
                  <a:schemeClr val="dk1"/>
                </a:solidFill>
                <a:latin typeface="Arial"/>
                <a:ea typeface="Arial"/>
                <a:cs typeface="Arial"/>
                <a:sym typeface="Arial"/>
              </a:defRPr>
            </a:lvl5pPr>
            <a:lvl6pPr lvl="5" algn="l" rtl="0">
              <a:spcBef>
                <a:spcPts val="0"/>
              </a:spcBef>
              <a:spcAft>
                <a:spcPts val="0"/>
              </a:spcAft>
              <a:buClr>
                <a:schemeClr val="dk1"/>
              </a:buClr>
              <a:buSzPts val="3600"/>
              <a:buFont typeface="Arial"/>
              <a:buNone/>
              <a:defRPr sz="3600" b="1" i="0" u="none" strike="noStrike" cap="none">
                <a:solidFill>
                  <a:schemeClr val="dk1"/>
                </a:solidFill>
                <a:latin typeface="Arial"/>
                <a:ea typeface="Arial"/>
                <a:cs typeface="Arial"/>
                <a:sym typeface="Arial"/>
              </a:defRPr>
            </a:lvl6pPr>
            <a:lvl7pPr lvl="6" algn="l" rtl="0">
              <a:spcBef>
                <a:spcPts val="0"/>
              </a:spcBef>
              <a:spcAft>
                <a:spcPts val="0"/>
              </a:spcAft>
              <a:buClr>
                <a:schemeClr val="dk1"/>
              </a:buClr>
              <a:buSzPts val="3600"/>
              <a:buFont typeface="Arial"/>
              <a:buNone/>
              <a:defRPr sz="3600" b="1" i="0" u="none" strike="noStrike" cap="none">
                <a:solidFill>
                  <a:schemeClr val="dk1"/>
                </a:solidFill>
                <a:latin typeface="Arial"/>
                <a:ea typeface="Arial"/>
                <a:cs typeface="Arial"/>
                <a:sym typeface="Arial"/>
              </a:defRPr>
            </a:lvl7pPr>
            <a:lvl8pPr lvl="7" algn="l" rtl="0">
              <a:spcBef>
                <a:spcPts val="0"/>
              </a:spcBef>
              <a:spcAft>
                <a:spcPts val="0"/>
              </a:spcAft>
              <a:buClr>
                <a:schemeClr val="dk1"/>
              </a:buClr>
              <a:buSzPts val="3600"/>
              <a:buFont typeface="Arial"/>
              <a:buNone/>
              <a:defRPr sz="3600" b="1" i="0" u="none" strike="noStrike" cap="none">
                <a:solidFill>
                  <a:schemeClr val="dk1"/>
                </a:solidFill>
                <a:latin typeface="Arial"/>
                <a:ea typeface="Arial"/>
                <a:cs typeface="Arial"/>
                <a:sym typeface="Arial"/>
              </a:defRPr>
            </a:lvl8pPr>
            <a:lvl9pPr lvl="8" algn="l" rtl="0">
              <a:spcBef>
                <a:spcPts val="0"/>
              </a:spcBef>
              <a:spcAft>
                <a:spcPts val="0"/>
              </a:spcAft>
              <a:buClr>
                <a:schemeClr val="dk1"/>
              </a:buClr>
              <a:buSzPts val="3600"/>
              <a:buFont typeface="Arial"/>
              <a:buNone/>
              <a:defRPr sz="3600" b="1" i="0" u="none" strike="noStrike" cap="none">
                <a:solidFill>
                  <a:schemeClr val="dk1"/>
                </a:solidFill>
                <a:latin typeface="Arial"/>
                <a:ea typeface="Arial"/>
                <a:cs typeface="Arial"/>
                <a:sym typeface="Arial"/>
              </a:defRPr>
            </a:lvl9pPr>
          </a:lstStyle>
          <a:p>
            <a:endParaRPr/>
          </a:p>
        </p:txBody>
      </p:sp>
      <p:sp>
        <p:nvSpPr>
          <p:cNvPr id="7" name="Google Shape;7;p1"/>
          <p:cNvSpPr txBox="1">
            <a:spLocks noGrp="1"/>
          </p:cNvSpPr>
          <p:nvPr>
            <p:ph type="body" idx="1"/>
          </p:nvPr>
        </p:nvSpPr>
        <p:spPr>
          <a:xfrm>
            <a:off x="457200" y="1600200"/>
            <a:ext cx="8229600" cy="4967574"/>
          </a:xfrm>
          <a:prstGeom prst="rect">
            <a:avLst/>
          </a:prstGeom>
          <a:noFill/>
          <a:ln>
            <a:noFill/>
          </a:ln>
        </p:spPr>
        <p:txBody>
          <a:bodyPr spcFirstLastPara="1" wrap="square" lIns="91425" tIns="91425" rIns="91425" bIns="91425" anchor="t" anchorCtr="0">
            <a:noAutofit/>
          </a:bodyPr>
          <a:lstStyle>
            <a:lvl1pPr marL="457200" lvl="0" indent="-419100" algn="l" rtl="0">
              <a:spcBef>
                <a:spcPts val="600"/>
              </a:spcBef>
              <a:spcAft>
                <a:spcPts val="0"/>
              </a:spcAft>
              <a:buClr>
                <a:schemeClr val="dk1"/>
              </a:buClr>
              <a:buSzPts val="3000"/>
              <a:buFont typeface="Arial"/>
              <a:buChar char="●"/>
              <a:defRPr sz="3000" b="0" i="0" u="none" strike="noStrike" cap="none">
                <a:solidFill>
                  <a:schemeClr val="dk1"/>
                </a:solidFill>
                <a:latin typeface="Arial"/>
                <a:ea typeface="Arial"/>
                <a:cs typeface="Arial"/>
                <a:sym typeface="Arial"/>
              </a:defRPr>
            </a:lvl1pPr>
            <a:lvl2pPr marL="914400" lvl="1" indent="-381000" algn="l" rtl="0">
              <a:spcBef>
                <a:spcPts val="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2pPr>
            <a:lvl3pPr marL="1371600" lvl="2" indent="-381000" algn="l" rtl="0">
              <a:spcBef>
                <a:spcPts val="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3pPr>
            <a:lvl4pPr marL="1828800" lvl="3" indent="-342900" algn="l" rtl="0">
              <a:spcBef>
                <a:spcPts val="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4pPr>
            <a:lvl5pPr marL="2286000" lvl="4" indent="-342900" algn="l" rtl="0">
              <a:spcBef>
                <a:spcPts val="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5pPr>
            <a:lvl6pPr marL="2743200" lvl="5" indent="-342900" algn="l" rtl="0">
              <a:spcBef>
                <a:spcPts val="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6pPr>
            <a:lvl7pPr marL="3200400" lvl="6" indent="-342900" algn="l" rtl="0">
              <a:spcBef>
                <a:spcPts val="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7pPr>
            <a:lvl8pPr marL="3657600" lvl="7" indent="-342900" algn="l" rtl="0">
              <a:spcBef>
                <a:spcPts val="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8pPr>
            <a:lvl9pPr marL="4114800" lvl="8" indent="-342900" algn="l" rtl="0">
              <a:spcBef>
                <a:spcPts val="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9pPr>
          </a:lstStyle>
          <a:p>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9.xml"/><Relationship Id="rId1" Type="http://schemas.openxmlformats.org/officeDocument/2006/relationships/slideLayout" Target="../slideLayouts/slideLayout2.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6.png"/></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8" Type="http://schemas.openxmlformats.org/officeDocument/2006/relationships/image" Target="../media/image19.png"/><Relationship Id="rId3" Type="http://schemas.openxmlformats.org/officeDocument/2006/relationships/image" Target="../media/image14.png"/><Relationship Id="rId7" Type="http://schemas.openxmlformats.org/officeDocument/2006/relationships/image" Target="../media/image18.png"/><Relationship Id="rId2" Type="http://schemas.openxmlformats.org/officeDocument/2006/relationships/notesSlide" Target="../notesSlides/notesSlide14.xml"/><Relationship Id="rId1" Type="http://schemas.openxmlformats.org/officeDocument/2006/relationships/slideLayout" Target="../slideLayouts/slideLayout2.xml"/><Relationship Id="rId6" Type="http://schemas.openxmlformats.org/officeDocument/2006/relationships/image" Target="../media/image17.png"/><Relationship Id="rId5" Type="http://schemas.openxmlformats.org/officeDocument/2006/relationships/image" Target="../media/image16.png"/><Relationship Id="rId4" Type="http://schemas.openxmlformats.org/officeDocument/2006/relationships/image" Target="../media/image15.png"/><Relationship Id="rId9" Type="http://schemas.openxmlformats.org/officeDocument/2006/relationships/image" Target="../media/image20.png"/></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9.xml"/><Relationship Id="rId1" Type="http://schemas.openxmlformats.org/officeDocument/2006/relationships/slideLayout" Target="../slideLayouts/slideLayout2.xml"/><Relationship Id="rId6" Type="http://schemas.openxmlformats.org/officeDocument/2006/relationships/image" Target="../media/image25.png"/><Relationship Id="rId5" Type="http://schemas.openxmlformats.org/officeDocument/2006/relationships/image" Target="../media/image24.png"/><Relationship Id="rId4" Type="http://schemas.openxmlformats.org/officeDocument/2006/relationships/image" Target="../media/image23.png"/></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21.xml"/><Relationship Id="rId1" Type="http://schemas.openxmlformats.org/officeDocument/2006/relationships/slideLayout" Target="../slideLayouts/slideLayout2.xml"/><Relationship Id="rId5" Type="http://schemas.openxmlformats.org/officeDocument/2006/relationships/image" Target="../media/image28.png"/><Relationship Id="rId4" Type="http://schemas.openxmlformats.org/officeDocument/2006/relationships/image" Target="../media/image27.png"/></Relationships>
</file>

<file path=ppt/slides/_rels/slide22.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22.xml"/><Relationship Id="rId1" Type="http://schemas.openxmlformats.org/officeDocument/2006/relationships/slideLayout" Target="../slideLayouts/slideLayout2.xml"/><Relationship Id="rId4" Type="http://schemas.openxmlformats.org/officeDocument/2006/relationships/image" Target="../media/image30.png"/></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31.xml"/><Relationship Id="rId1" Type="http://schemas.openxmlformats.org/officeDocument/2006/relationships/slideLayout" Target="../slideLayouts/slideLayout2.xml"/><Relationship Id="rId4" Type="http://schemas.openxmlformats.org/officeDocument/2006/relationships/image" Target="../media/image36.png"/></Relationships>
</file>

<file path=ppt/slides/_rels/slide32.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notesSlide" Target="../notesSlides/notesSlide44.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notesSlide" Target="../notesSlides/notesSlide45.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1.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notesSlide" Target="../notesSlides/notesSlide48.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notesSlide" Target="../notesSlides/notesSlide52.xml"/><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57.xml"/><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notesSlide" Target="../notesSlides/notesSlide58.xml"/><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notesSlide" Target="../notesSlides/notesSlide59.xml"/><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60.xml"/><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notesSlide" Target="../notesSlides/notesSlide61.xml"/><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62.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33"/>
        <p:cNvGrpSpPr/>
        <p:nvPr/>
      </p:nvGrpSpPr>
      <p:grpSpPr>
        <a:xfrm>
          <a:off x="0" y="0"/>
          <a:ext cx="0" cy="0"/>
          <a:chOff x="0" y="0"/>
          <a:chExt cx="0" cy="0"/>
        </a:xfrm>
      </p:grpSpPr>
      <p:sp>
        <p:nvSpPr>
          <p:cNvPr id="34" name="Google Shape;34;p9"/>
          <p:cNvSpPr txBox="1">
            <a:spLocks noGrp="1"/>
          </p:cNvSpPr>
          <p:nvPr>
            <p:ph type="ctrTitle"/>
          </p:nvPr>
        </p:nvSpPr>
        <p:spPr>
          <a:xfrm>
            <a:off x="685800" y="1647297"/>
            <a:ext cx="7772400" cy="3183120"/>
          </a:xfrm>
          <a:prstGeom prst="rect">
            <a:avLst/>
          </a:prstGeom>
        </p:spPr>
        <p:txBody>
          <a:bodyPr spcFirstLastPara="1" wrap="square" lIns="91425" tIns="91425" rIns="91425" bIns="91425" anchor="b" anchorCtr="0">
            <a:noAutofit/>
          </a:bodyPr>
          <a:lstStyle/>
          <a:p>
            <a:pPr marL="0" lvl="0" indent="0" rtl="0">
              <a:spcBef>
                <a:spcPts val="0"/>
              </a:spcBef>
              <a:spcAft>
                <a:spcPts val="0"/>
              </a:spcAft>
              <a:buNone/>
            </a:pPr>
            <a:endParaRPr dirty="0">
              <a:solidFill>
                <a:schemeClr val="accent1"/>
              </a:solidFill>
            </a:endParaRPr>
          </a:p>
          <a:p>
            <a:pPr marL="0" lvl="0" indent="0" rtl="0">
              <a:spcBef>
                <a:spcPts val="0"/>
              </a:spcBef>
              <a:spcAft>
                <a:spcPts val="0"/>
              </a:spcAft>
              <a:buNone/>
            </a:pPr>
            <a:endParaRPr dirty="0">
              <a:solidFill>
                <a:schemeClr val="accent1"/>
              </a:solidFill>
            </a:endParaRPr>
          </a:p>
          <a:p>
            <a:pPr marL="0" lvl="0" indent="0" rtl="0">
              <a:spcBef>
                <a:spcPts val="0"/>
              </a:spcBef>
              <a:spcAft>
                <a:spcPts val="0"/>
              </a:spcAft>
              <a:buNone/>
            </a:pPr>
            <a:br>
              <a:rPr lang="en" dirty="0">
                <a:solidFill>
                  <a:schemeClr val="accent1"/>
                </a:solidFill>
              </a:rPr>
            </a:br>
            <a:r>
              <a:rPr lang="en" dirty="0">
                <a:solidFill>
                  <a:schemeClr val="accent1"/>
                </a:solidFill>
              </a:rPr>
              <a:t>Statistics B</a:t>
            </a:r>
            <a:br>
              <a:rPr lang="en" dirty="0">
                <a:solidFill>
                  <a:schemeClr val="accent1"/>
                </a:solidFill>
              </a:rPr>
            </a:br>
            <a:r>
              <a:rPr lang="en-US" altLang="zh-CN" sz="2800" dirty="0">
                <a:solidFill>
                  <a:schemeClr val="accent1"/>
                </a:solidFill>
              </a:rPr>
              <a:t>Chapter 2: Summarizing Data</a:t>
            </a:r>
            <a:endParaRPr sz="2800" dirty="0">
              <a:solidFill>
                <a:schemeClr val="accent1"/>
              </a:solidFill>
            </a:endParaRPr>
          </a:p>
          <a:p>
            <a:pPr marL="0" lvl="0" indent="0" rtl="0">
              <a:spcBef>
                <a:spcPts val="0"/>
              </a:spcBef>
              <a:spcAft>
                <a:spcPts val="0"/>
              </a:spcAft>
              <a:buNone/>
            </a:pPr>
            <a:br>
              <a:rPr lang="en-US" altLang="zh-CN" sz="2800" dirty="0">
                <a:solidFill>
                  <a:srgbClr val="000000"/>
                </a:solidFill>
              </a:rPr>
            </a:br>
            <a:r>
              <a:rPr lang="en-US" altLang="zh-CN" sz="2000" dirty="0" err="1">
                <a:solidFill>
                  <a:srgbClr val="000000"/>
                </a:solidFill>
              </a:rPr>
              <a:t>Shizhe</a:t>
            </a:r>
            <a:r>
              <a:rPr lang="en-US" altLang="zh-CN" sz="2000" dirty="0">
                <a:solidFill>
                  <a:srgbClr val="000000"/>
                </a:solidFill>
              </a:rPr>
              <a:t> Peng</a:t>
            </a:r>
            <a:br>
              <a:rPr lang="en-US" altLang="zh-CN" sz="2000" dirty="0">
                <a:solidFill>
                  <a:srgbClr val="000000"/>
                </a:solidFill>
              </a:rPr>
            </a:br>
            <a:r>
              <a:rPr lang="en-US" altLang="zh-CN" sz="2000" dirty="0">
                <a:solidFill>
                  <a:srgbClr val="000000"/>
                </a:solidFill>
              </a:rPr>
              <a:t>School of Economics and Management</a:t>
            </a:r>
            <a:br>
              <a:rPr lang="en-US" altLang="zh-CN" sz="2000" dirty="0">
                <a:solidFill>
                  <a:srgbClr val="000000"/>
                </a:solidFill>
              </a:rPr>
            </a:br>
            <a:r>
              <a:rPr lang="en-US" altLang="zh-CN" sz="2000" dirty="0">
                <a:solidFill>
                  <a:srgbClr val="000000"/>
                </a:solidFill>
              </a:rPr>
              <a:t>Changsha University of Science and Technology</a:t>
            </a:r>
            <a:endParaRPr sz="2800" dirty="0">
              <a:solidFill>
                <a:srgbClr val="000000"/>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32"/>
        <p:cNvGrpSpPr/>
        <p:nvPr/>
      </p:nvGrpSpPr>
      <p:grpSpPr>
        <a:xfrm>
          <a:off x="0" y="0"/>
          <a:ext cx="0" cy="0"/>
          <a:chOff x="0" y="0"/>
          <a:chExt cx="0" cy="0"/>
        </a:xfrm>
      </p:grpSpPr>
      <p:sp>
        <p:nvSpPr>
          <p:cNvPr id="33" name="Google Shape;33;p9"/>
          <p:cNvSpPr txBox="1">
            <a:spLocks noGrp="1"/>
          </p:cNvSpPr>
          <p:nvPr>
            <p:ph type="ctrTitle"/>
          </p:nvPr>
        </p:nvSpPr>
        <p:spPr>
          <a:xfrm>
            <a:off x="685800" y="2111126"/>
            <a:ext cx="7772400" cy="22818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solidFill>
                  <a:schemeClr val="accent1"/>
                </a:solidFill>
              </a:rPr>
              <a:t>Examining</a:t>
            </a:r>
            <a:endParaRPr>
              <a:solidFill>
                <a:schemeClr val="accent1"/>
              </a:solidFill>
            </a:endParaRPr>
          </a:p>
          <a:p>
            <a:pPr marL="0" lvl="0" indent="0" algn="l" rtl="0">
              <a:spcBef>
                <a:spcPts val="0"/>
              </a:spcBef>
              <a:spcAft>
                <a:spcPts val="0"/>
              </a:spcAft>
              <a:buNone/>
            </a:pPr>
            <a:r>
              <a:rPr lang="en">
                <a:solidFill>
                  <a:schemeClr val="accent1"/>
                </a:solidFill>
              </a:rPr>
              <a:t>Numerical Data</a:t>
            </a:r>
            <a:endParaRPr>
              <a:solidFill>
                <a:schemeClr val="accent1"/>
              </a:solidFill>
            </a:endParaRPr>
          </a:p>
          <a:p>
            <a:pPr marL="0" lvl="0" indent="0" algn="l" rtl="0">
              <a:spcBef>
                <a:spcPts val="0"/>
              </a:spcBef>
              <a:spcAft>
                <a:spcPts val="0"/>
              </a:spcAft>
              <a:buNone/>
            </a:pPr>
            <a:endParaRPr>
              <a:solidFill>
                <a:schemeClr val="accent1"/>
              </a:solidFill>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55"/>
        <p:cNvGrpSpPr/>
        <p:nvPr/>
      </p:nvGrpSpPr>
      <p:grpSpPr>
        <a:xfrm>
          <a:off x="0" y="0"/>
          <a:ext cx="0" cy="0"/>
          <a:chOff x="0" y="0"/>
          <a:chExt cx="0" cy="0"/>
        </a:xfrm>
      </p:grpSpPr>
      <p:sp>
        <p:nvSpPr>
          <p:cNvPr id="56" name="Google Shape;56;p12"/>
          <p:cNvSpPr txBox="1">
            <a:spLocks noGrp="1"/>
          </p:cNvSpPr>
          <p:nvPr>
            <p:ph type="body" idx="1"/>
          </p:nvPr>
        </p:nvSpPr>
        <p:spPr>
          <a:xfrm>
            <a:off x="457200" y="1417650"/>
            <a:ext cx="8154000" cy="5044800"/>
          </a:xfrm>
          <a:prstGeom prst="rect">
            <a:avLst/>
          </a:prstGeom>
        </p:spPr>
        <p:txBody>
          <a:bodyPr spcFirstLastPara="1" wrap="square" lIns="91425" tIns="91425" rIns="91425" bIns="91425" anchor="t" anchorCtr="0">
            <a:noAutofit/>
          </a:bodyPr>
          <a:lstStyle/>
          <a:p>
            <a:pPr marL="0" lvl="0" indent="0" algn="l" rtl="0">
              <a:lnSpc>
                <a:spcPct val="115000"/>
              </a:lnSpc>
              <a:spcBef>
                <a:spcPts val="600"/>
              </a:spcBef>
              <a:spcAft>
                <a:spcPts val="0"/>
              </a:spcAft>
              <a:buNone/>
            </a:pPr>
            <a:r>
              <a:rPr lang="en" sz="1800" i="1" dirty="0">
                <a:solidFill>
                  <a:schemeClr val="accent1"/>
                </a:solidFill>
              </a:rPr>
              <a:t>Scatterplots</a:t>
            </a:r>
            <a:r>
              <a:rPr lang="en" sz="1800" i="1" dirty="0"/>
              <a:t> </a:t>
            </a:r>
            <a:r>
              <a:rPr lang="en" sz="1800" dirty="0"/>
              <a:t>are useful for visualizing the relationship/</a:t>
            </a:r>
            <a:r>
              <a:rPr lang="en-US" altLang="zh-CN" sz="1800" dirty="0"/>
              <a:t>association</a:t>
            </a:r>
            <a:r>
              <a:rPr lang="en" sz="1800" dirty="0"/>
              <a:t> between two numerical variables.</a:t>
            </a:r>
            <a:endParaRPr sz="1800" dirty="0"/>
          </a:p>
          <a:p>
            <a:pPr marL="0" lvl="0" indent="0" algn="l" rtl="0">
              <a:lnSpc>
                <a:spcPct val="115000"/>
              </a:lnSpc>
              <a:spcBef>
                <a:spcPts val="600"/>
              </a:spcBef>
              <a:spcAft>
                <a:spcPts val="0"/>
              </a:spcAft>
              <a:buNone/>
            </a:pPr>
            <a:endParaRPr sz="600" dirty="0"/>
          </a:p>
          <a:p>
            <a:pPr marL="0" lvl="0" indent="0" algn="l" rtl="0">
              <a:lnSpc>
                <a:spcPct val="115000"/>
              </a:lnSpc>
              <a:spcBef>
                <a:spcPts val="600"/>
              </a:spcBef>
              <a:spcAft>
                <a:spcPts val="0"/>
              </a:spcAft>
              <a:buNone/>
            </a:pPr>
            <a:r>
              <a:rPr lang="en" sz="1800" dirty="0">
                <a:solidFill>
                  <a:schemeClr val="accent1"/>
                </a:solidFill>
              </a:rPr>
              <a:t>Do life expectancy and total fertility</a:t>
            </a:r>
            <a:br>
              <a:rPr lang="en" sz="1800" dirty="0">
                <a:solidFill>
                  <a:schemeClr val="accent1"/>
                </a:solidFill>
              </a:rPr>
            </a:br>
            <a:r>
              <a:rPr lang="en" sz="1800" dirty="0">
                <a:solidFill>
                  <a:schemeClr val="accent1"/>
                </a:solidFill>
              </a:rPr>
              <a:t>appear to be </a:t>
            </a:r>
            <a:r>
              <a:rPr lang="en" sz="1800" i="1" dirty="0">
                <a:solidFill>
                  <a:schemeClr val="accent1"/>
                </a:solidFill>
              </a:rPr>
              <a:t>associated </a:t>
            </a:r>
            <a:r>
              <a:rPr lang="en" sz="1800" dirty="0">
                <a:solidFill>
                  <a:schemeClr val="accent1"/>
                </a:solidFill>
              </a:rPr>
              <a:t>or </a:t>
            </a:r>
            <a:r>
              <a:rPr lang="en" sz="1800" i="1" dirty="0">
                <a:solidFill>
                  <a:schemeClr val="accent1"/>
                </a:solidFill>
              </a:rPr>
              <a:t>independent</a:t>
            </a:r>
            <a:r>
              <a:rPr lang="en" sz="1800" dirty="0">
                <a:solidFill>
                  <a:schemeClr val="accent1"/>
                </a:solidFill>
              </a:rPr>
              <a:t>?</a:t>
            </a:r>
            <a:endParaRPr sz="1800" dirty="0">
              <a:solidFill>
                <a:schemeClr val="accent1"/>
              </a:solidFill>
            </a:endParaRPr>
          </a:p>
          <a:p>
            <a:pPr marL="0" lvl="0" indent="0" algn="l" rtl="0">
              <a:lnSpc>
                <a:spcPct val="115000"/>
              </a:lnSpc>
              <a:spcBef>
                <a:spcPts val="600"/>
              </a:spcBef>
              <a:spcAft>
                <a:spcPts val="0"/>
              </a:spcAft>
              <a:buNone/>
            </a:pPr>
            <a:endParaRPr sz="1800" dirty="0">
              <a:solidFill>
                <a:schemeClr val="accent1"/>
              </a:solidFill>
            </a:endParaRPr>
          </a:p>
          <a:p>
            <a:pPr marL="0" lvl="0" indent="0" algn="l" rtl="0">
              <a:lnSpc>
                <a:spcPct val="115000"/>
              </a:lnSpc>
              <a:spcBef>
                <a:spcPts val="600"/>
              </a:spcBef>
              <a:spcAft>
                <a:spcPts val="0"/>
              </a:spcAft>
              <a:buNone/>
            </a:pPr>
            <a:endParaRPr sz="1800" dirty="0">
              <a:solidFill>
                <a:schemeClr val="accent1"/>
              </a:solidFill>
            </a:endParaRPr>
          </a:p>
          <a:p>
            <a:pPr marL="0" lvl="0" indent="0" algn="l" rtl="0">
              <a:lnSpc>
                <a:spcPct val="115000"/>
              </a:lnSpc>
              <a:spcBef>
                <a:spcPts val="600"/>
              </a:spcBef>
              <a:spcAft>
                <a:spcPts val="0"/>
              </a:spcAft>
              <a:buNone/>
            </a:pPr>
            <a:endParaRPr sz="1800" dirty="0">
              <a:solidFill>
                <a:schemeClr val="accent1"/>
              </a:solidFill>
            </a:endParaRPr>
          </a:p>
          <a:p>
            <a:pPr marL="0" lvl="0" indent="0" algn="l" rtl="0">
              <a:lnSpc>
                <a:spcPct val="115000"/>
              </a:lnSpc>
              <a:spcBef>
                <a:spcPts val="600"/>
              </a:spcBef>
              <a:spcAft>
                <a:spcPts val="0"/>
              </a:spcAft>
              <a:buNone/>
            </a:pPr>
            <a:r>
              <a:rPr lang="en" sz="1800" dirty="0">
                <a:solidFill>
                  <a:schemeClr val="accent1"/>
                </a:solidFill>
              </a:rPr>
              <a:t>Was the relationship the same throughout</a:t>
            </a:r>
            <a:br>
              <a:rPr lang="en" sz="1800" dirty="0">
                <a:solidFill>
                  <a:schemeClr val="accent1"/>
                </a:solidFill>
              </a:rPr>
            </a:br>
            <a:r>
              <a:rPr lang="en" sz="1800" dirty="0">
                <a:solidFill>
                  <a:schemeClr val="accent1"/>
                </a:solidFill>
              </a:rPr>
              <a:t>the years, or did it change?</a:t>
            </a:r>
            <a:endParaRPr sz="1800" dirty="0">
              <a:solidFill>
                <a:schemeClr val="accent1"/>
              </a:solidFill>
            </a:endParaRPr>
          </a:p>
        </p:txBody>
      </p:sp>
      <p:sp>
        <p:nvSpPr>
          <p:cNvPr id="57" name="Google Shape;57;p12"/>
          <p:cNvSpPr txBox="1">
            <a:spLocks noGrp="1"/>
          </p:cNvSpPr>
          <p:nvPr>
            <p:ph type="title"/>
          </p:nvPr>
        </p:nvSpPr>
        <p:spPr>
          <a:xfrm>
            <a:off x="457200" y="274638"/>
            <a:ext cx="8229600" cy="11430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solidFill>
                  <a:schemeClr val="accent1"/>
                </a:solidFill>
              </a:rPr>
              <a:t>Scatterplot</a:t>
            </a:r>
            <a:endParaRPr>
              <a:solidFill>
                <a:schemeClr val="accent1"/>
              </a:solidFill>
            </a:endParaRPr>
          </a:p>
        </p:txBody>
      </p:sp>
      <p:sp>
        <p:nvSpPr>
          <p:cNvPr id="58" name="Google Shape;58;p12"/>
          <p:cNvSpPr txBox="1">
            <a:spLocks noGrp="1"/>
          </p:cNvSpPr>
          <p:nvPr>
            <p:ph type="body" idx="1"/>
          </p:nvPr>
        </p:nvSpPr>
        <p:spPr>
          <a:xfrm>
            <a:off x="457200" y="2928150"/>
            <a:ext cx="4238100" cy="3534300"/>
          </a:xfrm>
          <a:prstGeom prst="rect">
            <a:avLst/>
          </a:prstGeom>
        </p:spPr>
        <p:txBody>
          <a:bodyPr spcFirstLastPara="1" wrap="square" lIns="91425" tIns="91425" rIns="91425" bIns="91425" anchor="t" anchorCtr="0">
            <a:noAutofit/>
          </a:bodyPr>
          <a:lstStyle/>
          <a:p>
            <a:pPr marL="0" lvl="0" indent="0" algn="l" rtl="0">
              <a:lnSpc>
                <a:spcPct val="115000"/>
              </a:lnSpc>
              <a:spcBef>
                <a:spcPts val="600"/>
              </a:spcBef>
              <a:spcAft>
                <a:spcPts val="0"/>
              </a:spcAft>
              <a:buNone/>
            </a:pPr>
            <a:r>
              <a:rPr lang="en" sz="1800">
                <a:solidFill>
                  <a:srgbClr val="000000"/>
                </a:solidFill>
              </a:rPr>
              <a:t>They appear to be linearly and negatively associated: as fertility increases, life expectancy decreases.</a:t>
            </a:r>
            <a:endParaRPr sz="1800">
              <a:solidFill>
                <a:srgbClr val="000000"/>
              </a:solidFill>
            </a:endParaRPr>
          </a:p>
          <a:p>
            <a:pPr marL="0" lvl="0" indent="0" algn="l" rtl="0">
              <a:lnSpc>
                <a:spcPct val="115000"/>
              </a:lnSpc>
              <a:spcBef>
                <a:spcPts val="600"/>
              </a:spcBef>
              <a:spcAft>
                <a:spcPts val="0"/>
              </a:spcAft>
              <a:buNone/>
            </a:pPr>
            <a:endParaRPr sz="2000">
              <a:solidFill>
                <a:srgbClr val="000000"/>
              </a:solidFill>
            </a:endParaRPr>
          </a:p>
          <a:p>
            <a:pPr marL="0" lvl="0" indent="0" algn="l" rtl="0">
              <a:lnSpc>
                <a:spcPct val="115000"/>
              </a:lnSpc>
              <a:spcBef>
                <a:spcPts val="600"/>
              </a:spcBef>
              <a:spcAft>
                <a:spcPts val="0"/>
              </a:spcAft>
              <a:buNone/>
            </a:pPr>
            <a:endParaRPr sz="1800">
              <a:solidFill>
                <a:srgbClr val="000000"/>
              </a:solidFill>
            </a:endParaRPr>
          </a:p>
          <a:p>
            <a:pPr marL="0" lvl="0" indent="0" algn="l" rtl="0">
              <a:lnSpc>
                <a:spcPct val="115000"/>
              </a:lnSpc>
              <a:spcBef>
                <a:spcPts val="600"/>
              </a:spcBef>
              <a:spcAft>
                <a:spcPts val="0"/>
              </a:spcAft>
              <a:buNone/>
            </a:pPr>
            <a:r>
              <a:rPr lang="en" sz="1800">
                <a:solidFill>
                  <a:srgbClr val="000000"/>
                </a:solidFill>
              </a:rPr>
              <a:t>The relationship changed over the years.</a:t>
            </a:r>
            <a:endParaRPr sz="1800">
              <a:solidFill>
                <a:srgbClr val="000000"/>
              </a:solidFill>
            </a:endParaRPr>
          </a:p>
        </p:txBody>
      </p:sp>
      <p:sp>
        <p:nvSpPr>
          <p:cNvPr id="59" name="Google Shape;59;p12"/>
          <p:cNvSpPr txBox="1"/>
          <p:nvPr/>
        </p:nvSpPr>
        <p:spPr>
          <a:xfrm>
            <a:off x="5361900" y="5501800"/>
            <a:ext cx="3020700" cy="3621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a:t>http://www.gapminder.org/world</a:t>
            </a:r>
            <a:endParaRPr/>
          </a:p>
        </p:txBody>
      </p:sp>
      <p:pic>
        <p:nvPicPr>
          <p:cNvPr id="60" name="Google Shape;60;p12" descr="Most countries are in the upper left corner, representing longer life expectancy and fewer children, a roughly linear relationship downwards for the other data where where life expectancy is lower while children per woman is simultaneously high." title="Gapminder Visualization of Life Expectancy vs Children Per Woman"/>
          <p:cNvPicPr preferRelativeResize="0"/>
          <p:nvPr/>
        </p:nvPicPr>
        <p:blipFill>
          <a:blip r:embed="rId3">
            <a:alphaModFix/>
          </a:blip>
          <a:stretch>
            <a:fillRect/>
          </a:stretch>
        </p:blipFill>
        <p:spPr>
          <a:xfrm>
            <a:off x="4963750" y="2474900"/>
            <a:ext cx="3817025" cy="2930301"/>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8">
                                            <p:txEl>
                                              <p:pRg st="0" end="0"/>
                                            </p:txEl>
                                          </p:spTgt>
                                        </p:tgtEl>
                                        <p:attrNameLst>
                                          <p:attrName>style.visibility</p:attrName>
                                        </p:attrNameLst>
                                      </p:cBhvr>
                                      <p:to>
                                        <p:strVal val="visible"/>
                                      </p:to>
                                    </p:set>
                                    <p:animEffect transition="in" filter="fade">
                                      <p:cBhvr>
                                        <p:cTn id="7" dur="1000"/>
                                        <p:tgtEl>
                                          <p:spTgt spid="58">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58">
                                            <p:txEl>
                                              <p:pRg st="1" end="1"/>
                                            </p:txEl>
                                          </p:spTgt>
                                        </p:tgtEl>
                                        <p:attrNameLst>
                                          <p:attrName>style.visibility</p:attrName>
                                        </p:attrNameLst>
                                      </p:cBhvr>
                                      <p:to>
                                        <p:strVal val="visible"/>
                                      </p:to>
                                    </p:set>
                                    <p:animEffect transition="in" filter="fade">
                                      <p:cBhvr>
                                        <p:cTn id="12" dur="1000"/>
                                        <p:tgtEl>
                                          <p:spTgt spid="58">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58">
                                            <p:txEl>
                                              <p:pRg st="2" end="2"/>
                                            </p:txEl>
                                          </p:spTgt>
                                        </p:tgtEl>
                                        <p:attrNameLst>
                                          <p:attrName>style.visibility</p:attrName>
                                        </p:attrNameLst>
                                      </p:cBhvr>
                                      <p:to>
                                        <p:strVal val="visible"/>
                                      </p:to>
                                    </p:set>
                                    <p:animEffect transition="in" filter="fade">
                                      <p:cBhvr>
                                        <p:cTn id="17" dur="1000"/>
                                        <p:tgtEl>
                                          <p:spTgt spid="58">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58">
                                            <p:txEl>
                                              <p:pRg st="3" end="3"/>
                                            </p:txEl>
                                          </p:spTgt>
                                        </p:tgtEl>
                                        <p:attrNameLst>
                                          <p:attrName>style.visibility</p:attrName>
                                        </p:attrNameLst>
                                      </p:cBhvr>
                                      <p:to>
                                        <p:strVal val="visible"/>
                                      </p:to>
                                    </p:set>
                                    <p:animEffect transition="in" filter="fade">
                                      <p:cBhvr>
                                        <p:cTn id="22" dur="1000"/>
                                        <p:tgtEl>
                                          <p:spTgt spid="58">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64"/>
        <p:cNvGrpSpPr/>
        <p:nvPr/>
      </p:nvGrpSpPr>
      <p:grpSpPr>
        <a:xfrm>
          <a:off x="0" y="0"/>
          <a:ext cx="0" cy="0"/>
          <a:chOff x="0" y="0"/>
          <a:chExt cx="0" cy="0"/>
        </a:xfrm>
      </p:grpSpPr>
      <p:sp>
        <p:nvSpPr>
          <p:cNvPr id="65" name="Google Shape;65;p13"/>
          <p:cNvSpPr txBox="1">
            <a:spLocks noGrp="1"/>
          </p:cNvSpPr>
          <p:nvPr>
            <p:ph type="body" idx="1"/>
          </p:nvPr>
        </p:nvSpPr>
        <p:spPr>
          <a:xfrm>
            <a:off x="457200" y="1417650"/>
            <a:ext cx="8154000" cy="5044800"/>
          </a:xfrm>
          <a:prstGeom prst="rect">
            <a:avLst/>
          </a:prstGeom>
        </p:spPr>
        <p:txBody>
          <a:bodyPr spcFirstLastPara="1" wrap="square" lIns="91425" tIns="91425" rIns="91425" bIns="91425" anchor="t" anchorCtr="0">
            <a:noAutofit/>
          </a:bodyPr>
          <a:lstStyle/>
          <a:p>
            <a:pPr marL="0" lvl="0" indent="0" algn="l" rtl="0">
              <a:lnSpc>
                <a:spcPct val="115000"/>
              </a:lnSpc>
              <a:spcBef>
                <a:spcPts val="600"/>
              </a:spcBef>
              <a:spcAft>
                <a:spcPts val="0"/>
              </a:spcAft>
              <a:buNone/>
            </a:pPr>
            <a:r>
              <a:rPr lang="en" sz="2200">
                <a:solidFill>
                  <a:srgbClr val="000000"/>
                </a:solidFill>
              </a:rPr>
              <a:t>Useful for visualizing one numerical variable. Darker colors represent areas where there are more observations.</a:t>
            </a:r>
            <a:endParaRPr sz="2200">
              <a:solidFill>
                <a:srgbClr val="000000"/>
              </a:solidFill>
            </a:endParaRPr>
          </a:p>
          <a:p>
            <a:pPr marL="0" lvl="0" indent="0" algn="l" rtl="0">
              <a:lnSpc>
                <a:spcPct val="115000"/>
              </a:lnSpc>
              <a:spcBef>
                <a:spcPts val="600"/>
              </a:spcBef>
              <a:spcAft>
                <a:spcPts val="0"/>
              </a:spcAft>
              <a:buNone/>
            </a:pPr>
            <a:endParaRPr sz="2200">
              <a:solidFill>
                <a:srgbClr val="000000"/>
              </a:solidFill>
            </a:endParaRPr>
          </a:p>
          <a:p>
            <a:pPr marL="0" lvl="0" indent="0" algn="l" rtl="0">
              <a:lnSpc>
                <a:spcPct val="115000"/>
              </a:lnSpc>
              <a:spcBef>
                <a:spcPts val="600"/>
              </a:spcBef>
              <a:spcAft>
                <a:spcPts val="0"/>
              </a:spcAft>
              <a:buNone/>
            </a:pPr>
            <a:endParaRPr sz="2200">
              <a:solidFill>
                <a:srgbClr val="000000"/>
              </a:solidFill>
            </a:endParaRPr>
          </a:p>
          <a:p>
            <a:pPr marL="0" lvl="0" indent="0" algn="l" rtl="0">
              <a:lnSpc>
                <a:spcPct val="115000"/>
              </a:lnSpc>
              <a:spcBef>
                <a:spcPts val="600"/>
              </a:spcBef>
              <a:spcAft>
                <a:spcPts val="0"/>
              </a:spcAft>
              <a:buNone/>
            </a:pPr>
            <a:endParaRPr sz="2200">
              <a:solidFill>
                <a:srgbClr val="000000"/>
              </a:solidFill>
            </a:endParaRPr>
          </a:p>
          <a:p>
            <a:pPr marL="0" lvl="0" indent="0" algn="l" rtl="0">
              <a:lnSpc>
                <a:spcPct val="115000"/>
              </a:lnSpc>
              <a:spcBef>
                <a:spcPts val="600"/>
              </a:spcBef>
              <a:spcAft>
                <a:spcPts val="0"/>
              </a:spcAft>
              <a:buNone/>
            </a:pPr>
            <a:endParaRPr sz="2200">
              <a:solidFill>
                <a:srgbClr val="000000"/>
              </a:solidFill>
            </a:endParaRPr>
          </a:p>
          <a:p>
            <a:pPr marL="0" lvl="0" indent="0" algn="l" rtl="0">
              <a:lnSpc>
                <a:spcPct val="115000"/>
              </a:lnSpc>
              <a:spcBef>
                <a:spcPts val="600"/>
              </a:spcBef>
              <a:spcAft>
                <a:spcPts val="0"/>
              </a:spcAft>
              <a:buNone/>
            </a:pPr>
            <a:endParaRPr sz="2200">
              <a:solidFill>
                <a:srgbClr val="000000"/>
              </a:solidFill>
            </a:endParaRPr>
          </a:p>
          <a:p>
            <a:pPr marL="0" lvl="0" indent="0" algn="l" rtl="0">
              <a:lnSpc>
                <a:spcPct val="115000"/>
              </a:lnSpc>
              <a:spcBef>
                <a:spcPts val="600"/>
              </a:spcBef>
              <a:spcAft>
                <a:spcPts val="0"/>
              </a:spcAft>
              <a:buNone/>
            </a:pPr>
            <a:r>
              <a:rPr lang="en" sz="2200">
                <a:solidFill>
                  <a:schemeClr val="accent1"/>
                </a:solidFill>
              </a:rPr>
              <a:t>How would you describe the distribution of GPAs in this data set?</a:t>
            </a:r>
            <a:r>
              <a:rPr lang="en" sz="2200">
                <a:solidFill>
                  <a:srgbClr val="000000"/>
                </a:solidFill>
              </a:rPr>
              <a:t> </a:t>
            </a:r>
            <a:r>
              <a:rPr lang="en" sz="2200">
                <a:solidFill>
                  <a:schemeClr val="accent1"/>
                </a:solidFill>
              </a:rPr>
              <a:t>Make sure to say something about the center, shape, and spread of the distribution.</a:t>
            </a:r>
            <a:endParaRPr sz="2200">
              <a:solidFill>
                <a:schemeClr val="accent1"/>
              </a:solidFill>
            </a:endParaRPr>
          </a:p>
        </p:txBody>
      </p:sp>
      <p:sp>
        <p:nvSpPr>
          <p:cNvPr id="66" name="Google Shape;66;p13"/>
          <p:cNvSpPr txBox="1">
            <a:spLocks noGrp="1"/>
          </p:cNvSpPr>
          <p:nvPr>
            <p:ph type="title"/>
          </p:nvPr>
        </p:nvSpPr>
        <p:spPr>
          <a:xfrm>
            <a:off x="457200" y="274638"/>
            <a:ext cx="8229600" cy="11430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solidFill>
                  <a:schemeClr val="accent1"/>
                </a:solidFill>
              </a:rPr>
              <a:t>Dot Plots</a:t>
            </a:r>
            <a:endParaRPr>
              <a:solidFill>
                <a:schemeClr val="accent1"/>
              </a:solidFill>
            </a:endParaRPr>
          </a:p>
        </p:txBody>
      </p:sp>
      <p:pic>
        <p:nvPicPr>
          <p:cNvPr id="67" name="Google Shape;67;p13"/>
          <p:cNvPicPr preferRelativeResize="0"/>
          <p:nvPr/>
        </p:nvPicPr>
        <p:blipFill>
          <a:blip r:embed="rId3">
            <a:alphaModFix/>
          </a:blip>
          <a:stretch>
            <a:fillRect/>
          </a:stretch>
        </p:blipFill>
        <p:spPr>
          <a:xfrm>
            <a:off x="671413" y="2698300"/>
            <a:ext cx="7277175" cy="1461400"/>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71"/>
        <p:cNvGrpSpPr/>
        <p:nvPr/>
      </p:nvGrpSpPr>
      <p:grpSpPr>
        <a:xfrm>
          <a:off x="0" y="0"/>
          <a:ext cx="0" cy="0"/>
          <a:chOff x="0" y="0"/>
          <a:chExt cx="0" cy="0"/>
        </a:xfrm>
      </p:grpSpPr>
      <p:sp>
        <p:nvSpPr>
          <p:cNvPr id="72" name="Google Shape;72;p14"/>
          <p:cNvSpPr txBox="1">
            <a:spLocks noGrp="1"/>
          </p:cNvSpPr>
          <p:nvPr>
            <p:ph type="title"/>
          </p:nvPr>
        </p:nvSpPr>
        <p:spPr>
          <a:xfrm>
            <a:off x="457200" y="274638"/>
            <a:ext cx="8229600" cy="11430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solidFill>
                  <a:schemeClr val="accent1"/>
                </a:solidFill>
              </a:rPr>
              <a:t>Dot Plots &amp; Mean</a:t>
            </a:r>
            <a:endParaRPr>
              <a:solidFill>
                <a:schemeClr val="accent1"/>
              </a:solidFill>
            </a:endParaRPr>
          </a:p>
        </p:txBody>
      </p:sp>
      <p:sp>
        <p:nvSpPr>
          <p:cNvPr id="73" name="Google Shape;73;p14"/>
          <p:cNvSpPr txBox="1">
            <a:spLocks noGrp="1"/>
          </p:cNvSpPr>
          <p:nvPr>
            <p:ph type="body" idx="1"/>
          </p:nvPr>
        </p:nvSpPr>
        <p:spPr>
          <a:xfrm>
            <a:off x="457200" y="1417650"/>
            <a:ext cx="8154000" cy="5044800"/>
          </a:xfrm>
          <a:prstGeom prst="rect">
            <a:avLst/>
          </a:prstGeom>
        </p:spPr>
        <p:txBody>
          <a:bodyPr spcFirstLastPara="1" wrap="square" lIns="91425" tIns="91425" rIns="91425" bIns="91425" anchor="t" anchorCtr="0">
            <a:noAutofit/>
          </a:bodyPr>
          <a:lstStyle/>
          <a:p>
            <a:pPr marL="0" lvl="0" indent="0" algn="l" rtl="0">
              <a:lnSpc>
                <a:spcPct val="115000"/>
              </a:lnSpc>
              <a:spcBef>
                <a:spcPts val="600"/>
              </a:spcBef>
              <a:spcAft>
                <a:spcPts val="0"/>
              </a:spcAft>
              <a:buNone/>
            </a:pPr>
            <a:endParaRPr sz="2200">
              <a:solidFill>
                <a:srgbClr val="000000"/>
              </a:solidFill>
            </a:endParaRPr>
          </a:p>
          <a:p>
            <a:pPr marL="0" lvl="0" indent="0" algn="l" rtl="0">
              <a:lnSpc>
                <a:spcPct val="115000"/>
              </a:lnSpc>
              <a:spcBef>
                <a:spcPts val="600"/>
              </a:spcBef>
              <a:spcAft>
                <a:spcPts val="0"/>
              </a:spcAft>
              <a:buNone/>
            </a:pPr>
            <a:endParaRPr sz="2200">
              <a:solidFill>
                <a:srgbClr val="000000"/>
              </a:solidFill>
            </a:endParaRPr>
          </a:p>
          <a:p>
            <a:pPr marL="0" lvl="0" indent="0" algn="l" rtl="0">
              <a:lnSpc>
                <a:spcPct val="115000"/>
              </a:lnSpc>
              <a:spcBef>
                <a:spcPts val="600"/>
              </a:spcBef>
              <a:spcAft>
                <a:spcPts val="0"/>
              </a:spcAft>
              <a:buNone/>
            </a:pPr>
            <a:endParaRPr sz="2200">
              <a:solidFill>
                <a:srgbClr val="000000"/>
              </a:solidFill>
            </a:endParaRPr>
          </a:p>
          <a:p>
            <a:pPr marL="0" lvl="0" indent="0" algn="l" rtl="0">
              <a:lnSpc>
                <a:spcPct val="115000"/>
              </a:lnSpc>
              <a:spcBef>
                <a:spcPts val="600"/>
              </a:spcBef>
              <a:spcAft>
                <a:spcPts val="0"/>
              </a:spcAft>
              <a:buNone/>
            </a:pPr>
            <a:endParaRPr sz="2200">
              <a:solidFill>
                <a:srgbClr val="000000"/>
              </a:solidFill>
            </a:endParaRPr>
          </a:p>
          <a:p>
            <a:pPr marL="0" lvl="0" indent="0" algn="l" rtl="0">
              <a:lnSpc>
                <a:spcPct val="115000"/>
              </a:lnSpc>
              <a:spcBef>
                <a:spcPts val="600"/>
              </a:spcBef>
              <a:spcAft>
                <a:spcPts val="0"/>
              </a:spcAft>
              <a:buClr>
                <a:srgbClr val="000000"/>
              </a:buClr>
              <a:buSzPts val="1100"/>
              <a:buFont typeface="Arial"/>
              <a:buNone/>
            </a:pPr>
            <a:r>
              <a:rPr lang="en" sz="2200">
                <a:solidFill>
                  <a:srgbClr val="000000"/>
                </a:solidFill>
              </a:rPr>
              <a:t>The </a:t>
            </a:r>
            <a:r>
              <a:rPr lang="en" sz="2200" i="1">
                <a:solidFill>
                  <a:schemeClr val="accent1"/>
                </a:solidFill>
              </a:rPr>
              <a:t>mean</a:t>
            </a:r>
            <a:r>
              <a:rPr lang="en" sz="2200">
                <a:solidFill>
                  <a:srgbClr val="000000"/>
                </a:solidFill>
              </a:rPr>
              <a:t>, also called the </a:t>
            </a:r>
            <a:r>
              <a:rPr lang="en" sz="2200" i="1">
                <a:solidFill>
                  <a:schemeClr val="accent1"/>
                </a:solidFill>
              </a:rPr>
              <a:t>average</a:t>
            </a:r>
            <a:r>
              <a:rPr lang="en" sz="2200" i="1">
                <a:solidFill>
                  <a:srgbClr val="000000"/>
                </a:solidFill>
              </a:rPr>
              <a:t> </a:t>
            </a:r>
            <a:r>
              <a:rPr lang="en" sz="2200">
                <a:solidFill>
                  <a:srgbClr val="000000"/>
                </a:solidFill>
              </a:rPr>
              <a:t>(marked with a triangle in the above plot), is one way to measure the center of a </a:t>
            </a:r>
            <a:r>
              <a:rPr lang="en" sz="2200" i="1">
                <a:solidFill>
                  <a:schemeClr val="accent1"/>
                </a:solidFill>
              </a:rPr>
              <a:t>distribution</a:t>
            </a:r>
            <a:r>
              <a:rPr lang="en" sz="2200" i="1">
                <a:solidFill>
                  <a:srgbClr val="000000"/>
                </a:solidFill>
              </a:rPr>
              <a:t> </a:t>
            </a:r>
            <a:r>
              <a:rPr lang="en" sz="2200">
                <a:solidFill>
                  <a:srgbClr val="000000"/>
                </a:solidFill>
              </a:rPr>
              <a:t>of data.</a:t>
            </a:r>
            <a:endParaRPr sz="2200">
              <a:solidFill>
                <a:srgbClr val="000000"/>
              </a:solidFill>
            </a:endParaRPr>
          </a:p>
          <a:p>
            <a:pPr marL="0" lvl="0" indent="0" algn="l" rtl="0">
              <a:lnSpc>
                <a:spcPct val="115000"/>
              </a:lnSpc>
              <a:spcBef>
                <a:spcPts val="600"/>
              </a:spcBef>
              <a:spcAft>
                <a:spcPts val="0"/>
              </a:spcAft>
              <a:buClr>
                <a:srgbClr val="000000"/>
              </a:buClr>
              <a:buSzPts val="1100"/>
              <a:buFont typeface="Arial"/>
              <a:buNone/>
            </a:pPr>
            <a:endParaRPr sz="1200">
              <a:solidFill>
                <a:srgbClr val="000000"/>
              </a:solidFill>
            </a:endParaRPr>
          </a:p>
          <a:p>
            <a:pPr marL="0" lvl="0" indent="0" algn="l" rtl="0">
              <a:lnSpc>
                <a:spcPct val="115000"/>
              </a:lnSpc>
              <a:spcBef>
                <a:spcPts val="600"/>
              </a:spcBef>
              <a:spcAft>
                <a:spcPts val="0"/>
              </a:spcAft>
              <a:buNone/>
            </a:pPr>
            <a:r>
              <a:rPr lang="en" sz="2200">
                <a:solidFill>
                  <a:srgbClr val="000000"/>
                </a:solidFill>
              </a:rPr>
              <a:t>The mean GPA is </a:t>
            </a:r>
            <a:r>
              <a:rPr lang="en" sz="2200">
                <a:solidFill>
                  <a:srgbClr val="FF9900"/>
                </a:solidFill>
              </a:rPr>
              <a:t>3.59</a:t>
            </a:r>
            <a:r>
              <a:rPr lang="en" sz="2200">
                <a:solidFill>
                  <a:srgbClr val="000000"/>
                </a:solidFill>
              </a:rPr>
              <a:t>.</a:t>
            </a:r>
            <a:endParaRPr sz="2200">
              <a:solidFill>
                <a:srgbClr val="000000"/>
              </a:solidFill>
            </a:endParaRPr>
          </a:p>
        </p:txBody>
      </p:sp>
      <p:pic>
        <p:nvPicPr>
          <p:cNvPr id="74" name="Google Shape;74;p14"/>
          <p:cNvPicPr preferRelativeResize="0"/>
          <p:nvPr/>
        </p:nvPicPr>
        <p:blipFill>
          <a:blip r:embed="rId3">
            <a:alphaModFix/>
          </a:blip>
          <a:stretch>
            <a:fillRect/>
          </a:stretch>
        </p:blipFill>
        <p:spPr>
          <a:xfrm>
            <a:off x="694775" y="1746950"/>
            <a:ext cx="7461075" cy="1383800"/>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78"/>
        <p:cNvGrpSpPr/>
        <p:nvPr/>
      </p:nvGrpSpPr>
      <p:grpSpPr>
        <a:xfrm>
          <a:off x="0" y="0"/>
          <a:ext cx="0" cy="0"/>
          <a:chOff x="0" y="0"/>
          <a:chExt cx="0" cy="0"/>
        </a:xfrm>
      </p:grpSpPr>
      <p:sp>
        <p:nvSpPr>
          <p:cNvPr id="79" name="Google Shape;79;p15"/>
          <p:cNvSpPr txBox="1">
            <a:spLocks noGrp="1"/>
          </p:cNvSpPr>
          <p:nvPr>
            <p:ph type="title"/>
          </p:nvPr>
        </p:nvSpPr>
        <p:spPr>
          <a:xfrm>
            <a:off x="457200" y="-12"/>
            <a:ext cx="8229600" cy="11430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solidFill>
                  <a:schemeClr val="accent1"/>
                </a:solidFill>
              </a:rPr>
              <a:t>Mean</a:t>
            </a:r>
            <a:endParaRPr>
              <a:solidFill>
                <a:schemeClr val="accent1"/>
              </a:solidFill>
            </a:endParaRPr>
          </a:p>
        </p:txBody>
      </p:sp>
      <p:sp>
        <p:nvSpPr>
          <p:cNvPr id="80" name="Google Shape;80;p15"/>
          <p:cNvSpPr txBox="1">
            <a:spLocks noGrp="1"/>
          </p:cNvSpPr>
          <p:nvPr>
            <p:ph type="body" idx="1"/>
          </p:nvPr>
        </p:nvSpPr>
        <p:spPr>
          <a:xfrm>
            <a:off x="457200" y="1143000"/>
            <a:ext cx="8154000" cy="5044800"/>
          </a:xfrm>
          <a:prstGeom prst="rect">
            <a:avLst/>
          </a:prstGeom>
        </p:spPr>
        <p:txBody>
          <a:bodyPr spcFirstLastPara="1" wrap="square" lIns="91425" tIns="91425" rIns="91425" bIns="91425" anchor="t" anchorCtr="0">
            <a:noAutofit/>
          </a:bodyPr>
          <a:lstStyle/>
          <a:p>
            <a:pPr marL="0" lvl="0" indent="0" algn="l" rtl="0">
              <a:lnSpc>
                <a:spcPct val="115000"/>
              </a:lnSpc>
              <a:spcBef>
                <a:spcPts val="600"/>
              </a:spcBef>
              <a:spcAft>
                <a:spcPts val="0"/>
              </a:spcAft>
              <a:buClr>
                <a:srgbClr val="000000"/>
              </a:buClr>
              <a:buSzPts val="1100"/>
              <a:buFont typeface="Arial"/>
              <a:buNone/>
            </a:pPr>
            <a:r>
              <a:rPr lang="en" sz="2000">
                <a:solidFill>
                  <a:srgbClr val="000000"/>
                </a:solidFill>
              </a:rPr>
              <a:t>The </a:t>
            </a:r>
            <a:r>
              <a:rPr lang="en" sz="2000" i="1">
                <a:solidFill>
                  <a:schemeClr val="accent1"/>
                </a:solidFill>
              </a:rPr>
              <a:t>sample mean</a:t>
            </a:r>
            <a:r>
              <a:rPr lang="en" sz="2000">
                <a:solidFill>
                  <a:srgbClr val="000000"/>
                </a:solidFill>
              </a:rPr>
              <a:t>, denoted as </a:t>
            </a:r>
            <a:r>
              <a:rPr lang="en" sz="2000" i="1">
                <a:solidFill>
                  <a:schemeClr val="accent1"/>
                </a:solidFill>
              </a:rPr>
              <a:t>x̄</a:t>
            </a:r>
            <a:r>
              <a:rPr lang="en" sz="2000">
                <a:solidFill>
                  <a:srgbClr val="000000"/>
                </a:solidFill>
              </a:rPr>
              <a:t>, can be calculated as</a:t>
            </a:r>
            <a:endParaRPr sz="2000">
              <a:solidFill>
                <a:srgbClr val="000000"/>
              </a:solidFill>
            </a:endParaRPr>
          </a:p>
          <a:p>
            <a:pPr marL="0" lvl="0" indent="0" algn="l" rtl="0">
              <a:lnSpc>
                <a:spcPct val="115000"/>
              </a:lnSpc>
              <a:spcBef>
                <a:spcPts val="600"/>
              </a:spcBef>
              <a:spcAft>
                <a:spcPts val="0"/>
              </a:spcAft>
              <a:buClr>
                <a:srgbClr val="000000"/>
              </a:buClr>
              <a:buSzPts val="1100"/>
              <a:buFont typeface="Arial"/>
              <a:buNone/>
            </a:pPr>
            <a:endParaRPr sz="2000">
              <a:solidFill>
                <a:srgbClr val="000000"/>
              </a:solidFill>
            </a:endParaRPr>
          </a:p>
          <a:p>
            <a:pPr marL="0" lvl="0" indent="0" algn="l" rtl="0">
              <a:lnSpc>
                <a:spcPct val="115000"/>
              </a:lnSpc>
              <a:spcBef>
                <a:spcPts val="600"/>
              </a:spcBef>
              <a:spcAft>
                <a:spcPts val="0"/>
              </a:spcAft>
              <a:buNone/>
            </a:pPr>
            <a:endParaRPr sz="2000">
              <a:solidFill>
                <a:srgbClr val="000000"/>
              </a:solidFill>
            </a:endParaRPr>
          </a:p>
          <a:p>
            <a:pPr marL="0" lvl="0" indent="0" algn="l" rtl="0">
              <a:lnSpc>
                <a:spcPct val="115000"/>
              </a:lnSpc>
              <a:spcBef>
                <a:spcPts val="600"/>
              </a:spcBef>
              <a:spcAft>
                <a:spcPts val="0"/>
              </a:spcAft>
              <a:buNone/>
            </a:pPr>
            <a:r>
              <a:rPr lang="en" sz="2000">
                <a:solidFill>
                  <a:srgbClr val="000000"/>
                </a:solidFill>
              </a:rPr>
              <a:t>where x</a:t>
            </a:r>
            <a:r>
              <a:rPr lang="en" sz="2000" baseline="-25000">
                <a:solidFill>
                  <a:srgbClr val="000000"/>
                </a:solidFill>
              </a:rPr>
              <a:t>1</a:t>
            </a:r>
            <a:r>
              <a:rPr lang="en" sz="2000">
                <a:solidFill>
                  <a:srgbClr val="000000"/>
                </a:solidFill>
              </a:rPr>
              <a:t>, x</a:t>
            </a:r>
            <a:r>
              <a:rPr lang="en" sz="2000" baseline="-25000">
                <a:solidFill>
                  <a:srgbClr val="000000"/>
                </a:solidFill>
              </a:rPr>
              <a:t>2</a:t>
            </a:r>
            <a:r>
              <a:rPr lang="en" sz="2000">
                <a:solidFill>
                  <a:srgbClr val="000000"/>
                </a:solidFill>
              </a:rPr>
              <a:t>, ..., x</a:t>
            </a:r>
            <a:r>
              <a:rPr lang="en" sz="2000" baseline="-25000">
                <a:solidFill>
                  <a:srgbClr val="000000"/>
                </a:solidFill>
              </a:rPr>
              <a:t>n</a:t>
            </a:r>
            <a:r>
              <a:rPr lang="en" sz="2000">
                <a:solidFill>
                  <a:srgbClr val="000000"/>
                </a:solidFill>
              </a:rPr>
              <a:t> represent the </a:t>
            </a:r>
            <a:r>
              <a:rPr lang="en" sz="2000" i="1">
                <a:solidFill>
                  <a:schemeClr val="accent1"/>
                </a:solidFill>
              </a:rPr>
              <a:t>n</a:t>
            </a:r>
            <a:r>
              <a:rPr lang="en" sz="2000">
                <a:solidFill>
                  <a:srgbClr val="000000"/>
                </a:solidFill>
              </a:rPr>
              <a:t> observed values.</a:t>
            </a:r>
            <a:endParaRPr sz="2000">
              <a:solidFill>
                <a:srgbClr val="000000"/>
              </a:solidFill>
            </a:endParaRPr>
          </a:p>
          <a:p>
            <a:pPr marL="0" lvl="0" indent="0" algn="l" rtl="0">
              <a:lnSpc>
                <a:spcPct val="115000"/>
              </a:lnSpc>
              <a:spcBef>
                <a:spcPts val="600"/>
              </a:spcBef>
              <a:spcAft>
                <a:spcPts val="0"/>
              </a:spcAft>
              <a:buNone/>
            </a:pPr>
            <a:endParaRPr sz="600">
              <a:solidFill>
                <a:srgbClr val="000000"/>
              </a:solidFill>
            </a:endParaRPr>
          </a:p>
          <a:p>
            <a:pPr marL="0" lvl="0" indent="0" algn="l" rtl="0">
              <a:lnSpc>
                <a:spcPct val="115000"/>
              </a:lnSpc>
              <a:spcBef>
                <a:spcPts val="600"/>
              </a:spcBef>
              <a:spcAft>
                <a:spcPts val="0"/>
              </a:spcAft>
              <a:buNone/>
            </a:pPr>
            <a:r>
              <a:rPr lang="en" sz="2000">
                <a:solidFill>
                  <a:srgbClr val="000000"/>
                </a:solidFill>
              </a:rPr>
              <a:t>The </a:t>
            </a:r>
            <a:r>
              <a:rPr lang="en" sz="2000" i="1">
                <a:solidFill>
                  <a:schemeClr val="accent1"/>
                </a:solidFill>
              </a:rPr>
              <a:t>population mean</a:t>
            </a:r>
            <a:r>
              <a:rPr lang="en" sz="2000">
                <a:solidFill>
                  <a:srgbClr val="000000"/>
                </a:solidFill>
              </a:rPr>
              <a:t> is also computed the same way but is denoted as </a:t>
            </a:r>
            <a:r>
              <a:rPr lang="en" sz="2000" i="1">
                <a:solidFill>
                  <a:schemeClr val="accent1"/>
                </a:solidFill>
              </a:rPr>
              <a:t>µ</a:t>
            </a:r>
            <a:r>
              <a:rPr lang="en" sz="2000">
                <a:solidFill>
                  <a:srgbClr val="000000"/>
                </a:solidFill>
              </a:rPr>
              <a:t>. It is often not possible to calculate µ since population data are rarely available.</a:t>
            </a:r>
            <a:endParaRPr sz="2000">
              <a:solidFill>
                <a:srgbClr val="000000"/>
              </a:solidFill>
            </a:endParaRPr>
          </a:p>
          <a:p>
            <a:pPr marL="0" lvl="0" indent="0" algn="l" rtl="0">
              <a:lnSpc>
                <a:spcPct val="115000"/>
              </a:lnSpc>
              <a:spcBef>
                <a:spcPts val="600"/>
              </a:spcBef>
              <a:spcAft>
                <a:spcPts val="0"/>
              </a:spcAft>
              <a:buNone/>
            </a:pPr>
            <a:endParaRPr sz="600">
              <a:solidFill>
                <a:srgbClr val="000000"/>
              </a:solidFill>
            </a:endParaRPr>
          </a:p>
          <a:p>
            <a:pPr marL="0" lvl="0" indent="0" algn="l" rtl="0">
              <a:lnSpc>
                <a:spcPct val="115000"/>
              </a:lnSpc>
              <a:spcBef>
                <a:spcPts val="600"/>
              </a:spcBef>
              <a:spcAft>
                <a:spcPts val="0"/>
              </a:spcAft>
              <a:buClr>
                <a:srgbClr val="000000"/>
              </a:buClr>
              <a:buSzPts val="1100"/>
              <a:buFont typeface="Arial"/>
              <a:buNone/>
            </a:pPr>
            <a:r>
              <a:rPr lang="en" sz="2000">
                <a:solidFill>
                  <a:srgbClr val="000000"/>
                </a:solidFill>
              </a:rPr>
              <a:t>The sample mean is a </a:t>
            </a:r>
            <a:r>
              <a:rPr lang="en" sz="2000" i="1">
                <a:solidFill>
                  <a:schemeClr val="accent1"/>
                </a:solidFill>
              </a:rPr>
              <a:t>sample statistic</a:t>
            </a:r>
            <a:r>
              <a:rPr lang="en" sz="2000">
                <a:solidFill>
                  <a:srgbClr val="000000"/>
                </a:solidFill>
              </a:rPr>
              <a:t>, and serves as a</a:t>
            </a:r>
            <a:br>
              <a:rPr lang="en" sz="2000">
                <a:solidFill>
                  <a:srgbClr val="000000"/>
                </a:solidFill>
              </a:rPr>
            </a:br>
            <a:r>
              <a:rPr lang="en" sz="2000" i="1">
                <a:solidFill>
                  <a:schemeClr val="accent1"/>
                </a:solidFill>
              </a:rPr>
              <a:t>point estimate</a:t>
            </a:r>
            <a:r>
              <a:rPr lang="en" sz="2000">
                <a:solidFill>
                  <a:srgbClr val="000000"/>
                </a:solidFill>
              </a:rPr>
              <a:t> of the population mean. This estimate may not be perfect, but if the sample is good (representative of the population),</a:t>
            </a:r>
            <a:br>
              <a:rPr lang="en" sz="2000">
                <a:solidFill>
                  <a:srgbClr val="000000"/>
                </a:solidFill>
              </a:rPr>
            </a:br>
            <a:r>
              <a:rPr lang="en" sz="2000">
                <a:solidFill>
                  <a:srgbClr val="000000"/>
                </a:solidFill>
              </a:rPr>
              <a:t>it is usually a pretty good estimate. </a:t>
            </a:r>
            <a:endParaRPr sz="2000">
              <a:solidFill>
                <a:srgbClr val="000000"/>
              </a:solidFill>
            </a:endParaRPr>
          </a:p>
          <a:p>
            <a:pPr marL="0" lvl="0" indent="0" algn="l" rtl="0">
              <a:lnSpc>
                <a:spcPct val="115000"/>
              </a:lnSpc>
              <a:spcBef>
                <a:spcPts val="600"/>
              </a:spcBef>
              <a:spcAft>
                <a:spcPts val="0"/>
              </a:spcAft>
              <a:buNone/>
            </a:pPr>
            <a:endParaRPr sz="2000">
              <a:solidFill>
                <a:srgbClr val="000000"/>
              </a:solidFill>
            </a:endParaRPr>
          </a:p>
        </p:txBody>
      </p:sp>
      <p:pic>
        <p:nvPicPr>
          <p:cNvPr id="81" name="Google Shape;81;p15"/>
          <p:cNvPicPr preferRelativeResize="0"/>
          <p:nvPr/>
        </p:nvPicPr>
        <p:blipFill>
          <a:blip r:embed="rId3">
            <a:alphaModFix/>
          </a:blip>
          <a:stretch>
            <a:fillRect/>
          </a:stretch>
        </p:blipFill>
        <p:spPr>
          <a:xfrm>
            <a:off x="1735625" y="1738250"/>
            <a:ext cx="2708600" cy="707225"/>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85"/>
        <p:cNvGrpSpPr/>
        <p:nvPr/>
      </p:nvGrpSpPr>
      <p:grpSpPr>
        <a:xfrm>
          <a:off x="0" y="0"/>
          <a:ext cx="0" cy="0"/>
          <a:chOff x="0" y="0"/>
          <a:chExt cx="0" cy="0"/>
        </a:xfrm>
      </p:grpSpPr>
      <p:sp>
        <p:nvSpPr>
          <p:cNvPr id="86" name="Google Shape;86;p16"/>
          <p:cNvSpPr txBox="1">
            <a:spLocks noGrp="1"/>
          </p:cNvSpPr>
          <p:nvPr>
            <p:ph type="title"/>
          </p:nvPr>
        </p:nvSpPr>
        <p:spPr>
          <a:xfrm>
            <a:off x="457200" y="-12"/>
            <a:ext cx="8229600" cy="11430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solidFill>
                  <a:schemeClr val="accent1"/>
                </a:solidFill>
              </a:rPr>
              <a:t>Stacked Dot Plot</a:t>
            </a:r>
            <a:endParaRPr>
              <a:solidFill>
                <a:schemeClr val="accent1"/>
              </a:solidFill>
            </a:endParaRPr>
          </a:p>
        </p:txBody>
      </p:sp>
      <p:sp>
        <p:nvSpPr>
          <p:cNvPr id="87" name="Google Shape;87;p16"/>
          <p:cNvSpPr txBox="1">
            <a:spLocks noGrp="1"/>
          </p:cNvSpPr>
          <p:nvPr>
            <p:ph type="body" idx="1"/>
          </p:nvPr>
        </p:nvSpPr>
        <p:spPr>
          <a:xfrm>
            <a:off x="457200" y="1143000"/>
            <a:ext cx="8154000" cy="5044800"/>
          </a:xfrm>
          <a:prstGeom prst="rect">
            <a:avLst/>
          </a:prstGeom>
        </p:spPr>
        <p:txBody>
          <a:bodyPr spcFirstLastPara="1" wrap="square" lIns="91425" tIns="91425" rIns="91425" bIns="91425" anchor="t" anchorCtr="0">
            <a:noAutofit/>
          </a:bodyPr>
          <a:lstStyle/>
          <a:p>
            <a:pPr marL="0" lvl="0" indent="0" algn="l" rtl="0">
              <a:lnSpc>
                <a:spcPct val="115000"/>
              </a:lnSpc>
              <a:spcBef>
                <a:spcPts val="600"/>
              </a:spcBef>
              <a:spcAft>
                <a:spcPts val="0"/>
              </a:spcAft>
              <a:buNone/>
            </a:pPr>
            <a:r>
              <a:rPr lang="en" sz="2200">
                <a:solidFill>
                  <a:srgbClr val="000000"/>
                </a:solidFill>
              </a:rPr>
              <a:t>Higher bars represent areas where there are more observations, makes it a little easier to judge the center and the shape of the distribution.</a:t>
            </a:r>
            <a:endParaRPr sz="2200">
              <a:solidFill>
                <a:srgbClr val="000000"/>
              </a:solidFill>
            </a:endParaRPr>
          </a:p>
        </p:txBody>
      </p:sp>
      <p:pic>
        <p:nvPicPr>
          <p:cNvPr id="88" name="Google Shape;88;p16"/>
          <p:cNvPicPr preferRelativeResize="0"/>
          <p:nvPr/>
        </p:nvPicPr>
        <p:blipFill>
          <a:blip r:embed="rId3">
            <a:alphaModFix/>
          </a:blip>
          <a:stretch>
            <a:fillRect/>
          </a:stretch>
        </p:blipFill>
        <p:spPr>
          <a:xfrm>
            <a:off x="457200" y="2475977"/>
            <a:ext cx="7965050" cy="3510576"/>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92"/>
        <p:cNvGrpSpPr/>
        <p:nvPr/>
      </p:nvGrpSpPr>
      <p:grpSpPr>
        <a:xfrm>
          <a:off x="0" y="0"/>
          <a:ext cx="0" cy="0"/>
          <a:chOff x="0" y="0"/>
          <a:chExt cx="0" cy="0"/>
        </a:xfrm>
      </p:grpSpPr>
      <p:sp>
        <p:nvSpPr>
          <p:cNvPr id="93" name="Google Shape;93;p17"/>
          <p:cNvSpPr txBox="1">
            <a:spLocks noGrp="1"/>
          </p:cNvSpPr>
          <p:nvPr>
            <p:ph type="title"/>
          </p:nvPr>
        </p:nvSpPr>
        <p:spPr>
          <a:xfrm>
            <a:off x="457200" y="-12"/>
            <a:ext cx="8229600" cy="11430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solidFill>
                  <a:schemeClr val="accent1"/>
                </a:solidFill>
              </a:rPr>
              <a:t>Histograms - Extracurricular Hours</a:t>
            </a:r>
            <a:endParaRPr>
              <a:solidFill>
                <a:schemeClr val="accent1"/>
              </a:solidFill>
            </a:endParaRPr>
          </a:p>
        </p:txBody>
      </p:sp>
      <p:sp>
        <p:nvSpPr>
          <p:cNvPr id="94" name="Google Shape;94;p17"/>
          <p:cNvSpPr txBox="1">
            <a:spLocks noGrp="1"/>
          </p:cNvSpPr>
          <p:nvPr>
            <p:ph type="body" idx="1"/>
          </p:nvPr>
        </p:nvSpPr>
        <p:spPr>
          <a:xfrm>
            <a:off x="457200" y="1143000"/>
            <a:ext cx="8154000" cy="5044800"/>
          </a:xfrm>
          <a:prstGeom prst="rect">
            <a:avLst/>
          </a:prstGeom>
        </p:spPr>
        <p:txBody>
          <a:bodyPr spcFirstLastPara="1" wrap="square" lIns="91425" tIns="91425" rIns="91425" bIns="91425" anchor="t" anchorCtr="0">
            <a:noAutofit/>
          </a:bodyPr>
          <a:lstStyle/>
          <a:p>
            <a:pPr marL="457200" lvl="0" indent="-355600" algn="l" rtl="0">
              <a:lnSpc>
                <a:spcPct val="115000"/>
              </a:lnSpc>
              <a:spcBef>
                <a:spcPts val="600"/>
              </a:spcBef>
              <a:spcAft>
                <a:spcPts val="0"/>
              </a:spcAft>
              <a:buSzPts val="2000"/>
              <a:buChar char="●"/>
            </a:pPr>
            <a:r>
              <a:rPr lang="en" sz="2000">
                <a:solidFill>
                  <a:srgbClr val="000000"/>
                </a:solidFill>
              </a:rPr>
              <a:t>Histograms provide a view of the </a:t>
            </a:r>
            <a:r>
              <a:rPr lang="en" sz="2000" i="1">
                <a:solidFill>
                  <a:schemeClr val="accent1"/>
                </a:solidFill>
              </a:rPr>
              <a:t>data density</a:t>
            </a:r>
            <a:r>
              <a:rPr lang="en" sz="2000">
                <a:solidFill>
                  <a:srgbClr val="000000"/>
                </a:solidFill>
              </a:rPr>
              <a:t>. Higher bars represent where the data are relatively more common.</a:t>
            </a:r>
            <a:endParaRPr sz="2000">
              <a:solidFill>
                <a:srgbClr val="000000"/>
              </a:solidFill>
            </a:endParaRPr>
          </a:p>
          <a:p>
            <a:pPr marL="457200" lvl="0" indent="-355600" algn="l" rtl="0">
              <a:lnSpc>
                <a:spcPct val="115000"/>
              </a:lnSpc>
              <a:spcBef>
                <a:spcPts val="0"/>
              </a:spcBef>
              <a:spcAft>
                <a:spcPts val="0"/>
              </a:spcAft>
              <a:buSzPts val="2000"/>
              <a:buChar char="●"/>
            </a:pPr>
            <a:r>
              <a:rPr lang="en" sz="2000">
                <a:solidFill>
                  <a:srgbClr val="000000"/>
                </a:solidFill>
              </a:rPr>
              <a:t>Histograms are especially convenient for describing the </a:t>
            </a:r>
            <a:r>
              <a:rPr lang="en" sz="2000" i="1">
                <a:solidFill>
                  <a:schemeClr val="accent1"/>
                </a:solidFill>
              </a:rPr>
              <a:t>shape</a:t>
            </a:r>
            <a:r>
              <a:rPr lang="en" sz="2000" i="1">
                <a:solidFill>
                  <a:srgbClr val="000000"/>
                </a:solidFill>
              </a:rPr>
              <a:t> </a:t>
            </a:r>
            <a:r>
              <a:rPr lang="en" sz="2000">
                <a:solidFill>
                  <a:srgbClr val="000000"/>
                </a:solidFill>
              </a:rPr>
              <a:t>of the data distribution.</a:t>
            </a:r>
            <a:endParaRPr sz="2000">
              <a:solidFill>
                <a:srgbClr val="000000"/>
              </a:solidFill>
            </a:endParaRPr>
          </a:p>
          <a:p>
            <a:pPr marL="457200" lvl="0" indent="-355600" algn="l" rtl="0">
              <a:lnSpc>
                <a:spcPct val="115000"/>
              </a:lnSpc>
              <a:spcBef>
                <a:spcPts val="0"/>
              </a:spcBef>
              <a:spcAft>
                <a:spcPts val="0"/>
              </a:spcAft>
              <a:buSzPts val="2000"/>
              <a:buChar char="●"/>
            </a:pPr>
            <a:r>
              <a:rPr lang="en" sz="2000">
                <a:solidFill>
                  <a:srgbClr val="000000"/>
                </a:solidFill>
              </a:rPr>
              <a:t>The chosen </a:t>
            </a:r>
            <a:r>
              <a:rPr lang="en" sz="2000" i="1">
                <a:solidFill>
                  <a:schemeClr val="accent1"/>
                </a:solidFill>
              </a:rPr>
              <a:t>bin width</a:t>
            </a:r>
            <a:r>
              <a:rPr lang="en" sz="2000">
                <a:solidFill>
                  <a:srgbClr val="000000"/>
                </a:solidFill>
              </a:rPr>
              <a:t> can alter the story the histogram is telling.</a:t>
            </a:r>
            <a:endParaRPr sz="2000">
              <a:solidFill>
                <a:srgbClr val="000000"/>
              </a:solidFill>
            </a:endParaRPr>
          </a:p>
        </p:txBody>
      </p:sp>
      <p:pic>
        <p:nvPicPr>
          <p:cNvPr id="95" name="Google Shape;95;p17"/>
          <p:cNvPicPr preferRelativeResize="0"/>
          <p:nvPr/>
        </p:nvPicPr>
        <p:blipFill>
          <a:blip r:embed="rId3">
            <a:alphaModFix/>
          </a:blip>
          <a:stretch>
            <a:fillRect/>
          </a:stretch>
        </p:blipFill>
        <p:spPr>
          <a:xfrm>
            <a:off x="960650" y="3083223"/>
            <a:ext cx="5453000" cy="3104575"/>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99"/>
        <p:cNvGrpSpPr/>
        <p:nvPr/>
      </p:nvGrpSpPr>
      <p:grpSpPr>
        <a:xfrm>
          <a:off x="0" y="0"/>
          <a:ext cx="0" cy="0"/>
          <a:chOff x="0" y="0"/>
          <a:chExt cx="0" cy="0"/>
        </a:xfrm>
      </p:grpSpPr>
      <p:sp>
        <p:nvSpPr>
          <p:cNvPr id="100" name="Google Shape;100;p18"/>
          <p:cNvSpPr txBox="1">
            <a:spLocks noGrp="1"/>
          </p:cNvSpPr>
          <p:nvPr>
            <p:ph type="title"/>
          </p:nvPr>
        </p:nvSpPr>
        <p:spPr>
          <a:xfrm>
            <a:off x="457200" y="-12"/>
            <a:ext cx="8229600" cy="11430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solidFill>
                  <a:schemeClr val="accent1"/>
                </a:solidFill>
              </a:rPr>
              <a:t>Bin Width</a:t>
            </a:r>
            <a:endParaRPr>
              <a:solidFill>
                <a:schemeClr val="accent1"/>
              </a:solidFill>
            </a:endParaRPr>
          </a:p>
        </p:txBody>
      </p:sp>
      <p:sp>
        <p:nvSpPr>
          <p:cNvPr id="101" name="Google Shape;101;p18"/>
          <p:cNvSpPr txBox="1">
            <a:spLocks noGrp="1"/>
          </p:cNvSpPr>
          <p:nvPr>
            <p:ph type="body" idx="1"/>
          </p:nvPr>
        </p:nvSpPr>
        <p:spPr>
          <a:xfrm>
            <a:off x="457200" y="1143000"/>
            <a:ext cx="8154000" cy="983400"/>
          </a:xfrm>
          <a:prstGeom prst="rect">
            <a:avLst/>
          </a:prstGeom>
        </p:spPr>
        <p:txBody>
          <a:bodyPr spcFirstLastPara="1" wrap="square" lIns="91425" tIns="91425" rIns="91425" bIns="91425" anchor="t" anchorCtr="0">
            <a:noAutofit/>
          </a:bodyPr>
          <a:lstStyle/>
          <a:p>
            <a:pPr marL="0" lvl="0" indent="0" algn="l" rtl="0">
              <a:lnSpc>
                <a:spcPct val="115000"/>
              </a:lnSpc>
              <a:spcBef>
                <a:spcPts val="600"/>
              </a:spcBef>
              <a:spcAft>
                <a:spcPts val="0"/>
              </a:spcAft>
              <a:buNone/>
            </a:pPr>
            <a:r>
              <a:rPr lang="en" sz="2000">
                <a:solidFill>
                  <a:schemeClr val="accent1"/>
                </a:solidFill>
              </a:rPr>
              <a:t>Which one(s) of these histograms are useful? Which reveal too much about the data? Which hide too much?</a:t>
            </a:r>
            <a:endParaRPr sz="2000">
              <a:solidFill>
                <a:schemeClr val="accent1"/>
              </a:solidFill>
            </a:endParaRPr>
          </a:p>
        </p:txBody>
      </p:sp>
      <p:pic>
        <p:nvPicPr>
          <p:cNvPr id="102" name="Google Shape;102;p18"/>
          <p:cNvPicPr preferRelativeResize="0"/>
          <p:nvPr/>
        </p:nvPicPr>
        <p:blipFill>
          <a:blip r:embed="rId3">
            <a:alphaModFix/>
          </a:blip>
          <a:stretch>
            <a:fillRect/>
          </a:stretch>
        </p:blipFill>
        <p:spPr>
          <a:xfrm>
            <a:off x="549674" y="2126399"/>
            <a:ext cx="3390725" cy="1938475"/>
          </a:xfrm>
          <a:prstGeom prst="rect">
            <a:avLst/>
          </a:prstGeom>
          <a:noFill/>
          <a:ln>
            <a:noFill/>
          </a:ln>
        </p:spPr>
      </p:pic>
      <p:pic>
        <p:nvPicPr>
          <p:cNvPr id="103" name="Google Shape;103;p18"/>
          <p:cNvPicPr preferRelativeResize="0"/>
          <p:nvPr/>
        </p:nvPicPr>
        <p:blipFill>
          <a:blip r:embed="rId4">
            <a:alphaModFix/>
          </a:blip>
          <a:stretch>
            <a:fillRect/>
          </a:stretch>
        </p:blipFill>
        <p:spPr>
          <a:xfrm>
            <a:off x="4320275" y="2126399"/>
            <a:ext cx="3463051" cy="1938475"/>
          </a:xfrm>
          <a:prstGeom prst="rect">
            <a:avLst/>
          </a:prstGeom>
          <a:noFill/>
          <a:ln>
            <a:noFill/>
          </a:ln>
        </p:spPr>
      </p:pic>
      <p:pic>
        <p:nvPicPr>
          <p:cNvPr id="104" name="Google Shape;104;p18"/>
          <p:cNvPicPr preferRelativeResize="0"/>
          <p:nvPr/>
        </p:nvPicPr>
        <p:blipFill>
          <a:blip r:embed="rId5">
            <a:alphaModFix/>
          </a:blip>
          <a:stretch>
            <a:fillRect/>
          </a:stretch>
        </p:blipFill>
        <p:spPr>
          <a:xfrm>
            <a:off x="549675" y="4423974"/>
            <a:ext cx="3647325" cy="2071075"/>
          </a:xfrm>
          <a:prstGeom prst="rect">
            <a:avLst/>
          </a:prstGeom>
          <a:noFill/>
          <a:ln>
            <a:noFill/>
          </a:ln>
        </p:spPr>
      </p:pic>
      <p:pic>
        <p:nvPicPr>
          <p:cNvPr id="105" name="Google Shape;105;p18"/>
          <p:cNvPicPr preferRelativeResize="0"/>
          <p:nvPr/>
        </p:nvPicPr>
        <p:blipFill>
          <a:blip r:embed="rId6">
            <a:alphaModFix/>
          </a:blip>
          <a:stretch>
            <a:fillRect/>
          </a:stretch>
        </p:blipFill>
        <p:spPr>
          <a:xfrm>
            <a:off x="4320274" y="4265199"/>
            <a:ext cx="3846999" cy="2229849"/>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09"/>
        <p:cNvGrpSpPr/>
        <p:nvPr/>
      </p:nvGrpSpPr>
      <p:grpSpPr>
        <a:xfrm>
          <a:off x="0" y="0"/>
          <a:ext cx="0" cy="0"/>
          <a:chOff x="0" y="0"/>
          <a:chExt cx="0" cy="0"/>
        </a:xfrm>
      </p:grpSpPr>
      <p:sp>
        <p:nvSpPr>
          <p:cNvPr id="110" name="Google Shape;110;p19"/>
          <p:cNvSpPr txBox="1">
            <a:spLocks noGrp="1"/>
          </p:cNvSpPr>
          <p:nvPr>
            <p:ph type="body" idx="1"/>
          </p:nvPr>
        </p:nvSpPr>
        <p:spPr>
          <a:xfrm>
            <a:off x="457200" y="1143000"/>
            <a:ext cx="8154000" cy="5013300"/>
          </a:xfrm>
          <a:prstGeom prst="rect">
            <a:avLst/>
          </a:prstGeom>
        </p:spPr>
        <p:txBody>
          <a:bodyPr spcFirstLastPara="1" wrap="square" lIns="91425" tIns="91425" rIns="91425" bIns="91425" anchor="t" anchorCtr="0">
            <a:noAutofit/>
          </a:bodyPr>
          <a:lstStyle/>
          <a:p>
            <a:pPr marL="0" lvl="0" indent="0" algn="l" rtl="0">
              <a:lnSpc>
                <a:spcPct val="115000"/>
              </a:lnSpc>
              <a:spcBef>
                <a:spcPts val="600"/>
              </a:spcBef>
              <a:spcAft>
                <a:spcPts val="0"/>
              </a:spcAft>
              <a:buNone/>
            </a:pPr>
            <a:r>
              <a:rPr lang="en" sz="1900">
                <a:solidFill>
                  <a:srgbClr val="000000"/>
                </a:solidFill>
              </a:rPr>
              <a:t>Does the histogram have a single prominent peak (</a:t>
            </a:r>
            <a:r>
              <a:rPr lang="en" sz="1900" i="1">
                <a:solidFill>
                  <a:schemeClr val="accent1"/>
                </a:solidFill>
              </a:rPr>
              <a:t>unimodal</a:t>
            </a:r>
            <a:r>
              <a:rPr lang="en" sz="1900">
                <a:solidFill>
                  <a:srgbClr val="000000"/>
                </a:solidFill>
              </a:rPr>
              <a:t>), several prominent peaks (</a:t>
            </a:r>
            <a:r>
              <a:rPr lang="en" sz="1900" i="1">
                <a:solidFill>
                  <a:schemeClr val="accent1"/>
                </a:solidFill>
              </a:rPr>
              <a:t>bimodal/multimodal</a:t>
            </a:r>
            <a:r>
              <a:rPr lang="en" sz="1900">
                <a:solidFill>
                  <a:srgbClr val="000000"/>
                </a:solidFill>
              </a:rPr>
              <a:t>), or no apparent peaks (</a:t>
            </a:r>
            <a:r>
              <a:rPr lang="en" sz="1900" i="1">
                <a:solidFill>
                  <a:schemeClr val="accent1"/>
                </a:solidFill>
              </a:rPr>
              <a:t>uniform</a:t>
            </a:r>
            <a:r>
              <a:rPr lang="en" sz="1900">
                <a:solidFill>
                  <a:srgbClr val="000000"/>
                </a:solidFill>
              </a:rPr>
              <a:t>)?</a:t>
            </a:r>
            <a:endParaRPr sz="1900">
              <a:solidFill>
                <a:srgbClr val="000000"/>
              </a:solidFill>
            </a:endParaRPr>
          </a:p>
          <a:p>
            <a:pPr marL="0" lvl="0" indent="0" algn="l" rtl="0">
              <a:lnSpc>
                <a:spcPct val="115000"/>
              </a:lnSpc>
              <a:spcBef>
                <a:spcPts val="600"/>
              </a:spcBef>
              <a:spcAft>
                <a:spcPts val="0"/>
              </a:spcAft>
              <a:buNone/>
            </a:pPr>
            <a:endParaRPr sz="1900">
              <a:solidFill>
                <a:srgbClr val="000000"/>
              </a:solidFill>
            </a:endParaRPr>
          </a:p>
          <a:p>
            <a:pPr marL="0" lvl="0" indent="0" algn="l" rtl="0">
              <a:lnSpc>
                <a:spcPct val="115000"/>
              </a:lnSpc>
              <a:spcBef>
                <a:spcPts val="600"/>
              </a:spcBef>
              <a:spcAft>
                <a:spcPts val="0"/>
              </a:spcAft>
              <a:buNone/>
            </a:pPr>
            <a:endParaRPr sz="1900">
              <a:solidFill>
                <a:srgbClr val="000000"/>
              </a:solidFill>
            </a:endParaRPr>
          </a:p>
          <a:p>
            <a:pPr marL="0" lvl="0" indent="0" algn="l" rtl="0">
              <a:lnSpc>
                <a:spcPct val="115000"/>
              </a:lnSpc>
              <a:spcBef>
                <a:spcPts val="600"/>
              </a:spcBef>
              <a:spcAft>
                <a:spcPts val="0"/>
              </a:spcAft>
              <a:buNone/>
            </a:pPr>
            <a:endParaRPr sz="1900">
              <a:solidFill>
                <a:srgbClr val="000000"/>
              </a:solidFill>
            </a:endParaRPr>
          </a:p>
          <a:p>
            <a:pPr marL="0" lvl="0" indent="0" algn="l" rtl="0">
              <a:lnSpc>
                <a:spcPct val="115000"/>
              </a:lnSpc>
              <a:spcBef>
                <a:spcPts val="600"/>
              </a:spcBef>
              <a:spcAft>
                <a:spcPts val="0"/>
              </a:spcAft>
              <a:buNone/>
            </a:pPr>
            <a:endParaRPr sz="1900">
              <a:solidFill>
                <a:srgbClr val="000000"/>
              </a:solidFill>
            </a:endParaRPr>
          </a:p>
          <a:p>
            <a:pPr marL="0" lvl="0" indent="0" algn="l" rtl="0">
              <a:lnSpc>
                <a:spcPct val="115000"/>
              </a:lnSpc>
              <a:spcBef>
                <a:spcPts val="600"/>
              </a:spcBef>
              <a:spcAft>
                <a:spcPts val="0"/>
              </a:spcAft>
              <a:buNone/>
            </a:pPr>
            <a:endParaRPr sz="1900">
              <a:solidFill>
                <a:srgbClr val="000000"/>
              </a:solidFill>
            </a:endParaRPr>
          </a:p>
          <a:p>
            <a:pPr marL="0" lvl="0" indent="0" algn="l" rtl="0">
              <a:lnSpc>
                <a:spcPct val="115000"/>
              </a:lnSpc>
              <a:spcBef>
                <a:spcPts val="600"/>
              </a:spcBef>
              <a:spcAft>
                <a:spcPts val="0"/>
              </a:spcAft>
              <a:buNone/>
            </a:pPr>
            <a:endParaRPr sz="1900">
              <a:solidFill>
                <a:srgbClr val="000000"/>
              </a:solidFill>
            </a:endParaRPr>
          </a:p>
          <a:p>
            <a:pPr marL="0" lvl="0" indent="0" algn="l" rtl="0">
              <a:lnSpc>
                <a:spcPct val="115000"/>
              </a:lnSpc>
              <a:spcBef>
                <a:spcPts val="600"/>
              </a:spcBef>
              <a:spcAft>
                <a:spcPts val="0"/>
              </a:spcAft>
              <a:buNone/>
            </a:pPr>
            <a:endParaRPr sz="1900">
              <a:solidFill>
                <a:srgbClr val="000000"/>
              </a:solidFill>
            </a:endParaRPr>
          </a:p>
          <a:p>
            <a:pPr marL="0" lvl="0" indent="0" algn="l" rtl="0">
              <a:lnSpc>
                <a:spcPct val="115000"/>
              </a:lnSpc>
              <a:spcBef>
                <a:spcPts val="600"/>
              </a:spcBef>
              <a:spcAft>
                <a:spcPts val="0"/>
              </a:spcAft>
              <a:buNone/>
            </a:pPr>
            <a:endParaRPr sz="1900">
              <a:solidFill>
                <a:srgbClr val="000000"/>
              </a:solidFill>
            </a:endParaRPr>
          </a:p>
          <a:p>
            <a:pPr marL="0" lvl="0" indent="0" algn="l" rtl="0">
              <a:lnSpc>
                <a:spcPct val="115000"/>
              </a:lnSpc>
              <a:spcBef>
                <a:spcPts val="600"/>
              </a:spcBef>
              <a:spcAft>
                <a:spcPts val="0"/>
              </a:spcAft>
              <a:buNone/>
            </a:pPr>
            <a:r>
              <a:rPr lang="en" sz="1900" i="1">
                <a:solidFill>
                  <a:srgbClr val="FF0000"/>
                </a:solidFill>
              </a:rPr>
              <a:t>Note</a:t>
            </a:r>
            <a:r>
              <a:rPr lang="en" sz="1900" i="1">
                <a:solidFill>
                  <a:srgbClr val="000000"/>
                </a:solidFill>
              </a:rPr>
              <a:t>: In order to determine modality, step back and imagine a smooth curve over the histogram -- imagine that the bars are wooden blocks and you drop a limp spaghetti over them, the shape the spaghetti would take could be viewed as a smooth curve.</a:t>
            </a:r>
            <a:endParaRPr sz="1900" i="1">
              <a:solidFill>
                <a:srgbClr val="000000"/>
              </a:solidFill>
            </a:endParaRPr>
          </a:p>
        </p:txBody>
      </p:sp>
      <p:sp>
        <p:nvSpPr>
          <p:cNvPr id="111" name="Google Shape;111;p19"/>
          <p:cNvSpPr txBox="1">
            <a:spLocks noGrp="1"/>
          </p:cNvSpPr>
          <p:nvPr>
            <p:ph type="title"/>
          </p:nvPr>
        </p:nvSpPr>
        <p:spPr>
          <a:xfrm>
            <a:off x="457200" y="-12"/>
            <a:ext cx="8229600" cy="11430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solidFill>
                  <a:schemeClr val="accent1"/>
                </a:solidFill>
              </a:rPr>
              <a:t>Shape of a Distribution: Modality</a:t>
            </a:r>
            <a:endParaRPr>
              <a:solidFill>
                <a:schemeClr val="accent1"/>
              </a:solidFill>
            </a:endParaRPr>
          </a:p>
        </p:txBody>
      </p:sp>
      <p:pic>
        <p:nvPicPr>
          <p:cNvPr id="112" name="Google Shape;112;p19"/>
          <p:cNvPicPr preferRelativeResize="0"/>
          <p:nvPr/>
        </p:nvPicPr>
        <p:blipFill>
          <a:blip r:embed="rId3">
            <a:alphaModFix/>
          </a:blip>
          <a:stretch>
            <a:fillRect/>
          </a:stretch>
        </p:blipFill>
        <p:spPr>
          <a:xfrm>
            <a:off x="518850" y="2333125"/>
            <a:ext cx="7795501" cy="2172425"/>
          </a:xfrm>
          <a:prstGeom prst="rect">
            <a:avLst/>
          </a:prstGeom>
          <a:noFill/>
          <a:ln>
            <a:noFill/>
          </a:ln>
        </p:spPr>
      </p:pic>
      <p:cxnSp>
        <p:nvCxnSpPr>
          <p:cNvPr id="113" name="Google Shape;113;p19"/>
          <p:cNvCxnSpPr/>
          <p:nvPr/>
        </p:nvCxnSpPr>
        <p:spPr>
          <a:xfrm>
            <a:off x="557000" y="5091275"/>
            <a:ext cx="2402100" cy="0"/>
          </a:xfrm>
          <a:prstGeom prst="straightConnector1">
            <a:avLst/>
          </a:prstGeom>
          <a:noFill/>
          <a:ln w="9525" cap="flat" cmpd="sng">
            <a:solidFill>
              <a:schemeClr val="dk2"/>
            </a:solidFill>
            <a:prstDash val="solid"/>
            <a:round/>
            <a:headEnd type="none" w="med" len="med"/>
            <a:tailEnd type="none" w="med" len="med"/>
          </a:ln>
        </p:spPr>
      </p:cxn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17"/>
        <p:cNvGrpSpPr/>
        <p:nvPr/>
      </p:nvGrpSpPr>
      <p:grpSpPr>
        <a:xfrm>
          <a:off x="0" y="0"/>
          <a:ext cx="0" cy="0"/>
          <a:chOff x="0" y="0"/>
          <a:chExt cx="0" cy="0"/>
        </a:xfrm>
      </p:grpSpPr>
      <p:sp>
        <p:nvSpPr>
          <p:cNvPr id="118" name="Google Shape;118;p20"/>
          <p:cNvSpPr txBox="1">
            <a:spLocks noGrp="1"/>
          </p:cNvSpPr>
          <p:nvPr>
            <p:ph type="body" idx="1"/>
          </p:nvPr>
        </p:nvSpPr>
        <p:spPr>
          <a:xfrm>
            <a:off x="457200" y="1143000"/>
            <a:ext cx="8154000" cy="5013300"/>
          </a:xfrm>
          <a:prstGeom prst="rect">
            <a:avLst/>
          </a:prstGeom>
        </p:spPr>
        <p:txBody>
          <a:bodyPr spcFirstLastPara="1" wrap="square" lIns="91425" tIns="91425" rIns="91425" bIns="91425" anchor="t" anchorCtr="0">
            <a:noAutofit/>
          </a:bodyPr>
          <a:lstStyle/>
          <a:p>
            <a:pPr marL="0" lvl="0" indent="0" algn="l" rtl="0">
              <a:lnSpc>
                <a:spcPct val="115000"/>
              </a:lnSpc>
              <a:spcBef>
                <a:spcPts val="600"/>
              </a:spcBef>
              <a:spcAft>
                <a:spcPts val="0"/>
              </a:spcAft>
              <a:buNone/>
            </a:pPr>
            <a:r>
              <a:rPr lang="en" sz="1900">
                <a:solidFill>
                  <a:srgbClr val="000000"/>
                </a:solidFill>
              </a:rPr>
              <a:t>Is the histogram </a:t>
            </a:r>
            <a:r>
              <a:rPr lang="en" sz="1900">
                <a:solidFill>
                  <a:schemeClr val="accent1"/>
                </a:solidFill>
              </a:rPr>
              <a:t>r</a:t>
            </a:r>
            <a:r>
              <a:rPr lang="en" sz="1900" i="1">
                <a:solidFill>
                  <a:schemeClr val="accent1"/>
                </a:solidFill>
              </a:rPr>
              <a:t>ight skewed</a:t>
            </a:r>
            <a:r>
              <a:rPr lang="en" sz="1900">
                <a:solidFill>
                  <a:srgbClr val="000000"/>
                </a:solidFill>
              </a:rPr>
              <a:t>, </a:t>
            </a:r>
            <a:r>
              <a:rPr lang="en" sz="1900" i="1">
                <a:solidFill>
                  <a:schemeClr val="accent1"/>
                </a:solidFill>
              </a:rPr>
              <a:t>left skewed</a:t>
            </a:r>
            <a:r>
              <a:rPr lang="en" sz="1900">
                <a:solidFill>
                  <a:srgbClr val="000000"/>
                </a:solidFill>
              </a:rPr>
              <a:t>, or </a:t>
            </a:r>
            <a:r>
              <a:rPr lang="en" sz="1900" i="1">
                <a:solidFill>
                  <a:schemeClr val="accent1"/>
                </a:solidFill>
              </a:rPr>
              <a:t>symmetric</a:t>
            </a:r>
            <a:r>
              <a:rPr lang="en" sz="1900">
                <a:solidFill>
                  <a:srgbClr val="000000"/>
                </a:solidFill>
              </a:rPr>
              <a:t>?</a:t>
            </a:r>
            <a:endParaRPr sz="1900">
              <a:solidFill>
                <a:srgbClr val="000000"/>
              </a:solidFill>
            </a:endParaRPr>
          </a:p>
          <a:p>
            <a:pPr marL="0" lvl="0" indent="0" algn="l" rtl="0">
              <a:lnSpc>
                <a:spcPct val="115000"/>
              </a:lnSpc>
              <a:spcBef>
                <a:spcPts val="600"/>
              </a:spcBef>
              <a:spcAft>
                <a:spcPts val="0"/>
              </a:spcAft>
              <a:buNone/>
            </a:pPr>
            <a:endParaRPr sz="1900">
              <a:solidFill>
                <a:srgbClr val="000000"/>
              </a:solidFill>
            </a:endParaRPr>
          </a:p>
          <a:p>
            <a:pPr marL="0" lvl="0" indent="0" algn="l" rtl="0">
              <a:lnSpc>
                <a:spcPct val="115000"/>
              </a:lnSpc>
              <a:spcBef>
                <a:spcPts val="600"/>
              </a:spcBef>
              <a:spcAft>
                <a:spcPts val="0"/>
              </a:spcAft>
              <a:buNone/>
            </a:pPr>
            <a:endParaRPr sz="1900">
              <a:solidFill>
                <a:srgbClr val="000000"/>
              </a:solidFill>
            </a:endParaRPr>
          </a:p>
          <a:p>
            <a:pPr marL="0" lvl="0" indent="0" algn="l" rtl="0">
              <a:lnSpc>
                <a:spcPct val="115000"/>
              </a:lnSpc>
              <a:spcBef>
                <a:spcPts val="600"/>
              </a:spcBef>
              <a:spcAft>
                <a:spcPts val="0"/>
              </a:spcAft>
              <a:buNone/>
            </a:pPr>
            <a:endParaRPr sz="1900">
              <a:solidFill>
                <a:srgbClr val="000000"/>
              </a:solidFill>
            </a:endParaRPr>
          </a:p>
          <a:p>
            <a:pPr marL="0" lvl="0" indent="0" algn="l" rtl="0">
              <a:lnSpc>
                <a:spcPct val="115000"/>
              </a:lnSpc>
              <a:spcBef>
                <a:spcPts val="600"/>
              </a:spcBef>
              <a:spcAft>
                <a:spcPts val="0"/>
              </a:spcAft>
              <a:buNone/>
            </a:pPr>
            <a:endParaRPr sz="1900">
              <a:solidFill>
                <a:srgbClr val="000000"/>
              </a:solidFill>
            </a:endParaRPr>
          </a:p>
          <a:p>
            <a:pPr marL="0" lvl="0" indent="0" algn="l" rtl="0">
              <a:lnSpc>
                <a:spcPct val="115000"/>
              </a:lnSpc>
              <a:spcBef>
                <a:spcPts val="600"/>
              </a:spcBef>
              <a:spcAft>
                <a:spcPts val="0"/>
              </a:spcAft>
              <a:buNone/>
            </a:pPr>
            <a:endParaRPr sz="1900">
              <a:solidFill>
                <a:srgbClr val="000000"/>
              </a:solidFill>
            </a:endParaRPr>
          </a:p>
          <a:p>
            <a:pPr marL="0" lvl="0" indent="0" algn="l" rtl="0">
              <a:lnSpc>
                <a:spcPct val="115000"/>
              </a:lnSpc>
              <a:spcBef>
                <a:spcPts val="600"/>
              </a:spcBef>
              <a:spcAft>
                <a:spcPts val="0"/>
              </a:spcAft>
              <a:buNone/>
            </a:pPr>
            <a:endParaRPr sz="1900">
              <a:solidFill>
                <a:srgbClr val="000000"/>
              </a:solidFill>
            </a:endParaRPr>
          </a:p>
          <a:p>
            <a:pPr marL="0" lvl="0" indent="0" algn="l" rtl="0">
              <a:lnSpc>
                <a:spcPct val="115000"/>
              </a:lnSpc>
              <a:spcBef>
                <a:spcPts val="600"/>
              </a:spcBef>
              <a:spcAft>
                <a:spcPts val="0"/>
              </a:spcAft>
              <a:buNone/>
            </a:pPr>
            <a:endParaRPr sz="1900">
              <a:solidFill>
                <a:srgbClr val="000000"/>
              </a:solidFill>
            </a:endParaRPr>
          </a:p>
          <a:p>
            <a:pPr marL="0" lvl="0" indent="0" algn="l" rtl="0">
              <a:lnSpc>
                <a:spcPct val="115000"/>
              </a:lnSpc>
              <a:spcBef>
                <a:spcPts val="600"/>
              </a:spcBef>
              <a:spcAft>
                <a:spcPts val="0"/>
              </a:spcAft>
              <a:buNone/>
            </a:pPr>
            <a:endParaRPr sz="1900">
              <a:solidFill>
                <a:srgbClr val="000000"/>
              </a:solidFill>
            </a:endParaRPr>
          </a:p>
          <a:p>
            <a:pPr marL="0" lvl="0" indent="0" algn="l" rtl="0">
              <a:lnSpc>
                <a:spcPct val="115000"/>
              </a:lnSpc>
              <a:spcBef>
                <a:spcPts val="600"/>
              </a:spcBef>
              <a:spcAft>
                <a:spcPts val="0"/>
              </a:spcAft>
              <a:buNone/>
            </a:pPr>
            <a:endParaRPr sz="1900">
              <a:solidFill>
                <a:srgbClr val="000000"/>
              </a:solidFill>
            </a:endParaRPr>
          </a:p>
          <a:p>
            <a:pPr marL="0" lvl="0" indent="0" algn="l" rtl="0">
              <a:lnSpc>
                <a:spcPct val="115000"/>
              </a:lnSpc>
              <a:spcBef>
                <a:spcPts val="600"/>
              </a:spcBef>
              <a:spcAft>
                <a:spcPts val="0"/>
              </a:spcAft>
              <a:buNone/>
            </a:pPr>
            <a:endParaRPr sz="1900">
              <a:solidFill>
                <a:srgbClr val="000000"/>
              </a:solidFill>
            </a:endParaRPr>
          </a:p>
          <a:p>
            <a:pPr marL="0" lvl="0" indent="0" algn="l" rtl="0">
              <a:lnSpc>
                <a:spcPct val="115000"/>
              </a:lnSpc>
              <a:spcBef>
                <a:spcPts val="600"/>
              </a:spcBef>
              <a:spcAft>
                <a:spcPts val="0"/>
              </a:spcAft>
              <a:buNone/>
            </a:pPr>
            <a:endParaRPr sz="1900">
              <a:solidFill>
                <a:srgbClr val="000000"/>
              </a:solidFill>
            </a:endParaRPr>
          </a:p>
          <a:p>
            <a:pPr marL="0" lvl="0" indent="0" algn="l" rtl="0">
              <a:lnSpc>
                <a:spcPct val="115000"/>
              </a:lnSpc>
              <a:spcBef>
                <a:spcPts val="600"/>
              </a:spcBef>
              <a:spcAft>
                <a:spcPts val="0"/>
              </a:spcAft>
              <a:buNone/>
            </a:pPr>
            <a:r>
              <a:rPr lang="en" sz="1900" i="1">
                <a:solidFill>
                  <a:srgbClr val="FF0000"/>
                </a:solidFill>
              </a:rPr>
              <a:t>Note</a:t>
            </a:r>
            <a:r>
              <a:rPr lang="en" sz="1900" i="1">
                <a:solidFill>
                  <a:srgbClr val="000000"/>
                </a:solidFill>
              </a:rPr>
              <a:t>: Histograms are said to be skewed to the side of the long tail.</a:t>
            </a:r>
            <a:endParaRPr sz="1900" i="1">
              <a:solidFill>
                <a:srgbClr val="000000"/>
              </a:solidFill>
            </a:endParaRPr>
          </a:p>
        </p:txBody>
      </p:sp>
      <p:sp>
        <p:nvSpPr>
          <p:cNvPr id="119" name="Google Shape;119;p20"/>
          <p:cNvSpPr txBox="1">
            <a:spLocks noGrp="1"/>
          </p:cNvSpPr>
          <p:nvPr>
            <p:ph type="title"/>
          </p:nvPr>
        </p:nvSpPr>
        <p:spPr>
          <a:xfrm>
            <a:off x="457200" y="-12"/>
            <a:ext cx="8229600" cy="11430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solidFill>
                  <a:schemeClr val="accent1"/>
                </a:solidFill>
              </a:rPr>
              <a:t>Shape of a Distribution: Skewness</a:t>
            </a:r>
            <a:endParaRPr>
              <a:solidFill>
                <a:schemeClr val="accent1"/>
              </a:solidFill>
            </a:endParaRPr>
          </a:p>
        </p:txBody>
      </p:sp>
      <p:pic>
        <p:nvPicPr>
          <p:cNvPr id="120" name="Google Shape;120;p20"/>
          <p:cNvPicPr preferRelativeResize="0"/>
          <p:nvPr/>
        </p:nvPicPr>
        <p:blipFill>
          <a:blip r:embed="rId3">
            <a:alphaModFix/>
          </a:blip>
          <a:stretch>
            <a:fillRect/>
          </a:stretch>
        </p:blipFill>
        <p:spPr>
          <a:xfrm>
            <a:off x="519150" y="2039925"/>
            <a:ext cx="7334250" cy="3219450"/>
          </a:xfrm>
          <a:prstGeom prst="rect">
            <a:avLst/>
          </a:prstGeom>
          <a:noFill/>
          <a:ln>
            <a:noFill/>
          </a:ln>
        </p:spPr>
      </p:pic>
      <p:cxnSp>
        <p:nvCxnSpPr>
          <p:cNvPr id="121" name="Google Shape;121;p20"/>
          <p:cNvCxnSpPr/>
          <p:nvPr/>
        </p:nvCxnSpPr>
        <p:spPr>
          <a:xfrm>
            <a:off x="519150" y="6048600"/>
            <a:ext cx="2402100" cy="0"/>
          </a:xfrm>
          <a:prstGeom prst="straightConnector1">
            <a:avLst/>
          </a:prstGeom>
          <a:noFill/>
          <a:ln w="9525" cap="flat" cmpd="sng">
            <a:solidFill>
              <a:schemeClr val="dk2"/>
            </a:solidFill>
            <a:prstDash val="solid"/>
            <a:round/>
            <a:headEnd type="none" w="med" len="med"/>
            <a:tailEnd type="none" w="med" len="med"/>
          </a:ln>
        </p:spPr>
      </p:cxn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25"/>
        <p:cNvGrpSpPr/>
        <p:nvPr/>
      </p:nvGrpSpPr>
      <p:grpSpPr>
        <a:xfrm>
          <a:off x="0" y="0"/>
          <a:ext cx="0" cy="0"/>
          <a:chOff x="0" y="0"/>
          <a:chExt cx="0" cy="0"/>
        </a:xfrm>
      </p:grpSpPr>
      <p:sp>
        <p:nvSpPr>
          <p:cNvPr id="126" name="Google Shape;126;p21"/>
          <p:cNvSpPr txBox="1">
            <a:spLocks noGrp="1"/>
          </p:cNvSpPr>
          <p:nvPr>
            <p:ph type="body" idx="1"/>
          </p:nvPr>
        </p:nvSpPr>
        <p:spPr>
          <a:xfrm>
            <a:off x="457200" y="1493850"/>
            <a:ext cx="8154000" cy="5013300"/>
          </a:xfrm>
          <a:prstGeom prst="rect">
            <a:avLst/>
          </a:prstGeom>
        </p:spPr>
        <p:txBody>
          <a:bodyPr spcFirstLastPara="1" wrap="square" lIns="91425" tIns="91425" rIns="91425" bIns="91425" anchor="t" anchorCtr="0">
            <a:noAutofit/>
          </a:bodyPr>
          <a:lstStyle/>
          <a:p>
            <a:pPr marL="0" lvl="0" indent="0" algn="l" rtl="0">
              <a:lnSpc>
                <a:spcPct val="115000"/>
              </a:lnSpc>
              <a:spcBef>
                <a:spcPts val="600"/>
              </a:spcBef>
              <a:spcAft>
                <a:spcPts val="0"/>
              </a:spcAft>
              <a:buNone/>
            </a:pPr>
            <a:r>
              <a:rPr lang="en" sz="1900">
                <a:solidFill>
                  <a:srgbClr val="000000"/>
                </a:solidFill>
              </a:rPr>
              <a:t>Are there any unusual observations or potential </a:t>
            </a:r>
            <a:r>
              <a:rPr lang="en" sz="1900" i="1">
                <a:solidFill>
                  <a:schemeClr val="accent1"/>
                </a:solidFill>
              </a:rPr>
              <a:t>outliers</a:t>
            </a:r>
            <a:r>
              <a:rPr lang="en" sz="1900">
                <a:solidFill>
                  <a:srgbClr val="000000"/>
                </a:solidFill>
              </a:rPr>
              <a:t>?</a:t>
            </a:r>
            <a:endParaRPr sz="1900">
              <a:solidFill>
                <a:srgbClr val="000000"/>
              </a:solidFill>
            </a:endParaRPr>
          </a:p>
        </p:txBody>
      </p:sp>
      <p:sp>
        <p:nvSpPr>
          <p:cNvPr id="127" name="Google Shape;127;p21"/>
          <p:cNvSpPr txBox="1">
            <a:spLocks noGrp="1"/>
          </p:cNvSpPr>
          <p:nvPr>
            <p:ph type="title"/>
          </p:nvPr>
        </p:nvSpPr>
        <p:spPr>
          <a:xfrm>
            <a:off x="457200" y="350838"/>
            <a:ext cx="8229600" cy="11430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solidFill>
                  <a:schemeClr val="accent1"/>
                </a:solidFill>
              </a:rPr>
              <a:t>Shape of a Distribution:</a:t>
            </a:r>
            <a:endParaRPr>
              <a:solidFill>
                <a:schemeClr val="accent1"/>
              </a:solidFill>
            </a:endParaRPr>
          </a:p>
          <a:p>
            <a:pPr marL="0" lvl="0" indent="0" algn="l" rtl="0">
              <a:spcBef>
                <a:spcPts val="0"/>
              </a:spcBef>
              <a:spcAft>
                <a:spcPts val="0"/>
              </a:spcAft>
              <a:buNone/>
            </a:pPr>
            <a:r>
              <a:rPr lang="en">
                <a:solidFill>
                  <a:schemeClr val="accent1"/>
                </a:solidFill>
              </a:rPr>
              <a:t>Unusual Observations</a:t>
            </a:r>
            <a:endParaRPr>
              <a:solidFill>
                <a:schemeClr val="accent1"/>
              </a:solidFill>
            </a:endParaRPr>
          </a:p>
        </p:txBody>
      </p:sp>
      <p:pic>
        <p:nvPicPr>
          <p:cNvPr id="128" name="Google Shape;128;p21"/>
          <p:cNvPicPr preferRelativeResize="0"/>
          <p:nvPr/>
        </p:nvPicPr>
        <p:blipFill>
          <a:blip r:embed="rId3">
            <a:alphaModFix/>
          </a:blip>
          <a:stretch>
            <a:fillRect/>
          </a:stretch>
        </p:blipFill>
        <p:spPr>
          <a:xfrm>
            <a:off x="528650" y="2303488"/>
            <a:ext cx="7315200" cy="3209925"/>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39"/>
        <p:cNvGrpSpPr/>
        <p:nvPr/>
      </p:nvGrpSpPr>
      <p:grpSpPr>
        <a:xfrm>
          <a:off x="0" y="0"/>
          <a:ext cx="0" cy="0"/>
          <a:chOff x="0" y="0"/>
          <a:chExt cx="0" cy="0"/>
        </a:xfrm>
      </p:grpSpPr>
      <p:sp>
        <p:nvSpPr>
          <p:cNvPr id="140" name="Google Shape;140;p23"/>
          <p:cNvSpPr txBox="1">
            <a:spLocks noGrp="1"/>
          </p:cNvSpPr>
          <p:nvPr>
            <p:ph type="body" idx="1"/>
          </p:nvPr>
        </p:nvSpPr>
        <p:spPr>
          <a:xfrm>
            <a:off x="457200" y="1493850"/>
            <a:ext cx="8154000" cy="5013300"/>
          </a:xfrm>
          <a:prstGeom prst="rect">
            <a:avLst/>
          </a:prstGeom>
        </p:spPr>
        <p:txBody>
          <a:bodyPr spcFirstLastPara="1" wrap="square" lIns="91425" tIns="91425" rIns="91425" bIns="91425" anchor="t" anchorCtr="0">
            <a:noAutofit/>
          </a:bodyPr>
          <a:lstStyle/>
          <a:p>
            <a:pPr marL="0" lvl="0" indent="0" algn="l" rtl="0">
              <a:lnSpc>
                <a:spcPct val="115000"/>
              </a:lnSpc>
              <a:spcBef>
                <a:spcPts val="600"/>
              </a:spcBef>
              <a:spcAft>
                <a:spcPts val="0"/>
              </a:spcAft>
              <a:buNone/>
            </a:pPr>
            <a:r>
              <a:rPr lang="en" sz="1900">
                <a:solidFill>
                  <a:srgbClr val="000000"/>
                </a:solidFill>
              </a:rPr>
              <a:t>How would you describe the shape of the distribution of hours per week students spend on extracurricular activities?</a:t>
            </a:r>
            <a:endParaRPr sz="1900">
              <a:solidFill>
                <a:schemeClr val="accent1"/>
              </a:solidFill>
            </a:endParaRPr>
          </a:p>
        </p:txBody>
      </p:sp>
      <p:sp>
        <p:nvSpPr>
          <p:cNvPr id="141" name="Google Shape;141;p23"/>
          <p:cNvSpPr txBox="1">
            <a:spLocks noGrp="1"/>
          </p:cNvSpPr>
          <p:nvPr>
            <p:ph type="title"/>
          </p:nvPr>
        </p:nvSpPr>
        <p:spPr>
          <a:xfrm>
            <a:off x="457200" y="350838"/>
            <a:ext cx="8229600" cy="11430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solidFill>
                  <a:schemeClr val="accent1"/>
                </a:solidFill>
              </a:rPr>
              <a:t>Extracurricular activities</a:t>
            </a:r>
            <a:endParaRPr>
              <a:solidFill>
                <a:schemeClr val="accent1"/>
              </a:solidFill>
            </a:endParaRPr>
          </a:p>
        </p:txBody>
      </p:sp>
      <p:pic>
        <p:nvPicPr>
          <p:cNvPr id="142" name="Google Shape;142;p23"/>
          <p:cNvPicPr preferRelativeResize="0"/>
          <p:nvPr/>
        </p:nvPicPr>
        <p:blipFill>
          <a:blip r:embed="rId3">
            <a:alphaModFix/>
          </a:blip>
          <a:stretch>
            <a:fillRect/>
          </a:stretch>
        </p:blipFill>
        <p:spPr>
          <a:xfrm>
            <a:off x="1933623" y="2556898"/>
            <a:ext cx="5201149" cy="3023925"/>
          </a:xfrm>
          <a:prstGeom prst="rect">
            <a:avLst/>
          </a:prstGeom>
          <a:noFill/>
          <a:ln>
            <a:noFill/>
          </a:ln>
        </p:spPr>
      </p:pic>
      <p:sp>
        <p:nvSpPr>
          <p:cNvPr id="143" name="Google Shape;143;p23"/>
          <p:cNvSpPr txBox="1"/>
          <p:nvPr/>
        </p:nvSpPr>
        <p:spPr>
          <a:xfrm>
            <a:off x="600500" y="5656975"/>
            <a:ext cx="7876200" cy="8502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800" i="1" dirty="0"/>
              <a:t>Unimodal and right skewed, with a potentially unusual observation at 60 hours/week.</a:t>
            </a:r>
            <a:endParaRPr sz="1800" i="1"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23"/>
        <p:cNvGrpSpPr/>
        <p:nvPr/>
      </p:nvGrpSpPr>
      <p:grpSpPr>
        <a:xfrm>
          <a:off x="0" y="0"/>
          <a:ext cx="0" cy="0"/>
          <a:chOff x="0" y="0"/>
          <a:chExt cx="0" cy="0"/>
        </a:xfrm>
      </p:grpSpPr>
      <p:sp>
        <p:nvSpPr>
          <p:cNvPr id="224" name="Google Shape;224;p32"/>
          <p:cNvSpPr txBox="1">
            <a:spLocks noGrp="1"/>
          </p:cNvSpPr>
          <p:nvPr>
            <p:ph type="title"/>
          </p:nvPr>
        </p:nvSpPr>
        <p:spPr>
          <a:xfrm>
            <a:off x="457200" y="378600"/>
            <a:ext cx="8229600" cy="10788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solidFill>
                  <a:schemeClr val="accent1"/>
                </a:solidFill>
              </a:rPr>
              <a:t>Commonly observed shapes of distributions</a:t>
            </a:r>
            <a:endParaRPr>
              <a:solidFill>
                <a:schemeClr val="accent1"/>
              </a:solidFill>
            </a:endParaRPr>
          </a:p>
        </p:txBody>
      </p:sp>
      <p:sp>
        <p:nvSpPr>
          <p:cNvPr id="225" name="Google Shape;225;p32"/>
          <p:cNvSpPr txBox="1"/>
          <p:nvPr/>
        </p:nvSpPr>
        <p:spPr>
          <a:xfrm>
            <a:off x="457200" y="1535975"/>
            <a:ext cx="2043000" cy="6213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900">
                <a:solidFill>
                  <a:schemeClr val="accent1"/>
                </a:solidFill>
              </a:rPr>
              <a:t>Modality</a:t>
            </a:r>
            <a:endParaRPr sz="1900">
              <a:solidFill>
                <a:schemeClr val="accent1"/>
              </a:solidFill>
            </a:endParaRPr>
          </a:p>
        </p:txBody>
      </p:sp>
      <p:sp>
        <p:nvSpPr>
          <p:cNvPr id="226" name="Google Shape;226;p32"/>
          <p:cNvSpPr txBox="1"/>
          <p:nvPr/>
        </p:nvSpPr>
        <p:spPr>
          <a:xfrm>
            <a:off x="457200" y="3710000"/>
            <a:ext cx="2043000" cy="5286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900">
                <a:solidFill>
                  <a:schemeClr val="accent1"/>
                </a:solidFill>
              </a:rPr>
              <a:t>Skewness</a:t>
            </a:r>
            <a:endParaRPr sz="1900">
              <a:solidFill>
                <a:schemeClr val="accent1"/>
              </a:solidFill>
            </a:endParaRPr>
          </a:p>
        </p:txBody>
      </p:sp>
      <p:pic>
        <p:nvPicPr>
          <p:cNvPr id="227" name="Google Shape;227;p32"/>
          <p:cNvPicPr preferRelativeResize="0"/>
          <p:nvPr/>
        </p:nvPicPr>
        <p:blipFill>
          <a:blip r:embed="rId3">
            <a:alphaModFix/>
          </a:blip>
          <a:stretch>
            <a:fillRect/>
          </a:stretch>
        </p:blipFill>
        <p:spPr>
          <a:xfrm>
            <a:off x="542947" y="2080922"/>
            <a:ext cx="1728650" cy="1281425"/>
          </a:xfrm>
          <a:prstGeom prst="rect">
            <a:avLst/>
          </a:prstGeom>
          <a:noFill/>
          <a:ln>
            <a:noFill/>
          </a:ln>
        </p:spPr>
      </p:pic>
      <p:pic>
        <p:nvPicPr>
          <p:cNvPr id="228" name="Google Shape;228;p32"/>
          <p:cNvPicPr preferRelativeResize="0"/>
          <p:nvPr/>
        </p:nvPicPr>
        <p:blipFill>
          <a:blip r:embed="rId4">
            <a:alphaModFix/>
          </a:blip>
          <a:stretch>
            <a:fillRect/>
          </a:stretch>
        </p:blipFill>
        <p:spPr>
          <a:xfrm>
            <a:off x="2493600" y="2246638"/>
            <a:ext cx="1899275" cy="1159675"/>
          </a:xfrm>
          <a:prstGeom prst="rect">
            <a:avLst/>
          </a:prstGeom>
          <a:noFill/>
          <a:ln>
            <a:noFill/>
          </a:ln>
        </p:spPr>
      </p:pic>
      <p:pic>
        <p:nvPicPr>
          <p:cNvPr id="229" name="Google Shape;229;p32"/>
          <p:cNvPicPr preferRelativeResize="0"/>
          <p:nvPr/>
        </p:nvPicPr>
        <p:blipFill>
          <a:blip r:embed="rId5">
            <a:alphaModFix/>
          </a:blip>
          <a:stretch>
            <a:fillRect/>
          </a:stretch>
        </p:blipFill>
        <p:spPr>
          <a:xfrm>
            <a:off x="4545097" y="2120550"/>
            <a:ext cx="1827125" cy="1159675"/>
          </a:xfrm>
          <a:prstGeom prst="rect">
            <a:avLst/>
          </a:prstGeom>
          <a:noFill/>
          <a:ln>
            <a:noFill/>
          </a:ln>
        </p:spPr>
      </p:pic>
      <p:pic>
        <p:nvPicPr>
          <p:cNvPr id="230" name="Google Shape;230;p32"/>
          <p:cNvPicPr preferRelativeResize="0"/>
          <p:nvPr/>
        </p:nvPicPr>
        <p:blipFill>
          <a:blip r:embed="rId6">
            <a:alphaModFix/>
          </a:blip>
          <a:stretch>
            <a:fillRect/>
          </a:stretch>
        </p:blipFill>
        <p:spPr>
          <a:xfrm>
            <a:off x="6772300" y="1881238"/>
            <a:ext cx="1827125" cy="1638300"/>
          </a:xfrm>
          <a:prstGeom prst="rect">
            <a:avLst/>
          </a:prstGeom>
          <a:noFill/>
          <a:ln>
            <a:noFill/>
          </a:ln>
        </p:spPr>
      </p:pic>
      <p:pic>
        <p:nvPicPr>
          <p:cNvPr id="231" name="Google Shape;231;p32"/>
          <p:cNvPicPr preferRelativeResize="0"/>
          <p:nvPr/>
        </p:nvPicPr>
        <p:blipFill>
          <a:blip r:embed="rId7">
            <a:alphaModFix/>
          </a:blip>
          <a:stretch>
            <a:fillRect/>
          </a:stretch>
        </p:blipFill>
        <p:spPr>
          <a:xfrm>
            <a:off x="542950" y="4327950"/>
            <a:ext cx="2043000" cy="1281425"/>
          </a:xfrm>
          <a:prstGeom prst="rect">
            <a:avLst/>
          </a:prstGeom>
          <a:noFill/>
          <a:ln>
            <a:noFill/>
          </a:ln>
        </p:spPr>
      </p:pic>
      <p:pic>
        <p:nvPicPr>
          <p:cNvPr id="232" name="Google Shape;232;p32"/>
          <p:cNvPicPr preferRelativeResize="0"/>
          <p:nvPr/>
        </p:nvPicPr>
        <p:blipFill>
          <a:blip r:embed="rId8">
            <a:alphaModFix/>
          </a:blip>
          <a:stretch>
            <a:fillRect/>
          </a:stretch>
        </p:blipFill>
        <p:spPr>
          <a:xfrm>
            <a:off x="2828947" y="4409898"/>
            <a:ext cx="1899275" cy="1159675"/>
          </a:xfrm>
          <a:prstGeom prst="rect">
            <a:avLst/>
          </a:prstGeom>
          <a:noFill/>
          <a:ln>
            <a:noFill/>
          </a:ln>
        </p:spPr>
      </p:pic>
      <p:pic>
        <p:nvPicPr>
          <p:cNvPr id="233" name="Google Shape;233;p32"/>
          <p:cNvPicPr preferRelativeResize="0"/>
          <p:nvPr/>
        </p:nvPicPr>
        <p:blipFill>
          <a:blip r:embed="rId9">
            <a:alphaModFix/>
          </a:blip>
          <a:stretch>
            <a:fillRect/>
          </a:stretch>
        </p:blipFill>
        <p:spPr>
          <a:xfrm>
            <a:off x="5172075" y="4349025"/>
            <a:ext cx="1728650" cy="1281425"/>
          </a:xfrm>
          <a:prstGeom prst="rect">
            <a:avLst/>
          </a:prstGeom>
          <a:noFill/>
          <a:ln>
            <a:noFill/>
          </a:ln>
        </p:spPr>
      </p:pic>
      <p:sp>
        <p:nvSpPr>
          <p:cNvPr id="3" name="Google Shape;143;p23">
            <a:extLst>
              <a:ext uri="{FF2B5EF4-FFF2-40B4-BE49-F238E27FC236}">
                <a16:creationId xmlns:a16="http://schemas.microsoft.com/office/drawing/2014/main" id="{4D6EA04F-A337-63EC-3F81-A5407B56DCE4}"/>
              </a:ext>
            </a:extLst>
          </p:cNvPr>
          <p:cNvSpPr txBox="1"/>
          <p:nvPr/>
        </p:nvSpPr>
        <p:spPr>
          <a:xfrm>
            <a:off x="600500" y="5656975"/>
            <a:ext cx="7876200" cy="8502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800" i="1" dirty="0"/>
              <a:t>A mode is represented by a prominent peak in the distribution.</a:t>
            </a:r>
            <a:endParaRPr sz="1800" i="1"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27"/>
                                        </p:tgtEl>
                                        <p:attrNameLst>
                                          <p:attrName>style.visibility</p:attrName>
                                        </p:attrNameLst>
                                      </p:cBhvr>
                                      <p:to>
                                        <p:strVal val="visible"/>
                                      </p:to>
                                    </p:set>
                                    <p:animEffect transition="in" filter="fade">
                                      <p:cBhvr>
                                        <p:cTn id="7" dur="1000"/>
                                        <p:tgtEl>
                                          <p:spTgt spid="227"/>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28"/>
                                        </p:tgtEl>
                                        <p:attrNameLst>
                                          <p:attrName>style.visibility</p:attrName>
                                        </p:attrNameLst>
                                      </p:cBhvr>
                                      <p:to>
                                        <p:strVal val="visible"/>
                                      </p:to>
                                    </p:set>
                                    <p:animEffect transition="in" filter="fade">
                                      <p:cBhvr>
                                        <p:cTn id="12" dur="1000"/>
                                        <p:tgtEl>
                                          <p:spTgt spid="228"/>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229"/>
                                        </p:tgtEl>
                                        <p:attrNameLst>
                                          <p:attrName>style.visibility</p:attrName>
                                        </p:attrNameLst>
                                      </p:cBhvr>
                                      <p:to>
                                        <p:strVal val="visible"/>
                                      </p:to>
                                    </p:set>
                                    <p:animEffect transition="in" filter="fade">
                                      <p:cBhvr>
                                        <p:cTn id="17" dur="1000"/>
                                        <p:tgtEl>
                                          <p:spTgt spid="229"/>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230"/>
                                        </p:tgtEl>
                                        <p:attrNameLst>
                                          <p:attrName>style.visibility</p:attrName>
                                        </p:attrNameLst>
                                      </p:cBhvr>
                                      <p:to>
                                        <p:strVal val="visible"/>
                                      </p:to>
                                    </p:set>
                                    <p:animEffect transition="in" filter="fade">
                                      <p:cBhvr>
                                        <p:cTn id="22" dur="1000"/>
                                        <p:tgtEl>
                                          <p:spTgt spid="230"/>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226"/>
                                        </p:tgtEl>
                                        <p:attrNameLst>
                                          <p:attrName>style.visibility</p:attrName>
                                        </p:attrNameLst>
                                      </p:cBhvr>
                                      <p:to>
                                        <p:strVal val="visible"/>
                                      </p:to>
                                    </p:set>
                                    <p:animEffect transition="in" filter="fade">
                                      <p:cBhvr>
                                        <p:cTn id="27" dur="1000"/>
                                        <p:tgtEl>
                                          <p:spTgt spid="226"/>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231"/>
                                        </p:tgtEl>
                                        <p:attrNameLst>
                                          <p:attrName>style.visibility</p:attrName>
                                        </p:attrNameLst>
                                      </p:cBhvr>
                                      <p:to>
                                        <p:strVal val="visible"/>
                                      </p:to>
                                    </p:set>
                                    <p:animEffect transition="in" filter="fade">
                                      <p:cBhvr>
                                        <p:cTn id="32" dur="1000"/>
                                        <p:tgtEl>
                                          <p:spTgt spid="231"/>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232"/>
                                        </p:tgtEl>
                                        <p:attrNameLst>
                                          <p:attrName>style.visibility</p:attrName>
                                        </p:attrNameLst>
                                      </p:cBhvr>
                                      <p:to>
                                        <p:strVal val="visible"/>
                                      </p:to>
                                    </p:set>
                                    <p:animEffect transition="in" filter="fade">
                                      <p:cBhvr>
                                        <p:cTn id="37" dur="1000"/>
                                        <p:tgtEl>
                                          <p:spTgt spid="232"/>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nodeType="clickEffect">
                                  <p:stCondLst>
                                    <p:cond delay="0"/>
                                  </p:stCondLst>
                                  <p:childTnLst>
                                    <p:set>
                                      <p:cBhvr>
                                        <p:cTn id="41" dur="1" fill="hold">
                                          <p:stCondLst>
                                            <p:cond delay="0"/>
                                          </p:stCondLst>
                                        </p:cTn>
                                        <p:tgtEl>
                                          <p:spTgt spid="233"/>
                                        </p:tgtEl>
                                        <p:attrNameLst>
                                          <p:attrName>style.visibility</p:attrName>
                                        </p:attrNameLst>
                                      </p:cBhvr>
                                      <p:to>
                                        <p:strVal val="visible"/>
                                      </p:to>
                                    </p:set>
                                    <p:animEffect transition="in" filter="fade">
                                      <p:cBhvr>
                                        <p:cTn id="42" dur="1000"/>
                                        <p:tgtEl>
                                          <p:spTgt spid="23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37"/>
        <p:cNvGrpSpPr/>
        <p:nvPr/>
      </p:nvGrpSpPr>
      <p:grpSpPr>
        <a:xfrm>
          <a:off x="0" y="0"/>
          <a:ext cx="0" cy="0"/>
          <a:chOff x="0" y="0"/>
          <a:chExt cx="0" cy="0"/>
        </a:xfrm>
      </p:grpSpPr>
      <p:sp>
        <p:nvSpPr>
          <p:cNvPr id="238" name="Google Shape;238;p33"/>
          <p:cNvSpPr txBox="1">
            <a:spLocks noGrp="1"/>
          </p:cNvSpPr>
          <p:nvPr>
            <p:ph type="body" idx="1"/>
          </p:nvPr>
        </p:nvSpPr>
        <p:spPr>
          <a:xfrm>
            <a:off x="457200" y="1143000"/>
            <a:ext cx="8154000" cy="5044800"/>
          </a:xfrm>
          <a:prstGeom prst="rect">
            <a:avLst/>
          </a:prstGeom>
        </p:spPr>
        <p:txBody>
          <a:bodyPr spcFirstLastPara="1" wrap="square" lIns="91425" tIns="91425" rIns="91425" bIns="91425" anchor="t" anchorCtr="0">
            <a:noAutofit/>
          </a:bodyPr>
          <a:lstStyle/>
          <a:p>
            <a:pPr marL="0" lvl="0" indent="0" algn="l" rtl="0">
              <a:lnSpc>
                <a:spcPct val="150000"/>
              </a:lnSpc>
              <a:spcBef>
                <a:spcPts val="600"/>
              </a:spcBef>
              <a:spcAft>
                <a:spcPts val="0"/>
              </a:spcAft>
              <a:buNone/>
            </a:pPr>
            <a:r>
              <a:rPr lang="en" sz="2000">
                <a:solidFill>
                  <a:schemeClr val="accent1"/>
                </a:solidFill>
              </a:rPr>
              <a:t>Which of these variables do you expect to be uniformly distributed?</a:t>
            </a:r>
            <a:endParaRPr sz="2000">
              <a:solidFill>
                <a:schemeClr val="accent1"/>
              </a:solidFill>
            </a:endParaRPr>
          </a:p>
          <a:p>
            <a:pPr marL="0" lvl="0" indent="0" algn="l" rtl="0">
              <a:lnSpc>
                <a:spcPct val="115000"/>
              </a:lnSpc>
              <a:spcBef>
                <a:spcPts val="1000"/>
              </a:spcBef>
              <a:spcAft>
                <a:spcPts val="0"/>
              </a:spcAft>
              <a:buClr>
                <a:srgbClr val="000000"/>
              </a:buClr>
              <a:buSzPts val="1100"/>
              <a:buFont typeface="Arial"/>
              <a:buNone/>
            </a:pPr>
            <a:r>
              <a:rPr lang="en" sz="2000">
                <a:solidFill>
                  <a:srgbClr val="000000"/>
                </a:solidFill>
              </a:rPr>
              <a:t>(a) weights of adult females</a:t>
            </a:r>
            <a:endParaRPr sz="2000">
              <a:solidFill>
                <a:srgbClr val="000000"/>
              </a:solidFill>
            </a:endParaRPr>
          </a:p>
          <a:p>
            <a:pPr marL="0" lvl="0" indent="0" algn="l" rtl="0">
              <a:lnSpc>
                <a:spcPct val="115000"/>
              </a:lnSpc>
              <a:spcBef>
                <a:spcPts val="600"/>
              </a:spcBef>
              <a:spcAft>
                <a:spcPts val="0"/>
              </a:spcAft>
              <a:buClr>
                <a:srgbClr val="000000"/>
              </a:buClr>
              <a:buSzPts val="1100"/>
              <a:buFont typeface="Arial"/>
              <a:buNone/>
            </a:pPr>
            <a:r>
              <a:rPr lang="en" sz="2000">
                <a:solidFill>
                  <a:srgbClr val="000000"/>
                </a:solidFill>
              </a:rPr>
              <a:t>(b) salaries of a random sample of people from North Carolina</a:t>
            </a:r>
            <a:endParaRPr sz="2000">
              <a:solidFill>
                <a:srgbClr val="000000"/>
              </a:solidFill>
            </a:endParaRPr>
          </a:p>
          <a:p>
            <a:pPr marL="0" lvl="0" indent="0" algn="l" rtl="0">
              <a:lnSpc>
                <a:spcPct val="115000"/>
              </a:lnSpc>
              <a:spcBef>
                <a:spcPts val="600"/>
              </a:spcBef>
              <a:spcAft>
                <a:spcPts val="0"/>
              </a:spcAft>
              <a:buClr>
                <a:srgbClr val="000000"/>
              </a:buClr>
              <a:buSzPts val="1100"/>
              <a:buFont typeface="Arial"/>
              <a:buNone/>
            </a:pPr>
            <a:r>
              <a:rPr lang="en" sz="2000">
                <a:solidFill>
                  <a:srgbClr val="000000"/>
                </a:solidFill>
              </a:rPr>
              <a:t>(c) house prices</a:t>
            </a:r>
            <a:endParaRPr sz="2000">
              <a:solidFill>
                <a:srgbClr val="000000"/>
              </a:solidFill>
            </a:endParaRPr>
          </a:p>
          <a:p>
            <a:pPr marL="0" lvl="0" indent="0" algn="l" rtl="0">
              <a:lnSpc>
                <a:spcPct val="115000"/>
              </a:lnSpc>
              <a:spcBef>
                <a:spcPts val="600"/>
              </a:spcBef>
              <a:spcAft>
                <a:spcPts val="0"/>
              </a:spcAft>
              <a:buNone/>
            </a:pPr>
            <a:r>
              <a:rPr lang="en" sz="2000">
                <a:solidFill>
                  <a:srgbClr val="000000"/>
                </a:solidFill>
              </a:rPr>
              <a:t>(d) birthdays of classmates (day of the month)</a:t>
            </a:r>
            <a:endParaRPr sz="2000">
              <a:solidFill>
                <a:srgbClr val="000000"/>
              </a:solidFill>
            </a:endParaRPr>
          </a:p>
          <a:p>
            <a:pPr marL="0" lvl="0" indent="0" algn="l" rtl="0">
              <a:lnSpc>
                <a:spcPct val="115000"/>
              </a:lnSpc>
              <a:spcBef>
                <a:spcPts val="600"/>
              </a:spcBef>
              <a:spcAft>
                <a:spcPts val="0"/>
              </a:spcAft>
              <a:buNone/>
            </a:pPr>
            <a:endParaRPr sz="2000">
              <a:solidFill>
                <a:srgbClr val="000000"/>
              </a:solidFill>
            </a:endParaRPr>
          </a:p>
        </p:txBody>
      </p:sp>
      <p:sp>
        <p:nvSpPr>
          <p:cNvPr id="239" name="Google Shape;239;p33"/>
          <p:cNvSpPr txBox="1">
            <a:spLocks noGrp="1"/>
          </p:cNvSpPr>
          <p:nvPr>
            <p:ph type="title"/>
          </p:nvPr>
        </p:nvSpPr>
        <p:spPr>
          <a:xfrm>
            <a:off x="457200" y="-12"/>
            <a:ext cx="8229600" cy="11430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solidFill>
                  <a:schemeClr val="accent1"/>
                </a:solidFill>
              </a:rPr>
              <a:t>Practice</a:t>
            </a:r>
            <a:endParaRPr>
              <a:solidFill>
                <a:schemeClr val="accent1"/>
              </a:solidFill>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43"/>
        <p:cNvGrpSpPr/>
        <p:nvPr/>
      </p:nvGrpSpPr>
      <p:grpSpPr>
        <a:xfrm>
          <a:off x="0" y="0"/>
          <a:ext cx="0" cy="0"/>
          <a:chOff x="0" y="0"/>
          <a:chExt cx="0" cy="0"/>
        </a:xfrm>
      </p:grpSpPr>
      <p:sp>
        <p:nvSpPr>
          <p:cNvPr id="244" name="Google Shape;244;p34"/>
          <p:cNvSpPr txBox="1">
            <a:spLocks noGrp="1"/>
          </p:cNvSpPr>
          <p:nvPr>
            <p:ph type="body" idx="1"/>
          </p:nvPr>
        </p:nvSpPr>
        <p:spPr>
          <a:xfrm>
            <a:off x="457200" y="1143000"/>
            <a:ext cx="8154000" cy="5044800"/>
          </a:xfrm>
          <a:prstGeom prst="rect">
            <a:avLst/>
          </a:prstGeom>
        </p:spPr>
        <p:txBody>
          <a:bodyPr spcFirstLastPara="1" wrap="square" lIns="91425" tIns="91425" rIns="91425" bIns="91425" anchor="t" anchorCtr="0">
            <a:noAutofit/>
          </a:bodyPr>
          <a:lstStyle/>
          <a:p>
            <a:pPr marL="0" lvl="0" indent="0" algn="l" rtl="0">
              <a:lnSpc>
                <a:spcPct val="150000"/>
              </a:lnSpc>
              <a:spcBef>
                <a:spcPts val="600"/>
              </a:spcBef>
              <a:spcAft>
                <a:spcPts val="0"/>
              </a:spcAft>
              <a:buNone/>
            </a:pPr>
            <a:r>
              <a:rPr lang="en" sz="2000">
                <a:solidFill>
                  <a:schemeClr val="accent1"/>
                </a:solidFill>
              </a:rPr>
              <a:t>Which of these variables do you expect to be uniformly distributed?</a:t>
            </a:r>
            <a:endParaRPr sz="2000">
              <a:solidFill>
                <a:schemeClr val="accent1"/>
              </a:solidFill>
            </a:endParaRPr>
          </a:p>
          <a:p>
            <a:pPr marL="0" lvl="0" indent="0" algn="l" rtl="0">
              <a:lnSpc>
                <a:spcPct val="115000"/>
              </a:lnSpc>
              <a:spcBef>
                <a:spcPts val="1000"/>
              </a:spcBef>
              <a:spcAft>
                <a:spcPts val="0"/>
              </a:spcAft>
              <a:buNone/>
            </a:pPr>
            <a:r>
              <a:rPr lang="en" sz="2000">
                <a:solidFill>
                  <a:srgbClr val="000000"/>
                </a:solidFill>
              </a:rPr>
              <a:t>(a) weights of adult females</a:t>
            </a:r>
            <a:endParaRPr sz="2000">
              <a:solidFill>
                <a:srgbClr val="000000"/>
              </a:solidFill>
            </a:endParaRPr>
          </a:p>
          <a:p>
            <a:pPr marL="0" lvl="0" indent="0" algn="l" rtl="0">
              <a:lnSpc>
                <a:spcPct val="115000"/>
              </a:lnSpc>
              <a:spcBef>
                <a:spcPts val="600"/>
              </a:spcBef>
              <a:spcAft>
                <a:spcPts val="0"/>
              </a:spcAft>
              <a:buNone/>
            </a:pPr>
            <a:r>
              <a:rPr lang="en" sz="2000">
                <a:solidFill>
                  <a:srgbClr val="000000"/>
                </a:solidFill>
              </a:rPr>
              <a:t>(b) salaries of a random sample of people from North Carolina</a:t>
            </a:r>
            <a:endParaRPr sz="2000">
              <a:solidFill>
                <a:srgbClr val="000000"/>
              </a:solidFill>
            </a:endParaRPr>
          </a:p>
          <a:p>
            <a:pPr marL="0" lvl="0" indent="0" algn="l" rtl="0">
              <a:lnSpc>
                <a:spcPct val="115000"/>
              </a:lnSpc>
              <a:spcBef>
                <a:spcPts val="600"/>
              </a:spcBef>
              <a:spcAft>
                <a:spcPts val="0"/>
              </a:spcAft>
              <a:buNone/>
            </a:pPr>
            <a:r>
              <a:rPr lang="en" sz="2000">
                <a:solidFill>
                  <a:srgbClr val="000000"/>
                </a:solidFill>
              </a:rPr>
              <a:t>(c) house prices</a:t>
            </a:r>
            <a:endParaRPr sz="2000">
              <a:solidFill>
                <a:srgbClr val="000000"/>
              </a:solidFill>
            </a:endParaRPr>
          </a:p>
          <a:p>
            <a:pPr marL="0" lvl="0" indent="0" algn="l" rtl="0">
              <a:lnSpc>
                <a:spcPct val="115000"/>
              </a:lnSpc>
              <a:spcBef>
                <a:spcPts val="600"/>
              </a:spcBef>
              <a:spcAft>
                <a:spcPts val="0"/>
              </a:spcAft>
              <a:buNone/>
            </a:pPr>
            <a:r>
              <a:rPr lang="en" sz="2000" i="1">
                <a:solidFill>
                  <a:srgbClr val="FF9900"/>
                </a:solidFill>
              </a:rPr>
              <a:t>(d) birthdays of classmates (day of the month)</a:t>
            </a:r>
            <a:endParaRPr sz="2000" i="1">
              <a:solidFill>
                <a:srgbClr val="FF9900"/>
              </a:solidFill>
            </a:endParaRPr>
          </a:p>
          <a:p>
            <a:pPr marL="0" lvl="0" indent="0" algn="l" rtl="0">
              <a:lnSpc>
                <a:spcPct val="115000"/>
              </a:lnSpc>
              <a:spcBef>
                <a:spcPts val="600"/>
              </a:spcBef>
              <a:spcAft>
                <a:spcPts val="0"/>
              </a:spcAft>
              <a:buNone/>
            </a:pPr>
            <a:endParaRPr sz="2000">
              <a:solidFill>
                <a:srgbClr val="000000"/>
              </a:solidFill>
            </a:endParaRPr>
          </a:p>
        </p:txBody>
      </p:sp>
      <p:sp>
        <p:nvSpPr>
          <p:cNvPr id="245" name="Google Shape;245;p34"/>
          <p:cNvSpPr txBox="1">
            <a:spLocks noGrp="1"/>
          </p:cNvSpPr>
          <p:nvPr>
            <p:ph type="title"/>
          </p:nvPr>
        </p:nvSpPr>
        <p:spPr>
          <a:xfrm>
            <a:off x="457200" y="-12"/>
            <a:ext cx="8229600" cy="11430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solidFill>
                  <a:schemeClr val="accent1"/>
                </a:solidFill>
              </a:rPr>
              <a:t>Practice</a:t>
            </a:r>
            <a:endParaRPr>
              <a:solidFill>
                <a:schemeClr val="accent1"/>
              </a:solidFill>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249"/>
        <p:cNvGrpSpPr/>
        <p:nvPr/>
      </p:nvGrpSpPr>
      <p:grpSpPr>
        <a:xfrm>
          <a:off x="0" y="0"/>
          <a:ext cx="0" cy="0"/>
          <a:chOff x="0" y="0"/>
          <a:chExt cx="0" cy="0"/>
        </a:xfrm>
      </p:grpSpPr>
      <p:sp>
        <p:nvSpPr>
          <p:cNvPr id="250" name="Google Shape;250;p35"/>
          <p:cNvSpPr txBox="1">
            <a:spLocks noGrp="1"/>
          </p:cNvSpPr>
          <p:nvPr>
            <p:ph type="body" idx="1"/>
          </p:nvPr>
        </p:nvSpPr>
        <p:spPr>
          <a:xfrm>
            <a:off x="457200" y="1392375"/>
            <a:ext cx="8154000" cy="5044800"/>
          </a:xfrm>
          <a:prstGeom prst="rect">
            <a:avLst/>
          </a:prstGeom>
        </p:spPr>
        <p:txBody>
          <a:bodyPr spcFirstLastPara="1" wrap="square" lIns="91425" tIns="91425" rIns="91425" bIns="91425" anchor="t" anchorCtr="0">
            <a:noAutofit/>
          </a:bodyPr>
          <a:lstStyle/>
          <a:p>
            <a:pPr marL="0" lvl="0" indent="0" algn="l" rtl="0">
              <a:lnSpc>
                <a:spcPct val="150000"/>
              </a:lnSpc>
              <a:spcBef>
                <a:spcPts val="600"/>
              </a:spcBef>
              <a:spcAft>
                <a:spcPts val="0"/>
              </a:spcAft>
              <a:buClr>
                <a:srgbClr val="000000"/>
              </a:buClr>
              <a:buSzPts val="1100"/>
              <a:buFont typeface="Arial"/>
              <a:buNone/>
            </a:pPr>
            <a:r>
              <a:rPr lang="en" sz="2100" dirty="0">
                <a:solidFill>
                  <a:srgbClr val="000000"/>
                </a:solidFill>
              </a:rPr>
              <a:t>Sketch the expected distributions of the following variables:</a:t>
            </a:r>
            <a:endParaRPr sz="2100" dirty="0">
              <a:solidFill>
                <a:srgbClr val="000000"/>
              </a:solidFill>
            </a:endParaRPr>
          </a:p>
          <a:p>
            <a:pPr marL="914400" lvl="0" indent="-361950" algn="l" rtl="0">
              <a:lnSpc>
                <a:spcPct val="115000"/>
              </a:lnSpc>
              <a:spcBef>
                <a:spcPts val="0"/>
              </a:spcBef>
              <a:spcAft>
                <a:spcPts val="0"/>
              </a:spcAft>
              <a:buClr>
                <a:srgbClr val="000000"/>
              </a:buClr>
              <a:buSzPts val="2100"/>
              <a:buChar char="●"/>
            </a:pPr>
            <a:r>
              <a:rPr lang="en" sz="2100" dirty="0">
                <a:solidFill>
                  <a:srgbClr val="000000"/>
                </a:solidFill>
              </a:rPr>
              <a:t>scores on an exam</a:t>
            </a:r>
            <a:endParaRPr sz="2100" dirty="0">
              <a:solidFill>
                <a:srgbClr val="000000"/>
              </a:solidFill>
            </a:endParaRPr>
          </a:p>
          <a:p>
            <a:pPr marL="914400" lvl="0" indent="-361950" algn="l" rtl="0">
              <a:lnSpc>
                <a:spcPct val="150000"/>
              </a:lnSpc>
              <a:spcBef>
                <a:spcPts val="0"/>
              </a:spcBef>
              <a:spcAft>
                <a:spcPts val="0"/>
              </a:spcAft>
              <a:buClr>
                <a:srgbClr val="000000"/>
              </a:buClr>
              <a:buSzPts val="2100"/>
              <a:buChar char="●"/>
            </a:pPr>
            <a:r>
              <a:rPr lang="en" sz="2100" dirty="0">
                <a:solidFill>
                  <a:srgbClr val="000000"/>
                </a:solidFill>
              </a:rPr>
              <a:t>IQ scores</a:t>
            </a:r>
            <a:endParaRPr sz="2100" dirty="0">
              <a:solidFill>
                <a:srgbClr val="000000"/>
              </a:solidFill>
            </a:endParaRPr>
          </a:p>
          <a:p>
            <a:pPr marL="0" lvl="0" indent="0" algn="l" rtl="0">
              <a:lnSpc>
                <a:spcPct val="115000"/>
              </a:lnSpc>
              <a:spcBef>
                <a:spcPts val="600"/>
              </a:spcBef>
              <a:spcAft>
                <a:spcPts val="0"/>
              </a:spcAft>
              <a:buNone/>
            </a:pPr>
            <a:r>
              <a:rPr lang="en" sz="2100" dirty="0">
                <a:solidFill>
                  <a:srgbClr val="000000"/>
                </a:solidFill>
              </a:rPr>
              <a:t>Come up with a concise way (1-2 sentences) to teach someone how to determine the expected distribution of any variable.</a:t>
            </a:r>
            <a:endParaRPr sz="2100" dirty="0">
              <a:solidFill>
                <a:srgbClr val="000000"/>
              </a:solidFill>
            </a:endParaRPr>
          </a:p>
        </p:txBody>
      </p:sp>
      <p:sp>
        <p:nvSpPr>
          <p:cNvPr id="251" name="Google Shape;251;p35"/>
          <p:cNvSpPr txBox="1">
            <a:spLocks noGrp="1"/>
          </p:cNvSpPr>
          <p:nvPr>
            <p:ph type="title"/>
          </p:nvPr>
        </p:nvSpPr>
        <p:spPr>
          <a:xfrm>
            <a:off x="457200" y="249363"/>
            <a:ext cx="8229600" cy="11430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solidFill>
                  <a:schemeClr val="accent1"/>
                </a:solidFill>
              </a:rPr>
              <a:t>Application Activity:</a:t>
            </a:r>
            <a:endParaRPr>
              <a:solidFill>
                <a:schemeClr val="accent1"/>
              </a:solidFill>
            </a:endParaRPr>
          </a:p>
          <a:p>
            <a:pPr marL="0" lvl="0" indent="0" algn="l" rtl="0">
              <a:spcBef>
                <a:spcPts val="0"/>
              </a:spcBef>
              <a:spcAft>
                <a:spcPts val="0"/>
              </a:spcAft>
              <a:buNone/>
            </a:pPr>
            <a:r>
              <a:rPr lang="en">
                <a:solidFill>
                  <a:schemeClr val="accent1"/>
                </a:solidFill>
              </a:rPr>
              <a:t>Shapes of Distributions</a:t>
            </a:r>
            <a:endParaRPr>
              <a:solidFill>
                <a:schemeClr val="accent1"/>
              </a:solidFill>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262"/>
        <p:cNvGrpSpPr/>
        <p:nvPr/>
      </p:nvGrpSpPr>
      <p:grpSpPr>
        <a:xfrm>
          <a:off x="0" y="0"/>
          <a:ext cx="0" cy="0"/>
          <a:chOff x="0" y="0"/>
          <a:chExt cx="0" cy="0"/>
        </a:xfrm>
      </p:grpSpPr>
      <p:sp>
        <p:nvSpPr>
          <p:cNvPr id="263" name="Google Shape;263;p37"/>
          <p:cNvSpPr txBox="1">
            <a:spLocks noGrp="1"/>
          </p:cNvSpPr>
          <p:nvPr>
            <p:ph type="body" idx="1"/>
          </p:nvPr>
        </p:nvSpPr>
        <p:spPr>
          <a:xfrm>
            <a:off x="457200" y="5656800"/>
            <a:ext cx="8068500" cy="937200"/>
          </a:xfrm>
          <a:prstGeom prst="rect">
            <a:avLst/>
          </a:prstGeom>
        </p:spPr>
        <p:txBody>
          <a:bodyPr spcFirstLastPara="1" wrap="square" lIns="91425" tIns="91425" rIns="91425" bIns="91425" anchor="t" anchorCtr="0">
            <a:noAutofit/>
          </a:bodyPr>
          <a:lstStyle/>
          <a:p>
            <a:pPr marL="0" lvl="0" indent="0" algn="l" rtl="0">
              <a:lnSpc>
                <a:spcPct val="115000"/>
              </a:lnSpc>
              <a:spcBef>
                <a:spcPts val="600"/>
              </a:spcBef>
              <a:spcAft>
                <a:spcPts val="0"/>
              </a:spcAft>
              <a:buNone/>
            </a:pPr>
            <a:r>
              <a:rPr lang="en" sz="2000">
                <a:solidFill>
                  <a:schemeClr val="accent1"/>
                </a:solidFill>
              </a:rPr>
              <a:t>How useful are centers alone for conveying the true characteristics of a distribution?</a:t>
            </a:r>
            <a:endParaRPr sz="2000">
              <a:solidFill>
                <a:schemeClr val="accent1"/>
              </a:solidFill>
            </a:endParaRPr>
          </a:p>
        </p:txBody>
      </p:sp>
      <p:sp>
        <p:nvSpPr>
          <p:cNvPr id="264" name="Google Shape;264;p37"/>
          <p:cNvSpPr txBox="1">
            <a:spLocks noGrp="1"/>
          </p:cNvSpPr>
          <p:nvPr>
            <p:ph type="body" idx="1"/>
          </p:nvPr>
        </p:nvSpPr>
        <p:spPr>
          <a:xfrm>
            <a:off x="457200" y="1143000"/>
            <a:ext cx="8154000" cy="4437600"/>
          </a:xfrm>
          <a:prstGeom prst="rect">
            <a:avLst/>
          </a:prstGeom>
        </p:spPr>
        <p:txBody>
          <a:bodyPr spcFirstLastPara="1" wrap="square" lIns="91425" tIns="91425" rIns="91425" bIns="91425" anchor="t" anchorCtr="0">
            <a:noAutofit/>
          </a:bodyPr>
          <a:lstStyle/>
          <a:p>
            <a:pPr marL="0" lvl="0" indent="0" algn="l" rtl="0">
              <a:lnSpc>
                <a:spcPct val="115000"/>
              </a:lnSpc>
              <a:spcBef>
                <a:spcPts val="600"/>
              </a:spcBef>
              <a:spcAft>
                <a:spcPts val="0"/>
              </a:spcAft>
              <a:buNone/>
            </a:pPr>
            <a:endParaRPr sz="2000" dirty="0">
              <a:solidFill>
                <a:srgbClr val="000000"/>
              </a:solidFill>
            </a:endParaRPr>
          </a:p>
          <a:p>
            <a:pPr marL="0" lvl="0" indent="0" algn="l" rtl="0">
              <a:lnSpc>
                <a:spcPct val="115000"/>
              </a:lnSpc>
              <a:spcBef>
                <a:spcPts val="600"/>
              </a:spcBef>
              <a:spcAft>
                <a:spcPts val="0"/>
              </a:spcAft>
              <a:buNone/>
            </a:pPr>
            <a:endParaRPr sz="2000" dirty="0">
              <a:solidFill>
                <a:srgbClr val="000000"/>
              </a:solidFill>
            </a:endParaRPr>
          </a:p>
          <a:p>
            <a:pPr marL="0" lvl="0" indent="0" algn="l" rtl="0">
              <a:lnSpc>
                <a:spcPct val="115000"/>
              </a:lnSpc>
              <a:spcBef>
                <a:spcPts val="600"/>
              </a:spcBef>
              <a:spcAft>
                <a:spcPts val="0"/>
              </a:spcAft>
              <a:buNone/>
            </a:pPr>
            <a:endParaRPr sz="2000" dirty="0">
              <a:solidFill>
                <a:srgbClr val="000000"/>
              </a:solidFill>
            </a:endParaRPr>
          </a:p>
          <a:p>
            <a:pPr marL="0" lvl="0" indent="0" algn="l" rtl="0">
              <a:lnSpc>
                <a:spcPct val="115000"/>
              </a:lnSpc>
              <a:spcBef>
                <a:spcPts val="600"/>
              </a:spcBef>
              <a:spcAft>
                <a:spcPts val="0"/>
              </a:spcAft>
              <a:buNone/>
            </a:pPr>
            <a:endParaRPr sz="2000" dirty="0">
              <a:solidFill>
                <a:srgbClr val="000000"/>
              </a:solidFill>
            </a:endParaRPr>
          </a:p>
          <a:p>
            <a:pPr marL="0" lvl="0" indent="0" algn="l" rtl="0">
              <a:lnSpc>
                <a:spcPct val="115000"/>
              </a:lnSpc>
              <a:spcBef>
                <a:spcPts val="600"/>
              </a:spcBef>
              <a:spcAft>
                <a:spcPts val="0"/>
              </a:spcAft>
              <a:buNone/>
            </a:pPr>
            <a:endParaRPr sz="2000" dirty="0">
              <a:solidFill>
                <a:srgbClr val="000000"/>
              </a:solidFill>
            </a:endParaRPr>
          </a:p>
          <a:p>
            <a:pPr marL="0" lvl="0" indent="0" algn="l" rtl="0">
              <a:lnSpc>
                <a:spcPct val="115000"/>
              </a:lnSpc>
              <a:spcBef>
                <a:spcPts val="600"/>
              </a:spcBef>
              <a:spcAft>
                <a:spcPts val="0"/>
              </a:spcAft>
              <a:buNone/>
            </a:pPr>
            <a:endParaRPr sz="2000" dirty="0">
              <a:solidFill>
                <a:srgbClr val="000000"/>
              </a:solidFill>
            </a:endParaRPr>
          </a:p>
          <a:p>
            <a:pPr marL="0" lvl="0" indent="0" algn="l" rtl="0">
              <a:lnSpc>
                <a:spcPct val="115000"/>
              </a:lnSpc>
              <a:spcBef>
                <a:spcPts val="600"/>
              </a:spcBef>
              <a:spcAft>
                <a:spcPts val="0"/>
              </a:spcAft>
              <a:buNone/>
            </a:pPr>
            <a:endParaRPr sz="2000" dirty="0">
              <a:solidFill>
                <a:srgbClr val="000000"/>
              </a:solidFill>
            </a:endParaRPr>
          </a:p>
          <a:p>
            <a:pPr marL="0" lvl="0" indent="0" algn="l" rtl="0">
              <a:lnSpc>
                <a:spcPct val="115000"/>
              </a:lnSpc>
              <a:spcBef>
                <a:spcPts val="600"/>
              </a:spcBef>
              <a:spcAft>
                <a:spcPts val="0"/>
              </a:spcAft>
              <a:buNone/>
            </a:pPr>
            <a:endParaRPr sz="2000" dirty="0">
              <a:solidFill>
                <a:srgbClr val="000000"/>
              </a:solidFill>
            </a:endParaRPr>
          </a:p>
          <a:p>
            <a:pPr marL="0" lvl="0" indent="0" algn="l" rtl="0">
              <a:lnSpc>
                <a:spcPct val="115000"/>
              </a:lnSpc>
              <a:spcBef>
                <a:spcPts val="600"/>
              </a:spcBef>
              <a:spcAft>
                <a:spcPts val="0"/>
              </a:spcAft>
              <a:buNone/>
            </a:pPr>
            <a:endParaRPr sz="2000" dirty="0">
              <a:solidFill>
                <a:srgbClr val="000000"/>
              </a:solidFill>
            </a:endParaRPr>
          </a:p>
          <a:p>
            <a:pPr marL="0" lvl="0" indent="0" algn="l" rtl="0">
              <a:lnSpc>
                <a:spcPct val="115000"/>
              </a:lnSpc>
              <a:spcBef>
                <a:spcPts val="600"/>
              </a:spcBef>
              <a:spcAft>
                <a:spcPts val="0"/>
              </a:spcAft>
              <a:buNone/>
            </a:pPr>
            <a:endParaRPr sz="1000" dirty="0">
              <a:solidFill>
                <a:srgbClr val="000000"/>
              </a:solidFill>
            </a:endParaRPr>
          </a:p>
        </p:txBody>
      </p:sp>
      <p:sp>
        <p:nvSpPr>
          <p:cNvPr id="265" name="Google Shape;265;p37"/>
          <p:cNvSpPr txBox="1">
            <a:spLocks noGrp="1"/>
          </p:cNvSpPr>
          <p:nvPr>
            <p:ph type="title"/>
          </p:nvPr>
        </p:nvSpPr>
        <p:spPr>
          <a:xfrm>
            <a:off x="457200" y="-12"/>
            <a:ext cx="8229600" cy="11430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solidFill>
                  <a:schemeClr val="accent1"/>
                </a:solidFill>
              </a:rPr>
              <a:t>Are you typical?</a:t>
            </a:r>
            <a:endParaRPr>
              <a:solidFill>
                <a:schemeClr val="accent1"/>
              </a:solidFill>
            </a:endParaRPr>
          </a:p>
        </p:txBody>
      </p:sp>
      <p:pic>
        <p:nvPicPr>
          <p:cNvPr id="266" name="Google Shape;266;p37"/>
          <p:cNvPicPr preferRelativeResize="0"/>
          <p:nvPr/>
        </p:nvPicPr>
        <p:blipFill>
          <a:blip r:embed="rId3">
            <a:alphaModFix/>
          </a:blip>
          <a:stretch>
            <a:fillRect/>
          </a:stretch>
        </p:blipFill>
        <p:spPr>
          <a:xfrm>
            <a:off x="1681225" y="1547488"/>
            <a:ext cx="5781550" cy="3563025"/>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63"/>
                                        </p:tgtEl>
                                        <p:attrNameLst>
                                          <p:attrName>style.visibility</p:attrName>
                                        </p:attrNameLst>
                                      </p:cBhvr>
                                      <p:to>
                                        <p:strVal val="visible"/>
                                      </p:to>
                                    </p:set>
                                    <p:animEffect transition="in" filter="fade">
                                      <p:cBhvr>
                                        <p:cTn id="7" dur="1000"/>
                                        <p:tgtEl>
                                          <p:spTgt spid="26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287"/>
        <p:cNvGrpSpPr/>
        <p:nvPr/>
      </p:nvGrpSpPr>
      <p:grpSpPr>
        <a:xfrm>
          <a:off x="0" y="0"/>
          <a:ext cx="0" cy="0"/>
          <a:chOff x="0" y="0"/>
          <a:chExt cx="0" cy="0"/>
        </a:xfrm>
      </p:grpSpPr>
      <p:sp>
        <p:nvSpPr>
          <p:cNvPr id="288" name="Google Shape;288;p40"/>
          <p:cNvSpPr txBox="1">
            <a:spLocks noGrp="1"/>
          </p:cNvSpPr>
          <p:nvPr>
            <p:ph type="title"/>
          </p:nvPr>
        </p:nvSpPr>
        <p:spPr>
          <a:xfrm>
            <a:off x="457200" y="-12"/>
            <a:ext cx="8229600" cy="11430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solidFill>
                  <a:schemeClr val="accent1"/>
                </a:solidFill>
              </a:rPr>
              <a:t>Variance</a:t>
            </a:r>
            <a:endParaRPr>
              <a:solidFill>
                <a:schemeClr val="accent1"/>
              </a:solidFill>
            </a:endParaRPr>
          </a:p>
        </p:txBody>
      </p:sp>
      <p:sp>
        <p:nvSpPr>
          <p:cNvPr id="289" name="Google Shape;289;p40"/>
          <p:cNvSpPr txBox="1">
            <a:spLocks noGrp="1"/>
          </p:cNvSpPr>
          <p:nvPr>
            <p:ph type="body" idx="1"/>
          </p:nvPr>
        </p:nvSpPr>
        <p:spPr>
          <a:xfrm>
            <a:off x="457200" y="1143000"/>
            <a:ext cx="8154000" cy="587100"/>
          </a:xfrm>
          <a:prstGeom prst="rect">
            <a:avLst/>
          </a:prstGeom>
        </p:spPr>
        <p:txBody>
          <a:bodyPr spcFirstLastPara="1" wrap="square" lIns="91425" tIns="91425" rIns="91425" bIns="91425" anchor="t" anchorCtr="0">
            <a:noAutofit/>
          </a:bodyPr>
          <a:lstStyle/>
          <a:p>
            <a:pPr marL="0" lvl="0" indent="0" algn="l" rtl="0">
              <a:lnSpc>
                <a:spcPct val="115000"/>
              </a:lnSpc>
              <a:spcBef>
                <a:spcPts val="600"/>
              </a:spcBef>
              <a:spcAft>
                <a:spcPts val="0"/>
              </a:spcAft>
              <a:buNone/>
            </a:pPr>
            <a:r>
              <a:rPr lang="en" sz="1900" dirty="0">
                <a:solidFill>
                  <a:schemeClr val="accent1"/>
                </a:solidFill>
              </a:rPr>
              <a:t>Variance</a:t>
            </a:r>
            <a:r>
              <a:rPr lang="en" sz="1900" dirty="0">
                <a:solidFill>
                  <a:srgbClr val="000000"/>
                </a:solidFill>
              </a:rPr>
              <a:t> is roughly the average squared deviation from the mean. </a:t>
            </a:r>
            <a:r>
              <a:rPr lang="en-US" altLang="zh-CN" sz="1900" dirty="0">
                <a:solidFill>
                  <a:srgbClr val="000000"/>
                </a:solidFill>
              </a:rPr>
              <a:t>Spread</a:t>
            </a:r>
            <a:endParaRPr sz="1900" dirty="0">
              <a:solidFill>
                <a:srgbClr val="000000"/>
              </a:solidFill>
            </a:endParaRPr>
          </a:p>
          <a:p>
            <a:pPr marL="0" lvl="0" indent="0" algn="l" rtl="0">
              <a:lnSpc>
                <a:spcPct val="115000"/>
              </a:lnSpc>
              <a:spcBef>
                <a:spcPts val="600"/>
              </a:spcBef>
              <a:spcAft>
                <a:spcPts val="0"/>
              </a:spcAft>
              <a:buNone/>
            </a:pPr>
            <a:endParaRPr sz="1900" dirty="0">
              <a:solidFill>
                <a:srgbClr val="000000"/>
              </a:solidFill>
            </a:endParaRPr>
          </a:p>
          <a:p>
            <a:pPr marL="0" lvl="0" indent="0" algn="l" rtl="0">
              <a:lnSpc>
                <a:spcPct val="115000"/>
              </a:lnSpc>
              <a:spcBef>
                <a:spcPts val="600"/>
              </a:spcBef>
              <a:spcAft>
                <a:spcPts val="0"/>
              </a:spcAft>
              <a:buNone/>
            </a:pPr>
            <a:endParaRPr sz="1900" dirty="0">
              <a:solidFill>
                <a:srgbClr val="000000"/>
              </a:solidFill>
            </a:endParaRPr>
          </a:p>
        </p:txBody>
      </p:sp>
      <p:sp>
        <p:nvSpPr>
          <p:cNvPr id="290" name="Google Shape;290;p40"/>
          <p:cNvSpPr txBox="1">
            <a:spLocks noGrp="1"/>
          </p:cNvSpPr>
          <p:nvPr>
            <p:ph type="body" idx="1"/>
          </p:nvPr>
        </p:nvSpPr>
        <p:spPr>
          <a:xfrm>
            <a:off x="495000" y="2552700"/>
            <a:ext cx="8154000" cy="587100"/>
          </a:xfrm>
          <a:prstGeom prst="rect">
            <a:avLst/>
          </a:prstGeom>
        </p:spPr>
        <p:txBody>
          <a:bodyPr spcFirstLastPara="1" wrap="square" lIns="91425" tIns="91425" rIns="91425" bIns="91425" anchor="t" anchorCtr="0">
            <a:noAutofit/>
          </a:bodyPr>
          <a:lstStyle/>
          <a:p>
            <a:pPr marL="457200" lvl="0" indent="-349250" algn="l" rtl="0">
              <a:lnSpc>
                <a:spcPct val="115000"/>
              </a:lnSpc>
              <a:spcBef>
                <a:spcPts val="600"/>
              </a:spcBef>
              <a:spcAft>
                <a:spcPts val="0"/>
              </a:spcAft>
              <a:buClr>
                <a:srgbClr val="000000"/>
              </a:buClr>
              <a:buSzPts val="1900"/>
              <a:buChar char="●"/>
            </a:pPr>
            <a:r>
              <a:rPr lang="en" sz="1900">
                <a:solidFill>
                  <a:srgbClr val="000000"/>
                </a:solidFill>
              </a:rPr>
              <a:t>The sample mean is</a:t>
            </a:r>
            <a:br>
              <a:rPr lang="en" sz="1900">
                <a:solidFill>
                  <a:srgbClr val="000000"/>
                </a:solidFill>
              </a:rPr>
            </a:br>
            <a:r>
              <a:rPr lang="en" sz="1900">
                <a:solidFill>
                  <a:srgbClr val="000000"/>
                </a:solidFill>
              </a:rPr>
              <a:t>and the sample size is n = 217.</a:t>
            </a:r>
            <a:endParaRPr sz="1900">
              <a:solidFill>
                <a:srgbClr val="000000"/>
              </a:solidFill>
            </a:endParaRPr>
          </a:p>
          <a:p>
            <a:pPr marL="0" lvl="0" indent="0" algn="l" rtl="0">
              <a:lnSpc>
                <a:spcPct val="115000"/>
              </a:lnSpc>
              <a:spcBef>
                <a:spcPts val="600"/>
              </a:spcBef>
              <a:spcAft>
                <a:spcPts val="0"/>
              </a:spcAft>
              <a:buNone/>
            </a:pPr>
            <a:endParaRPr sz="1900">
              <a:solidFill>
                <a:srgbClr val="000000"/>
              </a:solidFill>
            </a:endParaRPr>
          </a:p>
        </p:txBody>
      </p:sp>
      <p:pic>
        <p:nvPicPr>
          <p:cNvPr id="291" name="Google Shape;291;p40"/>
          <p:cNvPicPr preferRelativeResize="0"/>
          <p:nvPr/>
        </p:nvPicPr>
        <p:blipFill>
          <a:blip r:embed="rId3">
            <a:alphaModFix/>
          </a:blip>
          <a:stretch>
            <a:fillRect/>
          </a:stretch>
        </p:blipFill>
        <p:spPr>
          <a:xfrm>
            <a:off x="3276625" y="2678100"/>
            <a:ext cx="947725" cy="328700"/>
          </a:xfrm>
          <a:prstGeom prst="rect">
            <a:avLst/>
          </a:prstGeom>
          <a:noFill/>
          <a:ln>
            <a:noFill/>
          </a:ln>
        </p:spPr>
      </p:pic>
      <p:sp>
        <p:nvSpPr>
          <p:cNvPr id="292" name="Google Shape;292;p40"/>
          <p:cNvSpPr txBox="1">
            <a:spLocks noGrp="1"/>
          </p:cNvSpPr>
          <p:nvPr>
            <p:ph type="body" idx="1"/>
          </p:nvPr>
        </p:nvSpPr>
        <p:spPr>
          <a:xfrm>
            <a:off x="495000" y="3421200"/>
            <a:ext cx="8154000" cy="587100"/>
          </a:xfrm>
          <a:prstGeom prst="rect">
            <a:avLst/>
          </a:prstGeom>
        </p:spPr>
        <p:txBody>
          <a:bodyPr spcFirstLastPara="1" wrap="square" lIns="91425" tIns="91425" rIns="91425" bIns="91425" anchor="t" anchorCtr="0">
            <a:noAutofit/>
          </a:bodyPr>
          <a:lstStyle/>
          <a:p>
            <a:pPr marL="457200" lvl="0" indent="-349250" algn="l" rtl="0">
              <a:lnSpc>
                <a:spcPct val="115000"/>
              </a:lnSpc>
              <a:spcBef>
                <a:spcPts val="600"/>
              </a:spcBef>
              <a:spcAft>
                <a:spcPts val="0"/>
              </a:spcAft>
              <a:buClr>
                <a:srgbClr val="000000"/>
              </a:buClr>
              <a:buSzPts val="1900"/>
              <a:buChar char="●"/>
            </a:pPr>
            <a:r>
              <a:rPr lang="en" sz="1900">
                <a:solidFill>
                  <a:srgbClr val="000000"/>
                </a:solidFill>
              </a:rPr>
              <a:t>The variance of amount of sleep</a:t>
            </a:r>
            <a:br>
              <a:rPr lang="en" sz="1900">
                <a:solidFill>
                  <a:srgbClr val="000000"/>
                </a:solidFill>
              </a:rPr>
            </a:br>
            <a:r>
              <a:rPr lang="en" sz="1900">
                <a:solidFill>
                  <a:srgbClr val="000000"/>
                </a:solidFill>
              </a:rPr>
              <a:t>students get per night can be</a:t>
            </a:r>
            <a:br>
              <a:rPr lang="en" sz="1900">
                <a:solidFill>
                  <a:srgbClr val="000000"/>
                </a:solidFill>
              </a:rPr>
            </a:br>
            <a:r>
              <a:rPr lang="en" sz="1900">
                <a:solidFill>
                  <a:srgbClr val="000000"/>
                </a:solidFill>
              </a:rPr>
              <a:t>calculated as:</a:t>
            </a:r>
            <a:endParaRPr sz="1900">
              <a:solidFill>
                <a:srgbClr val="000000"/>
              </a:solidFill>
            </a:endParaRPr>
          </a:p>
          <a:p>
            <a:pPr marL="0" lvl="0" indent="0" algn="l" rtl="0">
              <a:lnSpc>
                <a:spcPct val="115000"/>
              </a:lnSpc>
              <a:spcBef>
                <a:spcPts val="600"/>
              </a:spcBef>
              <a:spcAft>
                <a:spcPts val="0"/>
              </a:spcAft>
              <a:buNone/>
            </a:pPr>
            <a:endParaRPr sz="1900">
              <a:solidFill>
                <a:srgbClr val="000000"/>
              </a:solidFill>
            </a:endParaRPr>
          </a:p>
        </p:txBody>
      </p:sp>
      <p:pic>
        <p:nvPicPr>
          <p:cNvPr id="293" name="Google Shape;293;p40"/>
          <p:cNvPicPr preferRelativeResize="0"/>
          <p:nvPr/>
        </p:nvPicPr>
        <p:blipFill>
          <a:blip r:embed="rId4">
            <a:alphaModFix/>
          </a:blip>
          <a:stretch>
            <a:fillRect/>
          </a:stretch>
        </p:blipFill>
        <p:spPr>
          <a:xfrm>
            <a:off x="2708688" y="1764872"/>
            <a:ext cx="2083600" cy="783075"/>
          </a:xfrm>
          <a:prstGeom prst="rect">
            <a:avLst/>
          </a:prstGeom>
          <a:noFill/>
          <a:ln>
            <a:noFill/>
          </a:ln>
        </p:spPr>
      </p:pic>
      <p:pic>
        <p:nvPicPr>
          <p:cNvPr id="294" name="Google Shape;294;p40"/>
          <p:cNvPicPr preferRelativeResize="0"/>
          <p:nvPr/>
        </p:nvPicPr>
        <p:blipFill>
          <a:blip r:embed="rId5">
            <a:alphaModFix/>
          </a:blip>
          <a:stretch>
            <a:fillRect/>
          </a:stretch>
        </p:blipFill>
        <p:spPr>
          <a:xfrm>
            <a:off x="4595822" y="2599138"/>
            <a:ext cx="3581400" cy="2231225"/>
          </a:xfrm>
          <a:prstGeom prst="rect">
            <a:avLst/>
          </a:prstGeom>
          <a:noFill/>
          <a:ln>
            <a:noFill/>
          </a:ln>
        </p:spPr>
      </p:pic>
      <p:pic>
        <p:nvPicPr>
          <p:cNvPr id="295" name="Google Shape;295;p40"/>
          <p:cNvPicPr preferRelativeResize="0"/>
          <p:nvPr/>
        </p:nvPicPr>
        <p:blipFill>
          <a:blip r:embed="rId6">
            <a:alphaModFix/>
          </a:blip>
          <a:stretch>
            <a:fillRect/>
          </a:stretch>
        </p:blipFill>
        <p:spPr>
          <a:xfrm>
            <a:off x="1125447" y="4979572"/>
            <a:ext cx="6817525" cy="783075"/>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94"/>
                                        </p:tgtEl>
                                        <p:attrNameLst>
                                          <p:attrName>style.visibility</p:attrName>
                                        </p:attrNameLst>
                                      </p:cBhvr>
                                      <p:to>
                                        <p:strVal val="visible"/>
                                      </p:to>
                                    </p:set>
                                    <p:animEffect transition="in" filter="fade">
                                      <p:cBhvr>
                                        <p:cTn id="7" dur="1000"/>
                                        <p:tgtEl>
                                          <p:spTgt spid="294"/>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92"/>
                                        </p:tgtEl>
                                        <p:attrNameLst>
                                          <p:attrName>style.visibility</p:attrName>
                                        </p:attrNameLst>
                                      </p:cBhvr>
                                      <p:to>
                                        <p:strVal val="visible"/>
                                      </p:to>
                                    </p:set>
                                    <p:animEffect transition="in" filter="fade">
                                      <p:cBhvr>
                                        <p:cTn id="12" dur="1000"/>
                                        <p:tgtEl>
                                          <p:spTgt spid="292"/>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295"/>
                                        </p:tgtEl>
                                        <p:attrNameLst>
                                          <p:attrName>style.visibility</p:attrName>
                                        </p:attrNameLst>
                                      </p:cBhvr>
                                      <p:to>
                                        <p:strVal val="visible"/>
                                      </p:to>
                                    </p:set>
                                    <p:animEffect transition="in" filter="fade">
                                      <p:cBhvr>
                                        <p:cTn id="17" dur="1000"/>
                                        <p:tgtEl>
                                          <p:spTgt spid="29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305"/>
        <p:cNvGrpSpPr/>
        <p:nvPr/>
      </p:nvGrpSpPr>
      <p:grpSpPr>
        <a:xfrm>
          <a:off x="0" y="0"/>
          <a:ext cx="0" cy="0"/>
          <a:chOff x="0" y="0"/>
          <a:chExt cx="0" cy="0"/>
        </a:xfrm>
      </p:grpSpPr>
      <p:sp>
        <p:nvSpPr>
          <p:cNvPr id="306" name="Google Shape;306;p42"/>
          <p:cNvSpPr txBox="1">
            <a:spLocks noGrp="1"/>
          </p:cNvSpPr>
          <p:nvPr>
            <p:ph type="title"/>
          </p:nvPr>
        </p:nvSpPr>
        <p:spPr>
          <a:xfrm>
            <a:off x="457200" y="-12"/>
            <a:ext cx="8229600" cy="11430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solidFill>
                  <a:schemeClr val="accent1"/>
                </a:solidFill>
              </a:rPr>
              <a:t>Variance (cont.)</a:t>
            </a:r>
            <a:endParaRPr>
              <a:solidFill>
                <a:schemeClr val="accent1"/>
              </a:solidFill>
            </a:endParaRPr>
          </a:p>
        </p:txBody>
      </p:sp>
      <p:sp>
        <p:nvSpPr>
          <p:cNvPr id="307" name="Google Shape;307;p42"/>
          <p:cNvSpPr txBox="1">
            <a:spLocks noGrp="1"/>
          </p:cNvSpPr>
          <p:nvPr>
            <p:ph type="body" idx="1"/>
          </p:nvPr>
        </p:nvSpPr>
        <p:spPr>
          <a:xfrm>
            <a:off x="457200" y="1264450"/>
            <a:ext cx="8154000" cy="4930500"/>
          </a:xfrm>
          <a:prstGeom prst="rect">
            <a:avLst/>
          </a:prstGeom>
        </p:spPr>
        <p:txBody>
          <a:bodyPr spcFirstLastPara="1" wrap="square" lIns="91425" tIns="91425" rIns="91425" bIns="91425" anchor="t" anchorCtr="0">
            <a:noAutofit/>
          </a:bodyPr>
          <a:lstStyle/>
          <a:p>
            <a:pPr marL="0" lvl="0" indent="0" algn="l" rtl="0">
              <a:lnSpc>
                <a:spcPct val="115000"/>
              </a:lnSpc>
              <a:spcBef>
                <a:spcPts val="600"/>
              </a:spcBef>
              <a:spcAft>
                <a:spcPts val="0"/>
              </a:spcAft>
              <a:buNone/>
            </a:pPr>
            <a:r>
              <a:rPr lang="en" sz="2100">
                <a:solidFill>
                  <a:schemeClr val="accent1"/>
                </a:solidFill>
              </a:rPr>
              <a:t>Why do we use the squared deviation in the calculation of variance?</a:t>
            </a:r>
            <a:endParaRPr sz="2100">
              <a:solidFill>
                <a:srgbClr val="000000"/>
              </a:solidFill>
            </a:endParaRPr>
          </a:p>
          <a:p>
            <a:pPr marL="457200" lvl="0" indent="-361950" algn="l" rtl="0">
              <a:lnSpc>
                <a:spcPct val="115000"/>
              </a:lnSpc>
              <a:spcBef>
                <a:spcPts val="1000"/>
              </a:spcBef>
              <a:spcAft>
                <a:spcPts val="0"/>
              </a:spcAft>
              <a:buClr>
                <a:srgbClr val="000000"/>
              </a:buClr>
              <a:buSzPts val="2100"/>
              <a:buChar char="●"/>
            </a:pPr>
            <a:r>
              <a:rPr lang="en" sz="2100">
                <a:solidFill>
                  <a:srgbClr val="000000"/>
                </a:solidFill>
              </a:rPr>
              <a:t>To get rid of negatives so that observations equally distant from the mean are weighed equally.</a:t>
            </a:r>
            <a:endParaRPr sz="2100">
              <a:solidFill>
                <a:srgbClr val="000000"/>
              </a:solidFill>
            </a:endParaRPr>
          </a:p>
          <a:p>
            <a:pPr marL="457200" lvl="0" indent="-361950" algn="l" rtl="0">
              <a:lnSpc>
                <a:spcPct val="115000"/>
              </a:lnSpc>
              <a:spcBef>
                <a:spcPts val="1000"/>
              </a:spcBef>
              <a:spcAft>
                <a:spcPts val="0"/>
              </a:spcAft>
              <a:buClr>
                <a:srgbClr val="000000"/>
              </a:buClr>
              <a:buSzPts val="2100"/>
              <a:buChar char="●"/>
            </a:pPr>
            <a:r>
              <a:rPr lang="en" sz="2100">
                <a:solidFill>
                  <a:srgbClr val="000000"/>
                </a:solidFill>
              </a:rPr>
              <a:t>To weigh larger deviations more heavily.</a:t>
            </a:r>
            <a:endParaRPr sz="2100">
              <a:solidFill>
                <a:srgbClr val="000000"/>
              </a:solidFill>
            </a:endParaRPr>
          </a:p>
          <a:p>
            <a:pPr marL="0" lvl="0" indent="0" algn="l" rtl="0">
              <a:lnSpc>
                <a:spcPct val="115000"/>
              </a:lnSpc>
              <a:spcBef>
                <a:spcPts val="600"/>
              </a:spcBef>
              <a:spcAft>
                <a:spcPts val="0"/>
              </a:spcAft>
              <a:buNone/>
            </a:pPr>
            <a:endParaRPr sz="2100">
              <a:solidFill>
                <a:srgbClr val="000000"/>
              </a:solidFill>
            </a:endParaRPr>
          </a:p>
          <a:p>
            <a:pPr marL="0" lvl="0" indent="0" algn="l" rtl="0">
              <a:lnSpc>
                <a:spcPct val="115000"/>
              </a:lnSpc>
              <a:spcBef>
                <a:spcPts val="600"/>
              </a:spcBef>
              <a:spcAft>
                <a:spcPts val="0"/>
              </a:spcAft>
              <a:buNone/>
            </a:pPr>
            <a:endParaRPr sz="2100">
              <a:solidFill>
                <a:srgbClr val="000000"/>
              </a:solidFill>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328"/>
        <p:cNvGrpSpPr/>
        <p:nvPr/>
      </p:nvGrpSpPr>
      <p:grpSpPr>
        <a:xfrm>
          <a:off x="0" y="0"/>
          <a:ext cx="0" cy="0"/>
          <a:chOff x="0" y="0"/>
          <a:chExt cx="0" cy="0"/>
        </a:xfrm>
      </p:grpSpPr>
      <p:sp>
        <p:nvSpPr>
          <p:cNvPr id="329" name="Google Shape;329;p45"/>
          <p:cNvSpPr txBox="1">
            <a:spLocks noGrp="1"/>
          </p:cNvSpPr>
          <p:nvPr>
            <p:ph type="body" idx="1"/>
          </p:nvPr>
        </p:nvSpPr>
        <p:spPr>
          <a:xfrm>
            <a:off x="457200" y="1264450"/>
            <a:ext cx="8154000" cy="830100"/>
          </a:xfrm>
          <a:prstGeom prst="rect">
            <a:avLst/>
          </a:prstGeom>
        </p:spPr>
        <p:txBody>
          <a:bodyPr spcFirstLastPara="1" wrap="square" lIns="91425" tIns="91425" rIns="91425" bIns="91425" anchor="t" anchorCtr="0">
            <a:noAutofit/>
          </a:bodyPr>
          <a:lstStyle/>
          <a:p>
            <a:pPr marL="0" lvl="0" indent="0" algn="l" rtl="0">
              <a:lnSpc>
                <a:spcPct val="115000"/>
              </a:lnSpc>
              <a:spcBef>
                <a:spcPts val="600"/>
              </a:spcBef>
              <a:spcAft>
                <a:spcPts val="0"/>
              </a:spcAft>
              <a:buNone/>
            </a:pPr>
            <a:r>
              <a:rPr lang="en" sz="1900" dirty="0">
                <a:solidFill>
                  <a:srgbClr val="000000"/>
                </a:solidFill>
              </a:rPr>
              <a:t>The </a:t>
            </a:r>
            <a:r>
              <a:rPr lang="en" sz="1900" i="1" dirty="0">
                <a:solidFill>
                  <a:schemeClr val="accent1"/>
                </a:solidFill>
              </a:rPr>
              <a:t>standard deviatio</a:t>
            </a:r>
            <a:r>
              <a:rPr lang="en" sz="1900" dirty="0">
                <a:solidFill>
                  <a:schemeClr val="accent1"/>
                </a:solidFill>
              </a:rPr>
              <a:t>n</a:t>
            </a:r>
            <a:r>
              <a:rPr lang="en" sz="1900" dirty="0">
                <a:solidFill>
                  <a:srgbClr val="000000"/>
                </a:solidFill>
              </a:rPr>
              <a:t> is the square root of the variance, and it roughly describes how far away the typical observation is from the mean. It has the </a:t>
            </a:r>
            <a:r>
              <a:rPr lang="en" sz="1900">
                <a:solidFill>
                  <a:srgbClr val="000000"/>
                </a:solidFill>
              </a:rPr>
              <a:t>same unit </a:t>
            </a:r>
            <a:r>
              <a:rPr lang="en" sz="1900" dirty="0">
                <a:solidFill>
                  <a:srgbClr val="000000"/>
                </a:solidFill>
              </a:rPr>
              <a:t>as the data.</a:t>
            </a:r>
            <a:endParaRPr sz="1900" dirty="0">
              <a:solidFill>
                <a:srgbClr val="000000"/>
              </a:solidFill>
            </a:endParaRPr>
          </a:p>
        </p:txBody>
      </p:sp>
      <p:sp>
        <p:nvSpPr>
          <p:cNvPr id="330" name="Google Shape;330;p45"/>
          <p:cNvSpPr txBox="1">
            <a:spLocks noGrp="1"/>
          </p:cNvSpPr>
          <p:nvPr>
            <p:ph type="title"/>
          </p:nvPr>
        </p:nvSpPr>
        <p:spPr>
          <a:xfrm>
            <a:off x="457200" y="-12"/>
            <a:ext cx="8229600" cy="11430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solidFill>
                  <a:schemeClr val="accent1"/>
                </a:solidFill>
              </a:rPr>
              <a:t>Standard Deviation</a:t>
            </a:r>
            <a:endParaRPr>
              <a:solidFill>
                <a:schemeClr val="accent1"/>
              </a:solidFill>
            </a:endParaRPr>
          </a:p>
        </p:txBody>
      </p:sp>
      <p:sp>
        <p:nvSpPr>
          <p:cNvPr id="331" name="Google Shape;331;p45"/>
          <p:cNvSpPr txBox="1">
            <a:spLocks noGrp="1"/>
          </p:cNvSpPr>
          <p:nvPr>
            <p:ph type="body" idx="1"/>
          </p:nvPr>
        </p:nvSpPr>
        <p:spPr>
          <a:xfrm>
            <a:off x="457200" y="4998250"/>
            <a:ext cx="8154000" cy="830100"/>
          </a:xfrm>
          <a:prstGeom prst="rect">
            <a:avLst/>
          </a:prstGeom>
        </p:spPr>
        <p:txBody>
          <a:bodyPr spcFirstLastPara="1" wrap="square" lIns="91425" tIns="91425" rIns="91425" bIns="91425" anchor="t" anchorCtr="0">
            <a:noAutofit/>
          </a:bodyPr>
          <a:lstStyle/>
          <a:p>
            <a:pPr marL="457200" lvl="0" indent="-349250" algn="l" rtl="0">
              <a:lnSpc>
                <a:spcPct val="115000"/>
              </a:lnSpc>
              <a:spcBef>
                <a:spcPts val="600"/>
              </a:spcBef>
              <a:spcAft>
                <a:spcPts val="0"/>
              </a:spcAft>
              <a:buClr>
                <a:srgbClr val="000000"/>
              </a:buClr>
              <a:buSzPts val="1900"/>
              <a:buChar char="●"/>
            </a:pPr>
            <a:r>
              <a:rPr lang="en" sz="1900" dirty="0">
                <a:solidFill>
                  <a:srgbClr val="000000"/>
                </a:solidFill>
              </a:rPr>
              <a:t>We can see that all of the data are within 3 standard deviations of the mean.</a:t>
            </a:r>
            <a:endParaRPr sz="1900" dirty="0">
              <a:solidFill>
                <a:srgbClr val="000000"/>
              </a:solidFill>
            </a:endParaRPr>
          </a:p>
        </p:txBody>
      </p:sp>
      <p:pic>
        <p:nvPicPr>
          <p:cNvPr id="332" name="Google Shape;332;p45"/>
          <p:cNvPicPr preferRelativeResize="0"/>
          <p:nvPr/>
        </p:nvPicPr>
        <p:blipFill>
          <a:blip r:embed="rId3">
            <a:alphaModFix/>
          </a:blip>
          <a:stretch>
            <a:fillRect/>
          </a:stretch>
        </p:blipFill>
        <p:spPr>
          <a:xfrm>
            <a:off x="3741172" y="2347063"/>
            <a:ext cx="935825" cy="495550"/>
          </a:xfrm>
          <a:prstGeom prst="rect">
            <a:avLst/>
          </a:prstGeom>
          <a:noFill/>
          <a:ln>
            <a:noFill/>
          </a:ln>
        </p:spPr>
      </p:pic>
      <p:pic>
        <p:nvPicPr>
          <p:cNvPr id="333" name="Google Shape;333;p45"/>
          <p:cNvPicPr preferRelativeResize="0"/>
          <p:nvPr/>
        </p:nvPicPr>
        <p:blipFill>
          <a:blip r:embed="rId4">
            <a:alphaModFix/>
          </a:blip>
          <a:stretch>
            <a:fillRect/>
          </a:stretch>
        </p:blipFill>
        <p:spPr>
          <a:xfrm>
            <a:off x="600072" y="4122059"/>
            <a:ext cx="2564600" cy="415500"/>
          </a:xfrm>
          <a:prstGeom prst="rect">
            <a:avLst/>
          </a:prstGeom>
          <a:noFill/>
          <a:ln>
            <a:noFill/>
          </a:ln>
        </p:spPr>
      </p:pic>
      <p:pic>
        <p:nvPicPr>
          <p:cNvPr id="334" name="Google Shape;334;p45"/>
          <p:cNvPicPr preferRelativeResize="0"/>
          <p:nvPr/>
        </p:nvPicPr>
        <p:blipFill>
          <a:blip r:embed="rId5">
            <a:alphaModFix/>
          </a:blip>
          <a:stretch>
            <a:fillRect/>
          </a:stretch>
        </p:blipFill>
        <p:spPr>
          <a:xfrm>
            <a:off x="4676997" y="2560805"/>
            <a:ext cx="3810000" cy="2404125"/>
          </a:xfrm>
          <a:prstGeom prst="rect">
            <a:avLst/>
          </a:prstGeom>
          <a:noFill/>
          <a:ln>
            <a:noFill/>
          </a:ln>
        </p:spPr>
      </p:pic>
      <p:sp>
        <p:nvSpPr>
          <p:cNvPr id="335" name="Google Shape;335;p45"/>
          <p:cNvSpPr txBox="1">
            <a:spLocks noGrp="1"/>
          </p:cNvSpPr>
          <p:nvPr>
            <p:ph type="body" idx="1"/>
          </p:nvPr>
        </p:nvSpPr>
        <p:spPr>
          <a:xfrm>
            <a:off x="457200" y="2831275"/>
            <a:ext cx="3991200" cy="830100"/>
          </a:xfrm>
          <a:prstGeom prst="rect">
            <a:avLst/>
          </a:prstGeom>
        </p:spPr>
        <p:txBody>
          <a:bodyPr spcFirstLastPara="1" wrap="square" lIns="91425" tIns="91425" rIns="91425" bIns="91425" anchor="t" anchorCtr="0">
            <a:noAutofit/>
          </a:bodyPr>
          <a:lstStyle/>
          <a:p>
            <a:pPr marL="457200" lvl="0" indent="-349250" algn="l" rtl="0">
              <a:lnSpc>
                <a:spcPct val="115000"/>
              </a:lnSpc>
              <a:spcBef>
                <a:spcPts val="600"/>
              </a:spcBef>
              <a:spcAft>
                <a:spcPts val="0"/>
              </a:spcAft>
              <a:buClr>
                <a:srgbClr val="000000"/>
              </a:buClr>
              <a:buSzPts val="1900"/>
              <a:buChar char="●"/>
            </a:pPr>
            <a:r>
              <a:rPr lang="en" sz="1900">
                <a:solidFill>
                  <a:srgbClr val="000000"/>
                </a:solidFill>
              </a:rPr>
              <a:t>The standard deviation of amount of sleep students get per night can be calculated as:</a:t>
            </a:r>
            <a:endParaRPr sz="1900">
              <a:solidFill>
                <a:srgbClr val="000000"/>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35"/>
                                        </p:tgtEl>
                                        <p:attrNameLst>
                                          <p:attrName>style.visibility</p:attrName>
                                        </p:attrNameLst>
                                      </p:cBhvr>
                                      <p:to>
                                        <p:strVal val="visible"/>
                                      </p:to>
                                    </p:set>
                                    <p:animEffect transition="in" filter="fade">
                                      <p:cBhvr>
                                        <p:cTn id="7" dur="1000"/>
                                        <p:tgtEl>
                                          <p:spTgt spid="335"/>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33"/>
                                        </p:tgtEl>
                                        <p:attrNameLst>
                                          <p:attrName>style.visibility</p:attrName>
                                        </p:attrNameLst>
                                      </p:cBhvr>
                                      <p:to>
                                        <p:strVal val="visible"/>
                                      </p:to>
                                    </p:set>
                                    <p:animEffect transition="in" filter="fade">
                                      <p:cBhvr>
                                        <p:cTn id="12" dur="1000"/>
                                        <p:tgtEl>
                                          <p:spTgt spid="333"/>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34"/>
                                        </p:tgtEl>
                                        <p:attrNameLst>
                                          <p:attrName>style.visibility</p:attrName>
                                        </p:attrNameLst>
                                      </p:cBhvr>
                                      <p:to>
                                        <p:strVal val="visible"/>
                                      </p:to>
                                    </p:set>
                                    <p:animEffect transition="in" filter="fade">
                                      <p:cBhvr>
                                        <p:cTn id="17" dur="1000"/>
                                        <p:tgtEl>
                                          <p:spTgt spid="334"/>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331"/>
                                        </p:tgtEl>
                                        <p:attrNameLst>
                                          <p:attrName>style.visibility</p:attrName>
                                        </p:attrNameLst>
                                      </p:cBhvr>
                                      <p:to>
                                        <p:strVal val="visible"/>
                                      </p:to>
                                    </p:set>
                                    <p:animEffect transition="in" filter="fade">
                                      <p:cBhvr>
                                        <p:cTn id="22" dur="1000"/>
                                        <p:tgtEl>
                                          <p:spTgt spid="33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339"/>
        <p:cNvGrpSpPr/>
        <p:nvPr/>
      </p:nvGrpSpPr>
      <p:grpSpPr>
        <a:xfrm>
          <a:off x="0" y="0"/>
          <a:ext cx="0" cy="0"/>
          <a:chOff x="0" y="0"/>
          <a:chExt cx="0" cy="0"/>
        </a:xfrm>
      </p:grpSpPr>
      <p:sp>
        <p:nvSpPr>
          <p:cNvPr id="340" name="Google Shape;340;p46"/>
          <p:cNvSpPr txBox="1">
            <a:spLocks noGrp="1"/>
          </p:cNvSpPr>
          <p:nvPr>
            <p:ph type="body" idx="1"/>
          </p:nvPr>
        </p:nvSpPr>
        <p:spPr>
          <a:xfrm>
            <a:off x="457200" y="1264450"/>
            <a:ext cx="8154000" cy="830100"/>
          </a:xfrm>
          <a:prstGeom prst="rect">
            <a:avLst/>
          </a:prstGeom>
        </p:spPr>
        <p:txBody>
          <a:bodyPr spcFirstLastPara="1" wrap="square" lIns="91425" tIns="91425" rIns="91425" bIns="91425" anchor="t" anchorCtr="0">
            <a:noAutofit/>
          </a:bodyPr>
          <a:lstStyle/>
          <a:p>
            <a:pPr marL="0" lvl="0" indent="0" algn="l" rtl="0">
              <a:lnSpc>
                <a:spcPct val="115000"/>
              </a:lnSpc>
              <a:spcBef>
                <a:spcPts val="600"/>
              </a:spcBef>
              <a:spcAft>
                <a:spcPts val="0"/>
              </a:spcAft>
              <a:buNone/>
            </a:pPr>
            <a:r>
              <a:rPr lang="en" sz="1900">
                <a:solidFill>
                  <a:srgbClr val="000000"/>
                </a:solidFill>
              </a:rPr>
              <a:t>The </a:t>
            </a:r>
            <a:r>
              <a:rPr lang="en" sz="1900" i="1">
                <a:solidFill>
                  <a:schemeClr val="accent1"/>
                </a:solidFill>
              </a:rPr>
              <a:t>median</a:t>
            </a:r>
            <a:r>
              <a:rPr lang="en" sz="1900" i="1">
                <a:solidFill>
                  <a:srgbClr val="000000"/>
                </a:solidFill>
              </a:rPr>
              <a:t> </a:t>
            </a:r>
            <a:r>
              <a:rPr lang="en" sz="1900">
                <a:solidFill>
                  <a:srgbClr val="000000"/>
                </a:solidFill>
              </a:rPr>
              <a:t>is the value that splits the data in half when ordered in ascending order.</a:t>
            </a:r>
            <a:endParaRPr sz="1900">
              <a:solidFill>
                <a:srgbClr val="000000"/>
              </a:solidFill>
            </a:endParaRPr>
          </a:p>
        </p:txBody>
      </p:sp>
      <p:sp>
        <p:nvSpPr>
          <p:cNvPr id="341" name="Google Shape;341;p46"/>
          <p:cNvSpPr txBox="1">
            <a:spLocks noGrp="1"/>
          </p:cNvSpPr>
          <p:nvPr>
            <p:ph type="title"/>
          </p:nvPr>
        </p:nvSpPr>
        <p:spPr>
          <a:xfrm>
            <a:off x="457200" y="-12"/>
            <a:ext cx="8229600" cy="11430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solidFill>
                  <a:schemeClr val="accent1"/>
                </a:solidFill>
              </a:rPr>
              <a:t>Median</a:t>
            </a:r>
            <a:endParaRPr>
              <a:solidFill>
                <a:schemeClr val="accent1"/>
              </a:solidFill>
            </a:endParaRPr>
          </a:p>
        </p:txBody>
      </p:sp>
      <p:sp>
        <p:nvSpPr>
          <p:cNvPr id="342" name="Google Shape;342;p46"/>
          <p:cNvSpPr txBox="1">
            <a:spLocks noGrp="1"/>
          </p:cNvSpPr>
          <p:nvPr>
            <p:ph type="body" idx="1"/>
          </p:nvPr>
        </p:nvSpPr>
        <p:spPr>
          <a:xfrm>
            <a:off x="457200" y="2831275"/>
            <a:ext cx="7670400" cy="830100"/>
          </a:xfrm>
          <a:prstGeom prst="rect">
            <a:avLst/>
          </a:prstGeom>
        </p:spPr>
        <p:txBody>
          <a:bodyPr spcFirstLastPara="1" wrap="square" lIns="91425" tIns="91425" rIns="91425" bIns="91425" anchor="t" anchorCtr="0">
            <a:noAutofit/>
          </a:bodyPr>
          <a:lstStyle/>
          <a:p>
            <a:pPr marL="0" lvl="0" indent="0" algn="l" rtl="0">
              <a:lnSpc>
                <a:spcPct val="115000"/>
              </a:lnSpc>
              <a:spcBef>
                <a:spcPts val="600"/>
              </a:spcBef>
              <a:spcAft>
                <a:spcPts val="0"/>
              </a:spcAft>
              <a:buNone/>
            </a:pPr>
            <a:r>
              <a:rPr lang="en" sz="1900">
                <a:solidFill>
                  <a:srgbClr val="000000"/>
                </a:solidFill>
              </a:rPr>
              <a:t>If there are an even number of observations, then the median is the average of the two values in the middle.</a:t>
            </a:r>
            <a:endParaRPr sz="1900">
              <a:solidFill>
                <a:srgbClr val="000000"/>
              </a:solidFill>
            </a:endParaRPr>
          </a:p>
        </p:txBody>
      </p:sp>
      <p:sp>
        <p:nvSpPr>
          <p:cNvPr id="343" name="Google Shape;343;p46"/>
          <p:cNvSpPr txBox="1">
            <a:spLocks noGrp="1"/>
          </p:cNvSpPr>
          <p:nvPr>
            <p:ph type="body" idx="1"/>
          </p:nvPr>
        </p:nvSpPr>
        <p:spPr>
          <a:xfrm>
            <a:off x="457200" y="4998250"/>
            <a:ext cx="8229600" cy="830100"/>
          </a:xfrm>
          <a:prstGeom prst="rect">
            <a:avLst/>
          </a:prstGeom>
        </p:spPr>
        <p:txBody>
          <a:bodyPr spcFirstLastPara="1" wrap="square" lIns="91425" tIns="91425" rIns="91425" bIns="91425" anchor="t" anchorCtr="0">
            <a:noAutofit/>
          </a:bodyPr>
          <a:lstStyle/>
          <a:p>
            <a:pPr marL="0" lvl="0" indent="0" algn="l" rtl="0">
              <a:lnSpc>
                <a:spcPct val="115000"/>
              </a:lnSpc>
              <a:spcBef>
                <a:spcPts val="600"/>
              </a:spcBef>
              <a:spcAft>
                <a:spcPts val="0"/>
              </a:spcAft>
              <a:buNone/>
            </a:pPr>
            <a:r>
              <a:rPr lang="en" sz="1900">
                <a:solidFill>
                  <a:srgbClr val="000000"/>
                </a:solidFill>
              </a:rPr>
              <a:t>Since the median is the midpoint of the data, 50% of the values are below it. Hence, it is also the </a:t>
            </a:r>
            <a:r>
              <a:rPr lang="en" sz="1900">
                <a:solidFill>
                  <a:schemeClr val="accent1"/>
                </a:solidFill>
              </a:rPr>
              <a:t>50th percentile</a:t>
            </a:r>
            <a:r>
              <a:rPr lang="en" sz="1900">
                <a:solidFill>
                  <a:srgbClr val="000000"/>
                </a:solidFill>
              </a:rPr>
              <a:t>.</a:t>
            </a:r>
            <a:endParaRPr sz="1900">
              <a:solidFill>
                <a:srgbClr val="000000"/>
              </a:solidFill>
            </a:endParaRPr>
          </a:p>
        </p:txBody>
      </p:sp>
      <p:pic>
        <p:nvPicPr>
          <p:cNvPr id="344" name="Google Shape;344;p46"/>
          <p:cNvPicPr preferRelativeResize="0"/>
          <p:nvPr/>
        </p:nvPicPr>
        <p:blipFill>
          <a:blip r:embed="rId3">
            <a:alphaModFix/>
          </a:blip>
          <a:stretch>
            <a:fillRect/>
          </a:stretch>
        </p:blipFill>
        <p:spPr>
          <a:xfrm>
            <a:off x="3257538" y="2167600"/>
            <a:ext cx="1514475" cy="476250"/>
          </a:xfrm>
          <a:prstGeom prst="rect">
            <a:avLst/>
          </a:prstGeom>
          <a:noFill/>
          <a:ln>
            <a:noFill/>
          </a:ln>
        </p:spPr>
      </p:pic>
      <p:pic>
        <p:nvPicPr>
          <p:cNvPr id="345" name="Google Shape;345;p46"/>
          <p:cNvPicPr preferRelativeResize="0"/>
          <p:nvPr/>
        </p:nvPicPr>
        <p:blipFill>
          <a:blip r:embed="rId4">
            <a:alphaModFix/>
          </a:blip>
          <a:stretch>
            <a:fillRect/>
          </a:stretch>
        </p:blipFill>
        <p:spPr>
          <a:xfrm>
            <a:off x="2057388" y="3848788"/>
            <a:ext cx="3914775" cy="962025"/>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42"/>
                                        </p:tgtEl>
                                        <p:attrNameLst>
                                          <p:attrName>style.visibility</p:attrName>
                                        </p:attrNameLst>
                                      </p:cBhvr>
                                      <p:to>
                                        <p:strVal val="visible"/>
                                      </p:to>
                                    </p:set>
                                    <p:animEffect transition="in" filter="fade">
                                      <p:cBhvr>
                                        <p:cTn id="7" dur="1000"/>
                                        <p:tgtEl>
                                          <p:spTgt spid="342"/>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43"/>
                                        </p:tgtEl>
                                        <p:attrNameLst>
                                          <p:attrName>style.visibility</p:attrName>
                                        </p:attrNameLst>
                                      </p:cBhvr>
                                      <p:to>
                                        <p:strVal val="visible"/>
                                      </p:to>
                                    </p:set>
                                    <p:animEffect transition="in" filter="fade">
                                      <p:cBhvr>
                                        <p:cTn id="12" dur="1000"/>
                                        <p:tgtEl>
                                          <p:spTgt spid="34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349"/>
        <p:cNvGrpSpPr/>
        <p:nvPr/>
      </p:nvGrpSpPr>
      <p:grpSpPr>
        <a:xfrm>
          <a:off x="0" y="0"/>
          <a:ext cx="0" cy="0"/>
          <a:chOff x="0" y="0"/>
          <a:chExt cx="0" cy="0"/>
        </a:xfrm>
      </p:grpSpPr>
      <p:sp>
        <p:nvSpPr>
          <p:cNvPr id="350" name="Google Shape;350;p47"/>
          <p:cNvSpPr txBox="1">
            <a:spLocks noGrp="1"/>
          </p:cNvSpPr>
          <p:nvPr>
            <p:ph type="body" idx="1"/>
          </p:nvPr>
        </p:nvSpPr>
        <p:spPr>
          <a:xfrm>
            <a:off x="457200" y="1264450"/>
            <a:ext cx="8154000" cy="4537800"/>
          </a:xfrm>
          <a:prstGeom prst="rect">
            <a:avLst/>
          </a:prstGeom>
        </p:spPr>
        <p:txBody>
          <a:bodyPr spcFirstLastPara="1" wrap="square" lIns="91425" tIns="91425" rIns="91425" bIns="91425" anchor="t" anchorCtr="0">
            <a:noAutofit/>
          </a:bodyPr>
          <a:lstStyle/>
          <a:p>
            <a:pPr marL="457200" lvl="0" indent="-361950" algn="l" rtl="0">
              <a:lnSpc>
                <a:spcPct val="150000"/>
              </a:lnSpc>
              <a:spcBef>
                <a:spcPts val="600"/>
              </a:spcBef>
              <a:spcAft>
                <a:spcPts val="0"/>
              </a:spcAft>
              <a:buSzPts val="2100"/>
              <a:buChar char="●"/>
            </a:pPr>
            <a:r>
              <a:rPr lang="en" sz="2100" dirty="0">
                <a:solidFill>
                  <a:srgbClr val="000000"/>
                </a:solidFill>
              </a:rPr>
              <a:t>The 25th percentile is also called the first quartile, </a:t>
            </a:r>
            <a:r>
              <a:rPr lang="en" sz="2100" i="1" dirty="0">
                <a:solidFill>
                  <a:schemeClr val="accent1"/>
                </a:solidFill>
              </a:rPr>
              <a:t>Q1</a:t>
            </a:r>
            <a:r>
              <a:rPr lang="en" sz="2100" dirty="0">
                <a:solidFill>
                  <a:srgbClr val="000000"/>
                </a:solidFill>
              </a:rPr>
              <a:t>.</a:t>
            </a:r>
            <a:endParaRPr sz="2100" dirty="0">
              <a:solidFill>
                <a:srgbClr val="000000"/>
              </a:solidFill>
            </a:endParaRPr>
          </a:p>
          <a:p>
            <a:pPr marL="457200" lvl="0" indent="-361950" algn="l" rtl="0">
              <a:lnSpc>
                <a:spcPct val="150000"/>
              </a:lnSpc>
              <a:spcBef>
                <a:spcPts val="0"/>
              </a:spcBef>
              <a:spcAft>
                <a:spcPts val="0"/>
              </a:spcAft>
              <a:buClr>
                <a:srgbClr val="000000"/>
              </a:buClr>
              <a:buSzPts val="2100"/>
              <a:buChar char="●"/>
            </a:pPr>
            <a:r>
              <a:rPr lang="en" sz="2100" dirty="0">
                <a:solidFill>
                  <a:srgbClr val="000000"/>
                </a:solidFill>
              </a:rPr>
              <a:t>The 50th percentile is also called the median.</a:t>
            </a:r>
            <a:endParaRPr sz="2100" dirty="0">
              <a:solidFill>
                <a:srgbClr val="000000"/>
              </a:solidFill>
            </a:endParaRPr>
          </a:p>
          <a:p>
            <a:pPr marL="457200" lvl="0" indent="-361950" algn="l" rtl="0">
              <a:lnSpc>
                <a:spcPct val="150000"/>
              </a:lnSpc>
              <a:spcBef>
                <a:spcPts val="0"/>
              </a:spcBef>
              <a:spcAft>
                <a:spcPts val="0"/>
              </a:spcAft>
              <a:buSzPts val="2100"/>
              <a:buChar char="●"/>
            </a:pPr>
            <a:r>
              <a:rPr lang="en" sz="2100" dirty="0">
                <a:solidFill>
                  <a:srgbClr val="000000"/>
                </a:solidFill>
              </a:rPr>
              <a:t>The 75th percentile is also called the third quartile, </a:t>
            </a:r>
            <a:r>
              <a:rPr lang="en" sz="2100" i="1" dirty="0">
                <a:solidFill>
                  <a:schemeClr val="accent1"/>
                </a:solidFill>
              </a:rPr>
              <a:t>Q3</a:t>
            </a:r>
            <a:r>
              <a:rPr lang="en" sz="2100" dirty="0">
                <a:solidFill>
                  <a:srgbClr val="000000"/>
                </a:solidFill>
              </a:rPr>
              <a:t>.</a:t>
            </a:r>
            <a:endParaRPr sz="2100" dirty="0">
              <a:solidFill>
                <a:srgbClr val="000000"/>
              </a:solidFill>
            </a:endParaRPr>
          </a:p>
          <a:p>
            <a:pPr marL="457200" lvl="0" indent="-361950" algn="l" rtl="0">
              <a:lnSpc>
                <a:spcPct val="115000"/>
              </a:lnSpc>
              <a:spcBef>
                <a:spcPts val="0"/>
              </a:spcBef>
              <a:spcAft>
                <a:spcPts val="0"/>
              </a:spcAft>
              <a:buSzPts val="2100"/>
              <a:buChar char="●"/>
            </a:pPr>
            <a:r>
              <a:rPr lang="en" sz="2100" dirty="0">
                <a:solidFill>
                  <a:srgbClr val="000000"/>
                </a:solidFill>
              </a:rPr>
              <a:t>Between Q1 and Q3 is the middle 50% of the data. The range these data span is called the </a:t>
            </a:r>
            <a:r>
              <a:rPr lang="en" sz="2100" i="1" dirty="0">
                <a:solidFill>
                  <a:schemeClr val="accent1"/>
                </a:solidFill>
              </a:rPr>
              <a:t>interquartile range</a:t>
            </a:r>
            <a:r>
              <a:rPr lang="en" sz="2100" dirty="0">
                <a:solidFill>
                  <a:srgbClr val="000000"/>
                </a:solidFill>
              </a:rPr>
              <a:t>, or the </a:t>
            </a:r>
            <a:r>
              <a:rPr lang="en" sz="2100" i="1" dirty="0">
                <a:solidFill>
                  <a:schemeClr val="accent1"/>
                </a:solidFill>
              </a:rPr>
              <a:t>IQR</a:t>
            </a:r>
            <a:r>
              <a:rPr lang="en" sz="2100" dirty="0">
                <a:solidFill>
                  <a:srgbClr val="000000"/>
                </a:solidFill>
              </a:rPr>
              <a:t>.</a:t>
            </a:r>
            <a:endParaRPr sz="2100" dirty="0">
              <a:solidFill>
                <a:srgbClr val="000000"/>
              </a:solidFill>
            </a:endParaRPr>
          </a:p>
          <a:p>
            <a:pPr marL="0" lvl="0" indent="0" algn="l" rtl="0">
              <a:lnSpc>
                <a:spcPct val="115000"/>
              </a:lnSpc>
              <a:spcBef>
                <a:spcPts val="600"/>
              </a:spcBef>
              <a:spcAft>
                <a:spcPts val="0"/>
              </a:spcAft>
              <a:buNone/>
            </a:pPr>
            <a:endParaRPr sz="1200" dirty="0">
              <a:solidFill>
                <a:srgbClr val="000000"/>
              </a:solidFill>
            </a:endParaRPr>
          </a:p>
          <a:p>
            <a:pPr marL="0" lvl="0" indent="457200" algn="l" rtl="0">
              <a:lnSpc>
                <a:spcPct val="115000"/>
              </a:lnSpc>
              <a:spcBef>
                <a:spcPts val="600"/>
              </a:spcBef>
              <a:spcAft>
                <a:spcPts val="0"/>
              </a:spcAft>
              <a:buClr>
                <a:srgbClr val="000000"/>
              </a:buClr>
              <a:buSzPts val="1100"/>
              <a:buFont typeface="Arial"/>
              <a:buNone/>
            </a:pPr>
            <a:r>
              <a:rPr lang="en" sz="2300" i="1" dirty="0">
                <a:solidFill>
                  <a:srgbClr val="000000"/>
                </a:solidFill>
              </a:rPr>
              <a:t>			IQR = Q3 - Q1</a:t>
            </a:r>
            <a:endParaRPr sz="2300" i="1" dirty="0">
              <a:solidFill>
                <a:srgbClr val="000000"/>
              </a:solidFill>
            </a:endParaRPr>
          </a:p>
          <a:p>
            <a:pPr marL="0" lvl="0" indent="0" algn="l" rtl="0">
              <a:lnSpc>
                <a:spcPct val="115000"/>
              </a:lnSpc>
              <a:spcBef>
                <a:spcPts val="600"/>
              </a:spcBef>
              <a:spcAft>
                <a:spcPts val="0"/>
              </a:spcAft>
              <a:buNone/>
            </a:pPr>
            <a:endParaRPr sz="2100" dirty="0">
              <a:solidFill>
                <a:srgbClr val="000000"/>
              </a:solidFill>
            </a:endParaRPr>
          </a:p>
        </p:txBody>
      </p:sp>
      <p:sp>
        <p:nvSpPr>
          <p:cNvPr id="351" name="Google Shape;351;p47"/>
          <p:cNvSpPr txBox="1">
            <a:spLocks noGrp="1"/>
          </p:cNvSpPr>
          <p:nvPr>
            <p:ph type="title"/>
          </p:nvPr>
        </p:nvSpPr>
        <p:spPr>
          <a:xfrm>
            <a:off x="457200" y="-12"/>
            <a:ext cx="8229600" cy="11430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solidFill>
                  <a:schemeClr val="accent1"/>
                </a:solidFill>
              </a:rPr>
              <a:t>Q1, Q3, and IQR</a:t>
            </a:r>
            <a:endParaRPr>
              <a:solidFill>
                <a:schemeClr val="accent1"/>
              </a:solidFill>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355"/>
        <p:cNvGrpSpPr/>
        <p:nvPr/>
      </p:nvGrpSpPr>
      <p:grpSpPr>
        <a:xfrm>
          <a:off x="0" y="0"/>
          <a:ext cx="0" cy="0"/>
          <a:chOff x="0" y="0"/>
          <a:chExt cx="0" cy="0"/>
        </a:xfrm>
      </p:grpSpPr>
      <p:sp>
        <p:nvSpPr>
          <p:cNvPr id="356" name="Google Shape;356;p48"/>
          <p:cNvSpPr txBox="1">
            <a:spLocks noGrp="1"/>
          </p:cNvSpPr>
          <p:nvPr>
            <p:ph type="body" idx="1"/>
          </p:nvPr>
        </p:nvSpPr>
        <p:spPr>
          <a:xfrm>
            <a:off x="457200" y="1264450"/>
            <a:ext cx="8154000" cy="1058700"/>
          </a:xfrm>
          <a:prstGeom prst="rect">
            <a:avLst/>
          </a:prstGeom>
        </p:spPr>
        <p:txBody>
          <a:bodyPr spcFirstLastPara="1" wrap="square" lIns="91425" tIns="91425" rIns="91425" bIns="91425" anchor="t" anchorCtr="0">
            <a:noAutofit/>
          </a:bodyPr>
          <a:lstStyle/>
          <a:p>
            <a:pPr marL="0" lvl="0" indent="0" algn="l" rtl="0">
              <a:lnSpc>
                <a:spcPct val="115000"/>
              </a:lnSpc>
              <a:spcBef>
                <a:spcPts val="600"/>
              </a:spcBef>
              <a:spcAft>
                <a:spcPts val="0"/>
              </a:spcAft>
              <a:buNone/>
            </a:pPr>
            <a:r>
              <a:rPr lang="en" sz="2100" dirty="0">
                <a:solidFill>
                  <a:srgbClr val="000000"/>
                </a:solidFill>
              </a:rPr>
              <a:t>A box plot summarizes a data set using sample statistics and extreme values. The box in a </a:t>
            </a:r>
            <a:r>
              <a:rPr lang="en" sz="2100" i="1" dirty="0">
                <a:solidFill>
                  <a:schemeClr val="accent1"/>
                </a:solidFill>
              </a:rPr>
              <a:t>box plot</a:t>
            </a:r>
            <a:r>
              <a:rPr lang="en" sz="2100" dirty="0">
                <a:solidFill>
                  <a:srgbClr val="000000"/>
                </a:solidFill>
              </a:rPr>
              <a:t> represents the middle 50% of the data, and the thick line in the box is the median.</a:t>
            </a:r>
            <a:endParaRPr sz="2100" dirty="0">
              <a:solidFill>
                <a:srgbClr val="000000"/>
              </a:solidFill>
            </a:endParaRPr>
          </a:p>
        </p:txBody>
      </p:sp>
      <p:sp>
        <p:nvSpPr>
          <p:cNvPr id="357" name="Google Shape;357;p48"/>
          <p:cNvSpPr txBox="1">
            <a:spLocks noGrp="1"/>
          </p:cNvSpPr>
          <p:nvPr>
            <p:ph type="title"/>
          </p:nvPr>
        </p:nvSpPr>
        <p:spPr>
          <a:xfrm>
            <a:off x="457200" y="-12"/>
            <a:ext cx="8229600" cy="11430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solidFill>
                  <a:schemeClr val="accent1"/>
                </a:solidFill>
              </a:rPr>
              <a:t>Box Plot</a:t>
            </a:r>
            <a:endParaRPr>
              <a:solidFill>
                <a:schemeClr val="accent1"/>
              </a:solidFill>
            </a:endParaRPr>
          </a:p>
        </p:txBody>
      </p:sp>
      <p:pic>
        <p:nvPicPr>
          <p:cNvPr id="358" name="Google Shape;358;p48"/>
          <p:cNvPicPr preferRelativeResize="0"/>
          <p:nvPr/>
        </p:nvPicPr>
        <p:blipFill>
          <a:blip r:embed="rId3">
            <a:alphaModFix/>
          </a:blip>
          <a:stretch>
            <a:fillRect/>
          </a:stretch>
        </p:blipFill>
        <p:spPr>
          <a:xfrm>
            <a:off x="2001931" y="2665893"/>
            <a:ext cx="4533900" cy="3933825"/>
          </a:xfrm>
          <a:prstGeom prst="rect">
            <a:avLst/>
          </a:prstGeom>
          <a:noFill/>
          <a:ln>
            <a:noFill/>
          </a:ln>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362"/>
        <p:cNvGrpSpPr/>
        <p:nvPr/>
      </p:nvGrpSpPr>
      <p:grpSpPr>
        <a:xfrm>
          <a:off x="0" y="0"/>
          <a:ext cx="0" cy="0"/>
          <a:chOff x="0" y="0"/>
          <a:chExt cx="0" cy="0"/>
        </a:xfrm>
      </p:grpSpPr>
      <p:sp>
        <p:nvSpPr>
          <p:cNvPr id="363" name="Google Shape;363;p49"/>
          <p:cNvSpPr txBox="1">
            <a:spLocks noGrp="1"/>
          </p:cNvSpPr>
          <p:nvPr>
            <p:ph type="title"/>
          </p:nvPr>
        </p:nvSpPr>
        <p:spPr>
          <a:xfrm>
            <a:off x="457200" y="-12"/>
            <a:ext cx="8229600" cy="11430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solidFill>
                  <a:schemeClr val="accent1"/>
                </a:solidFill>
              </a:rPr>
              <a:t>Anatomy of a Box Plot</a:t>
            </a:r>
            <a:endParaRPr>
              <a:solidFill>
                <a:schemeClr val="accent1"/>
              </a:solidFill>
            </a:endParaRPr>
          </a:p>
        </p:txBody>
      </p:sp>
      <p:pic>
        <p:nvPicPr>
          <p:cNvPr id="364" name="Google Shape;364;p49"/>
          <p:cNvPicPr preferRelativeResize="0"/>
          <p:nvPr/>
        </p:nvPicPr>
        <p:blipFill>
          <a:blip r:embed="rId3">
            <a:alphaModFix/>
          </a:blip>
          <a:stretch>
            <a:fillRect/>
          </a:stretch>
        </p:blipFill>
        <p:spPr>
          <a:xfrm>
            <a:off x="576275" y="1328725"/>
            <a:ext cx="6355574" cy="4980975"/>
          </a:xfrm>
          <a:prstGeom prst="rect">
            <a:avLst/>
          </a:prstGeom>
          <a:noFill/>
          <a:ln>
            <a:noFill/>
          </a:ln>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381"/>
        <p:cNvGrpSpPr/>
        <p:nvPr/>
      </p:nvGrpSpPr>
      <p:grpSpPr>
        <a:xfrm>
          <a:off x="0" y="0"/>
          <a:ext cx="0" cy="0"/>
          <a:chOff x="0" y="0"/>
          <a:chExt cx="0" cy="0"/>
        </a:xfrm>
      </p:grpSpPr>
      <p:sp>
        <p:nvSpPr>
          <p:cNvPr id="382" name="Google Shape;382;p52"/>
          <p:cNvSpPr txBox="1">
            <a:spLocks noGrp="1"/>
          </p:cNvSpPr>
          <p:nvPr>
            <p:ph type="body" idx="1"/>
          </p:nvPr>
        </p:nvSpPr>
        <p:spPr>
          <a:xfrm>
            <a:off x="457200" y="2831275"/>
            <a:ext cx="7670400" cy="1433100"/>
          </a:xfrm>
          <a:prstGeom prst="rect">
            <a:avLst/>
          </a:prstGeom>
        </p:spPr>
        <p:txBody>
          <a:bodyPr spcFirstLastPara="1" wrap="square" lIns="91425" tIns="91425" rIns="91425" bIns="91425" anchor="t" anchorCtr="0">
            <a:noAutofit/>
          </a:bodyPr>
          <a:lstStyle/>
          <a:p>
            <a:pPr marL="0" lvl="0" indent="457200" algn="ctr" rtl="0">
              <a:lnSpc>
                <a:spcPct val="115000"/>
              </a:lnSpc>
              <a:spcBef>
                <a:spcPts val="600"/>
              </a:spcBef>
              <a:spcAft>
                <a:spcPts val="0"/>
              </a:spcAft>
              <a:buClr>
                <a:srgbClr val="000000"/>
              </a:buClr>
              <a:buSzPts val="1100"/>
              <a:buFont typeface="Arial"/>
              <a:buNone/>
            </a:pPr>
            <a:r>
              <a:rPr lang="en" sz="1900">
                <a:solidFill>
                  <a:srgbClr val="000000"/>
                </a:solidFill>
              </a:rPr>
              <a:t>IQR: 20 - 10 = 10</a:t>
            </a:r>
            <a:endParaRPr sz="1900">
              <a:solidFill>
                <a:srgbClr val="000000"/>
              </a:solidFill>
            </a:endParaRPr>
          </a:p>
          <a:p>
            <a:pPr marL="0" lvl="0" indent="457200" algn="l" rtl="0">
              <a:lnSpc>
                <a:spcPct val="115000"/>
              </a:lnSpc>
              <a:spcBef>
                <a:spcPts val="600"/>
              </a:spcBef>
              <a:spcAft>
                <a:spcPts val="0"/>
              </a:spcAft>
              <a:buClr>
                <a:srgbClr val="000000"/>
              </a:buClr>
              <a:buSzPts val="1100"/>
              <a:buFont typeface="Arial"/>
              <a:buNone/>
            </a:pPr>
            <a:r>
              <a:rPr lang="en" sz="1900">
                <a:solidFill>
                  <a:srgbClr val="000000"/>
                </a:solidFill>
              </a:rPr>
              <a:t>                     max upper whisker reach = 20 + 1.5 x 10 = 35</a:t>
            </a:r>
            <a:endParaRPr sz="1900">
              <a:solidFill>
                <a:srgbClr val="000000"/>
              </a:solidFill>
            </a:endParaRPr>
          </a:p>
          <a:p>
            <a:pPr marL="0" lvl="0" indent="457200" algn="l" rtl="0">
              <a:lnSpc>
                <a:spcPct val="115000"/>
              </a:lnSpc>
              <a:spcBef>
                <a:spcPts val="600"/>
              </a:spcBef>
              <a:spcAft>
                <a:spcPts val="0"/>
              </a:spcAft>
              <a:buClr>
                <a:srgbClr val="000000"/>
              </a:buClr>
              <a:buSzPts val="1100"/>
              <a:buFont typeface="Arial"/>
              <a:buNone/>
            </a:pPr>
            <a:r>
              <a:rPr lang="en" sz="1900">
                <a:solidFill>
                  <a:srgbClr val="000000"/>
                </a:solidFill>
              </a:rPr>
              <a:t>                     max lower whisker reach = 10 - 1.5 x 10 = -5</a:t>
            </a:r>
            <a:endParaRPr sz="1900">
              <a:solidFill>
                <a:srgbClr val="000000"/>
              </a:solidFill>
            </a:endParaRPr>
          </a:p>
          <a:p>
            <a:pPr marL="0" lvl="0" indent="0" algn="l" rtl="0">
              <a:lnSpc>
                <a:spcPct val="115000"/>
              </a:lnSpc>
              <a:spcBef>
                <a:spcPts val="600"/>
              </a:spcBef>
              <a:spcAft>
                <a:spcPts val="0"/>
              </a:spcAft>
              <a:buClr>
                <a:srgbClr val="000000"/>
              </a:buClr>
              <a:buSzPts val="1100"/>
              <a:buFont typeface="Arial"/>
              <a:buNone/>
            </a:pPr>
            <a:endParaRPr sz="1900">
              <a:solidFill>
                <a:srgbClr val="000000"/>
              </a:solidFill>
            </a:endParaRPr>
          </a:p>
          <a:p>
            <a:pPr marL="0" lvl="0" indent="0" algn="l" rtl="0">
              <a:lnSpc>
                <a:spcPct val="115000"/>
              </a:lnSpc>
              <a:spcBef>
                <a:spcPts val="600"/>
              </a:spcBef>
              <a:spcAft>
                <a:spcPts val="0"/>
              </a:spcAft>
              <a:buNone/>
            </a:pPr>
            <a:endParaRPr sz="1900">
              <a:solidFill>
                <a:srgbClr val="000000"/>
              </a:solidFill>
            </a:endParaRPr>
          </a:p>
        </p:txBody>
      </p:sp>
      <p:sp>
        <p:nvSpPr>
          <p:cNvPr id="383" name="Google Shape;383;p52"/>
          <p:cNvSpPr txBox="1">
            <a:spLocks noGrp="1"/>
          </p:cNvSpPr>
          <p:nvPr>
            <p:ph type="body" idx="1"/>
          </p:nvPr>
        </p:nvSpPr>
        <p:spPr>
          <a:xfrm>
            <a:off x="457200" y="1264450"/>
            <a:ext cx="8154000" cy="830100"/>
          </a:xfrm>
          <a:prstGeom prst="rect">
            <a:avLst/>
          </a:prstGeom>
        </p:spPr>
        <p:txBody>
          <a:bodyPr spcFirstLastPara="1" wrap="square" lIns="91425" tIns="91425" rIns="91425" bIns="91425" anchor="t" anchorCtr="0">
            <a:noAutofit/>
          </a:bodyPr>
          <a:lstStyle/>
          <a:p>
            <a:pPr marL="0" lvl="0" indent="0" algn="l" rtl="0">
              <a:lnSpc>
                <a:spcPct val="150000"/>
              </a:lnSpc>
              <a:spcBef>
                <a:spcPts val="600"/>
              </a:spcBef>
              <a:spcAft>
                <a:spcPts val="0"/>
              </a:spcAft>
              <a:buNone/>
            </a:pPr>
            <a:r>
              <a:rPr lang="en" sz="1900" i="1" dirty="0">
                <a:solidFill>
                  <a:schemeClr val="accent1"/>
                </a:solidFill>
              </a:rPr>
              <a:t>Whiskers</a:t>
            </a:r>
            <a:r>
              <a:rPr lang="en" sz="1900" i="1" dirty="0">
                <a:solidFill>
                  <a:srgbClr val="000000"/>
                </a:solidFill>
              </a:rPr>
              <a:t> </a:t>
            </a:r>
            <a:r>
              <a:rPr lang="en" sz="1900" dirty="0">
                <a:solidFill>
                  <a:srgbClr val="000000"/>
                </a:solidFill>
              </a:rPr>
              <a:t>of a box plot can extend up to 1.5 x IQR away from the quartiles. We move towards the median until wereach the value of the nearest observation. </a:t>
            </a:r>
            <a:endParaRPr sz="1900" dirty="0">
              <a:solidFill>
                <a:srgbClr val="000000"/>
              </a:solidFill>
            </a:endParaRPr>
          </a:p>
          <a:p>
            <a:pPr marL="0" lvl="0" indent="0" algn="l" rtl="0">
              <a:lnSpc>
                <a:spcPct val="115000"/>
              </a:lnSpc>
              <a:spcBef>
                <a:spcPts val="600"/>
              </a:spcBef>
              <a:spcAft>
                <a:spcPts val="0"/>
              </a:spcAft>
              <a:buClr>
                <a:srgbClr val="000000"/>
              </a:buClr>
              <a:buSzPts val="1100"/>
              <a:buFont typeface="Arial"/>
              <a:buNone/>
            </a:pPr>
            <a:r>
              <a:rPr lang="en" sz="1900" dirty="0">
                <a:solidFill>
                  <a:srgbClr val="000000"/>
                </a:solidFill>
              </a:rPr>
              <a:t>	                     max upper whisker reach = Q3 + 1.5 x IQR</a:t>
            </a:r>
            <a:endParaRPr sz="1900" dirty="0">
              <a:solidFill>
                <a:srgbClr val="000000"/>
              </a:solidFill>
            </a:endParaRPr>
          </a:p>
          <a:p>
            <a:pPr marL="0" lvl="0" indent="0" algn="l" rtl="0">
              <a:lnSpc>
                <a:spcPct val="115000"/>
              </a:lnSpc>
              <a:spcBef>
                <a:spcPts val="600"/>
              </a:spcBef>
              <a:spcAft>
                <a:spcPts val="0"/>
              </a:spcAft>
              <a:buClr>
                <a:srgbClr val="000000"/>
              </a:buClr>
              <a:buSzPts val="1100"/>
              <a:buFont typeface="Arial"/>
              <a:buNone/>
            </a:pPr>
            <a:r>
              <a:rPr lang="en" sz="1900" dirty="0">
                <a:solidFill>
                  <a:srgbClr val="000000"/>
                </a:solidFill>
              </a:rPr>
              <a:t>	                     max lower whisker reach = Q1 - 1.5 x IQR</a:t>
            </a:r>
            <a:endParaRPr sz="1900" dirty="0">
              <a:solidFill>
                <a:srgbClr val="000000"/>
              </a:solidFill>
            </a:endParaRPr>
          </a:p>
          <a:p>
            <a:pPr marL="0" lvl="0" indent="0" algn="l" rtl="0">
              <a:lnSpc>
                <a:spcPct val="115000"/>
              </a:lnSpc>
              <a:spcBef>
                <a:spcPts val="600"/>
              </a:spcBef>
              <a:spcAft>
                <a:spcPts val="0"/>
              </a:spcAft>
              <a:buNone/>
            </a:pPr>
            <a:endParaRPr sz="1900" dirty="0">
              <a:solidFill>
                <a:srgbClr val="000000"/>
              </a:solidFill>
            </a:endParaRPr>
          </a:p>
          <a:p>
            <a:pPr marL="0" lvl="0" indent="0" algn="l" rtl="0">
              <a:lnSpc>
                <a:spcPct val="115000"/>
              </a:lnSpc>
              <a:spcBef>
                <a:spcPts val="600"/>
              </a:spcBef>
              <a:spcAft>
                <a:spcPts val="0"/>
              </a:spcAft>
              <a:buNone/>
            </a:pPr>
            <a:endParaRPr sz="1900" dirty="0">
              <a:solidFill>
                <a:srgbClr val="000000"/>
              </a:solidFill>
            </a:endParaRPr>
          </a:p>
        </p:txBody>
      </p:sp>
      <p:sp>
        <p:nvSpPr>
          <p:cNvPr id="384" name="Google Shape;384;p52"/>
          <p:cNvSpPr txBox="1">
            <a:spLocks noGrp="1"/>
          </p:cNvSpPr>
          <p:nvPr>
            <p:ph type="title"/>
          </p:nvPr>
        </p:nvSpPr>
        <p:spPr>
          <a:xfrm>
            <a:off x="457200" y="-12"/>
            <a:ext cx="8229600" cy="11430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dirty="0">
                <a:solidFill>
                  <a:schemeClr val="accent1"/>
                </a:solidFill>
              </a:rPr>
              <a:t>Whiskers and Outliers</a:t>
            </a:r>
            <a:endParaRPr dirty="0">
              <a:solidFill>
                <a:schemeClr val="accent1"/>
              </a:solidFill>
            </a:endParaRPr>
          </a:p>
        </p:txBody>
      </p:sp>
      <p:sp>
        <p:nvSpPr>
          <p:cNvPr id="385" name="Google Shape;385;p52"/>
          <p:cNvSpPr txBox="1">
            <a:spLocks noGrp="1"/>
          </p:cNvSpPr>
          <p:nvPr>
            <p:ph type="body" idx="1"/>
          </p:nvPr>
        </p:nvSpPr>
        <p:spPr>
          <a:xfrm>
            <a:off x="457200" y="4505350"/>
            <a:ext cx="8229600" cy="1323000"/>
          </a:xfrm>
          <a:prstGeom prst="rect">
            <a:avLst/>
          </a:prstGeom>
        </p:spPr>
        <p:txBody>
          <a:bodyPr spcFirstLastPara="1" wrap="square" lIns="91425" tIns="91425" rIns="91425" bIns="91425" anchor="t" anchorCtr="0">
            <a:noAutofit/>
          </a:bodyPr>
          <a:lstStyle/>
          <a:p>
            <a:pPr marL="0" lvl="0" indent="0" algn="l" rtl="0">
              <a:lnSpc>
                <a:spcPct val="115000"/>
              </a:lnSpc>
              <a:spcBef>
                <a:spcPts val="600"/>
              </a:spcBef>
              <a:spcAft>
                <a:spcPts val="0"/>
              </a:spcAft>
              <a:buNone/>
            </a:pPr>
            <a:r>
              <a:rPr lang="en" sz="1900">
                <a:solidFill>
                  <a:srgbClr val="000000"/>
                </a:solidFill>
              </a:rPr>
              <a:t>A potential </a:t>
            </a:r>
            <a:r>
              <a:rPr lang="en" sz="1900" i="1">
                <a:solidFill>
                  <a:schemeClr val="accent1"/>
                </a:solidFill>
              </a:rPr>
              <a:t>outlier</a:t>
            </a:r>
            <a:r>
              <a:rPr lang="en" sz="1900" i="1">
                <a:solidFill>
                  <a:srgbClr val="000000"/>
                </a:solidFill>
              </a:rPr>
              <a:t> </a:t>
            </a:r>
            <a:r>
              <a:rPr lang="en" sz="1900">
                <a:solidFill>
                  <a:srgbClr val="000000"/>
                </a:solidFill>
              </a:rPr>
              <a:t>is defined as an observation beyond the maximum reach of the whiskers. It is an observation that appears extreme relative to the rest of the data.</a:t>
            </a:r>
            <a:endParaRPr sz="1900">
              <a:solidFill>
                <a:srgbClr val="000000"/>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82"/>
                                        </p:tgtEl>
                                        <p:attrNameLst>
                                          <p:attrName>style.visibility</p:attrName>
                                        </p:attrNameLst>
                                      </p:cBhvr>
                                      <p:to>
                                        <p:strVal val="visible"/>
                                      </p:to>
                                    </p:set>
                                    <p:animEffect transition="in" filter="fade">
                                      <p:cBhvr>
                                        <p:cTn id="7" dur="1000"/>
                                        <p:tgtEl>
                                          <p:spTgt spid="382"/>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85"/>
                                        </p:tgtEl>
                                        <p:attrNameLst>
                                          <p:attrName>style.visibility</p:attrName>
                                        </p:attrNameLst>
                                      </p:cBhvr>
                                      <p:to>
                                        <p:strVal val="visible"/>
                                      </p:to>
                                    </p:set>
                                    <p:animEffect transition="in" filter="fade">
                                      <p:cBhvr>
                                        <p:cTn id="12" dur="1000"/>
                                        <p:tgtEl>
                                          <p:spTgt spid="38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395"/>
        <p:cNvGrpSpPr/>
        <p:nvPr/>
      </p:nvGrpSpPr>
      <p:grpSpPr>
        <a:xfrm>
          <a:off x="0" y="0"/>
          <a:ext cx="0" cy="0"/>
          <a:chOff x="0" y="0"/>
          <a:chExt cx="0" cy="0"/>
        </a:xfrm>
      </p:grpSpPr>
      <p:sp>
        <p:nvSpPr>
          <p:cNvPr id="396" name="Google Shape;396;p54"/>
          <p:cNvSpPr txBox="1">
            <a:spLocks noGrp="1"/>
          </p:cNvSpPr>
          <p:nvPr>
            <p:ph type="body" idx="1"/>
          </p:nvPr>
        </p:nvSpPr>
        <p:spPr>
          <a:xfrm>
            <a:off x="457200" y="1994550"/>
            <a:ext cx="7670400" cy="830100"/>
          </a:xfrm>
          <a:prstGeom prst="rect">
            <a:avLst/>
          </a:prstGeom>
        </p:spPr>
        <p:txBody>
          <a:bodyPr spcFirstLastPara="1" wrap="square" lIns="91425" tIns="91425" rIns="91425" bIns="91425" anchor="t" anchorCtr="0">
            <a:noAutofit/>
          </a:bodyPr>
          <a:lstStyle/>
          <a:p>
            <a:pPr marL="457200" lvl="0" indent="-361950" algn="l" rtl="0">
              <a:lnSpc>
                <a:spcPct val="150000"/>
              </a:lnSpc>
              <a:spcBef>
                <a:spcPts val="600"/>
              </a:spcBef>
              <a:spcAft>
                <a:spcPts val="0"/>
              </a:spcAft>
              <a:buClr>
                <a:srgbClr val="000000"/>
              </a:buClr>
              <a:buSzPts val="2100"/>
              <a:buChar char="●"/>
            </a:pPr>
            <a:r>
              <a:rPr lang="en" sz="2100">
                <a:solidFill>
                  <a:srgbClr val="000000"/>
                </a:solidFill>
              </a:rPr>
              <a:t>Identify extreme skew in the distribution.</a:t>
            </a:r>
            <a:endParaRPr sz="2100">
              <a:solidFill>
                <a:srgbClr val="000000"/>
              </a:solidFill>
            </a:endParaRPr>
          </a:p>
          <a:p>
            <a:pPr marL="457200" lvl="0" indent="-361950" algn="l" rtl="0">
              <a:lnSpc>
                <a:spcPct val="150000"/>
              </a:lnSpc>
              <a:spcBef>
                <a:spcPts val="0"/>
              </a:spcBef>
              <a:spcAft>
                <a:spcPts val="0"/>
              </a:spcAft>
              <a:buClr>
                <a:srgbClr val="000000"/>
              </a:buClr>
              <a:buSzPts val="2100"/>
              <a:buChar char="●"/>
            </a:pPr>
            <a:r>
              <a:rPr lang="en" sz="2100">
                <a:solidFill>
                  <a:srgbClr val="000000"/>
                </a:solidFill>
              </a:rPr>
              <a:t>Identify data collection and entry errors.</a:t>
            </a:r>
            <a:endParaRPr sz="2100">
              <a:solidFill>
                <a:srgbClr val="000000"/>
              </a:solidFill>
            </a:endParaRPr>
          </a:p>
          <a:p>
            <a:pPr marL="457200" lvl="0" indent="-361950" algn="l" rtl="0">
              <a:lnSpc>
                <a:spcPct val="150000"/>
              </a:lnSpc>
              <a:spcBef>
                <a:spcPts val="0"/>
              </a:spcBef>
              <a:spcAft>
                <a:spcPts val="0"/>
              </a:spcAft>
              <a:buClr>
                <a:srgbClr val="000000"/>
              </a:buClr>
              <a:buSzPts val="2100"/>
              <a:buChar char="●"/>
            </a:pPr>
            <a:r>
              <a:rPr lang="en" sz="2100">
                <a:solidFill>
                  <a:srgbClr val="000000"/>
                </a:solidFill>
              </a:rPr>
              <a:t>Provide insight into interesting features of the data.</a:t>
            </a:r>
            <a:endParaRPr sz="2100">
              <a:solidFill>
                <a:srgbClr val="000000"/>
              </a:solidFill>
            </a:endParaRPr>
          </a:p>
        </p:txBody>
      </p:sp>
      <p:sp>
        <p:nvSpPr>
          <p:cNvPr id="397" name="Google Shape;397;p54"/>
          <p:cNvSpPr txBox="1">
            <a:spLocks noGrp="1"/>
          </p:cNvSpPr>
          <p:nvPr>
            <p:ph type="body" idx="1"/>
          </p:nvPr>
        </p:nvSpPr>
        <p:spPr>
          <a:xfrm>
            <a:off x="457200" y="1264450"/>
            <a:ext cx="8154000" cy="830100"/>
          </a:xfrm>
          <a:prstGeom prst="rect">
            <a:avLst/>
          </a:prstGeom>
        </p:spPr>
        <p:txBody>
          <a:bodyPr spcFirstLastPara="1" wrap="square" lIns="91425" tIns="91425" rIns="91425" bIns="91425" anchor="t" anchorCtr="0">
            <a:noAutofit/>
          </a:bodyPr>
          <a:lstStyle/>
          <a:p>
            <a:pPr marL="0" lvl="0" indent="0" algn="l" rtl="0">
              <a:lnSpc>
                <a:spcPct val="150000"/>
              </a:lnSpc>
              <a:spcBef>
                <a:spcPts val="600"/>
              </a:spcBef>
              <a:spcAft>
                <a:spcPts val="0"/>
              </a:spcAft>
              <a:buNone/>
            </a:pPr>
            <a:r>
              <a:rPr lang="en" sz="2100">
                <a:solidFill>
                  <a:schemeClr val="accent1"/>
                </a:solidFill>
              </a:rPr>
              <a:t>Why is it important to look for outliers?</a:t>
            </a:r>
            <a:endParaRPr sz="2100">
              <a:solidFill>
                <a:schemeClr val="accent1"/>
              </a:solidFill>
            </a:endParaRPr>
          </a:p>
        </p:txBody>
      </p:sp>
      <p:sp>
        <p:nvSpPr>
          <p:cNvPr id="398" name="Google Shape;398;p54"/>
          <p:cNvSpPr txBox="1">
            <a:spLocks noGrp="1"/>
          </p:cNvSpPr>
          <p:nvPr>
            <p:ph type="title"/>
          </p:nvPr>
        </p:nvSpPr>
        <p:spPr>
          <a:xfrm>
            <a:off x="457200" y="-12"/>
            <a:ext cx="8229600" cy="11430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solidFill>
                  <a:schemeClr val="accent1"/>
                </a:solidFill>
              </a:rPr>
              <a:t>Outliers (cont.)</a:t>
            </a:r>
            <a:endParaRPr>
              <a:solidFill>
                <a:schemeClr val="accent1"/>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96"/>
                                        </p:tgtEl>
                                        <p:attrNameLst>
                                          <p:attrName>style.visibility</p:attrName>
                                        </p:attrNameLst>
                                      </p:cBhvr>
                                      <p:to>
                                        <p:strVal val="visible"/>
                                      </p:to>
                                    </p:set>
                                    <p:animEffect transition="in" filter="fade">
                                      <p:cBhvr>
                                        <p:cTn id="7" dur="1000"/>
                                        <p:tgtEl>
                                          <p:spTgt spid="39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402"/>
        <p:cNvGrpSpPr/>
        <p:nvPr/>
      </p:nvGrpSpPr>
      <p:grpSpPr>
        <a:xfrm>
          <a:off x="0" y="0"/>
          <a:ext cx="0" cy="0"/>
          <a:chOff x="0" y="0"/>
          <a:chExt cx="0" cy="0"/>
        </a:xfrm>
      </p:grpSpPr>
      <p:sp>
        <p:nvSpPr>
          <p:cNvPr id="403" name="Google Shape;403;p55"/>
          <p:cNvSpPr txBox="1">
            <a:spLocks noGrp="1"/>
          </p:cNvSpPr>
          <p:nvPr>
            <p:ph type="title"/>
          </p:nvPr>
        </p:nvSpPr>
        <p:spPr>
          <a:xfrm>
            <a:off x="457200" y="-12"/>
            <a:ext cx="8229600" cy="11430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solidFill>
                  <a:schemeClr val="accent1"/>
                </a:solidFill>
              </a:rPr>
              <a:t>Extreme Observations</a:t>
            </a:r>
            <a:endParaRPr>
              <a:solidFill>
                <a:schemeClr val="accent1"/>
              </a:solidFill>
            </a:endParaRPr>
          </a:p>
        </p:txBody>
      </p:sp>
      <p:sp>
        <p:nvSpPr>
          <p:cNvPr id="404" name="Google Shape;404;p55"/>
          <p:cNvSpPr txBox="1">
            <a:spLocks noGrp="1"/>
          </p:cNvSpPr>
          <p:nvPr>
            <p:ph type="body" idx="1"/>
          </p:nvPr>
        </p:nvSpPr>
        <p:spPr>
          <a:xfrm>
            <a:off x="457200" y="1264450"/>
            <a:ext cx="8154000" cy="830100"/>
          </a:xfrm>
          <a:prstGeom prst="rect">
            <a:avLst/>
          </a:prstGeom>
        </p:spPr>
        <p:txBody>
          <a:bodyPr spcFirstLastPara="1" wrap="square" lIns="91425" tIns="91425" rIns="91425" bIns="91425" anchor="t" anchorCtr="0">
            <a:noAutofit/>
          </a:bodyPr>
          <a:lstStyle/>
          <a:p>
            <a:pPr marL="0" lvl="0" indent="0" algn="l" rtl="0">
              <a:lnSpc>
                <a:spcPct val="115000"/>
              </a:lnSpc>
              <a:spcBef>
                <a:spcPts val="600"/>
              </a:spcBef>
              <a:spcAft>
                <a:spcPts val="0"/>
              </a:spcAft>
              <a:buNone/>
            </a:pPr>
            <a:r>
              <a:rPr lang="en" sz="2100">
                <a:solidFill>
                  <a:schemeClr val="accent1"/>
                </a:solidFill>
              </a:rPr>
              <a:t>How would sample statistics such as mean, median, SD, and IQR of household income be affected if the largest value was replaced with $10 million? What if the smallest value was replaced with $10 million?</a:t>
            </a:r>
            <a:endParaRPr sz="2100">
              <a:solidFill>
                <a:schemeClr val="accent1"/>
              </a:solidFill>
            </a:endParaRPr>
          </a:p>
        </p:txBody>
      </p:sp>
      <p:pic>
        <p:nvPicPr>
          <p:cNvPr id="405" name="Google Shape;405;p55"/>
          <p:cNvPicPr preferRelativeResize="0"/>
          <p:nvPr/>
        </p:nvPicPr>
        <p:blipFill>
          <a:blip r:embed="rId3">
            <a:alphaModFix/>
          </a:blip>
          <a:stretch>
            <a:fillRect/>
          </a:stretch>
        </p:blipFill>
        <p:spPr>
          <a:xfrm>
            <a:off x="556325" y="2962299"/>
            <a:ext cx="7727150" cy="3452950"/>
          </a:xfrm>
          <a:prstGeom prst="rect">
            <a:avLst/>
          </a:prstGeom>
          <a:noFill/>
          <a:ln>
            <a:noFill/>
          </a:ln>
        </p:spPr>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409"/>
        <p:cNvGrpSpPr/>
        <p:nvPr/>
      </p:nvGrpSpPr>
      <p:grpSpPr>
        <a:xfrm>
          <a:off x="0" y="0"/>
          <a:ext cx="0" cy="0"/>
          <a:chOff x="0" y="0"/>
          <a:chExt cx="0" cy="0"/>
        </a:xfrm>
      </p:grpSpPr>
      <p:sp>
        <p:nvSpPr>
          <p:cNvPr id="410" name="Google Shape;410;p56"/>
          <p:cNvSpPr txBox="1">
            <a:spLocks noGrp="1"/>
          </p:cNvSpPr>
          <p:nvPr>
            <p:ph type="title"/>
          </p:nvPr>
        </p:nvSpPr>
        <p:spPr>
          <a:xfrm>
            <a:off x="457200" y="-12"/>
            <a:ext cx="8229600" cy="11430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solidFill>
                  <a:schemeClr val="accent1"/>
                </a:solidFill>
              </a:rPr>
              <a:t>Robust Statistics</a:t>
            </a:r>
            <a:endParaRPr>
              <a:solidFill>
                <a:schemeClr val="accent1"/>
              </a:solidFill>
            </a:endParaRPr>
          </a:p>
        </p:txBody>
      </p:sp>
      <p:pic>
        <p:nvPicPr>
          <p:cNvPr id="411" name="Google Shape;411;p56"/>
          <p:cNvPicPr preferRelativeResize="0"/>
          <p:nvPr/>
        </p:nvPicPr>
        <p:blipFill>
          <a:blip r:embed="rId3">
            <a:alphaModFix/>
          </a:blip>
          <a:stretch>
            <a:fillRect/>
          </a:stretch>
        </p:blipFill>
        <p:spPr>
          <a:xfrm>
            <a:off x="457199" y="1228724"/>
            <a:ext cx="7736676" cy="5096150"/>
          </a:xfrm>
          <a:prstGeom prst="rect">
            <a:avLst/>
          </a:prstGeom>
          <a:noFill/>
          <a:ln>
            <a:noFill/>
          </a:ln>
        </p:spPr>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428"/>
        <p:cNvGrpSpPr/>
        <p:nvPr/>
      </p:nvGrpSpPr>
      <p:grpSpPr>
        <a:xfrm>
          <a:off x="0" y="0"/>
          <a:ext cx="0" cy="0"/>
          <a:chOff x="0" y="0"/>
          <a:chExt cx="0" cy="0"/>
        </a:xfrm>
      </p:grpSpPr>
      <p:sp>
        <p:nvSpPr>
          <p:cNvPr id="429" name="Google Shape;429;p59"/>
          <p:cNvSpPr txBox="1">
            <a:spLocks noGrp="1"/>
          </p:cNvSpPr>
          <p:nvPr>
            <p:ph type="body" idx="1"/>
          </p:nvPr>
        </p:nvSpPr>
        <p:spPr>
          <a:xfrm>
            <a:off x="457200" y="1264450"/>
            <a:ext cx="8154000" cy="830100"/>
          </a:xfrm>
          <a:prstGeom prst="rect">
            <a:avLst/>
          </a:prstGeom>
        </p:spPr>
        <p:txBody>
          <a:bodyPr spcFirstLastPara="1" wrap="square" lIns="91425" tIns="91425" rIns="91425" bIns="91425" anchor="t" anchorCtr="0">
            <a:noAutofit/>
          </a:bodyPr>
          <a:lstStyle/>
          <a:p>
            <a:pPr marL="0" lvl="0" indent="0" algn="l" rtl="0">
              <a:lnSpc>
                <a:spcPct val="115000"/>
              </a:lnSpc>
              <a:spcBef>
                <a:spcPts val="600"/>
              </a:spcBef>
              <a:spcAft>
                <a:spcPts val="0"/>
              </a:spcAft>
              <a:buClr>
                <a:srgbClr val="000000"/>
              </a:buClr>
              <a:buSzPts val="1100"/>
              <a:buFont typeface="Arial"/>
              <a:buNone/>
            </a:pPr>
            <a:r>
              <a:rPr lang="en" sz="2100">
                <a:solidFill>
                  <a:srgbClr val="000000"/>
                </a:solidFill>
              </a:rPr>
              <a:t>Median and IQR are more robust to skewness and outliers than mean and SD. Therefore,</a:t>
            </a:r>
            <a:endParaRPr sz="2100">
              <a:solidFill>
                <a:srgbClr val="000000"/>
              </a:solidFill>
            </a:endParaRPr>
          </a:p>
          <a:p>
            <a:pPr marL="457200" lvl="0" indent="-361950" algn="l" rtl="0">
              <a:lnSpc>
                <a:spcPct val="115000"/>
              </a:lnSpc>
              <a:spcBef>
                <a:spcPts val="600"/>
              </a:spcBef>
              <a:spcAft>
                <a:spcPts val="0"/>
              </a:spcAft>
              <a:buClr>
                <a:srgbClr val="000000"/>
              </a:buClr>
              <a:buSzPts val="2100"/>
              <a:buChar char="●"/>
            </a:pPr>
            <a:r>
              <a:rPr lang="en" sz="2100">
                <a:solidFill>
                  <a:srgbClr val="000000"/>
                </a:solidFill>
              </a:rPr>
              <a:t>for skewed distributions it is often more helpful to use median and IQR to describe the center and spread</a:t>
            </a:r>
            <a:endParaRPr sz="2100">
              <a:solidFill>
                <a:srgbClr val="000000"/>
              </a:solidFill>
            </a:endParaRPr>
          </a:p>
          <a:p>
            <a:pPr marL="457200" lvl="0" indent="-361950" algn="l" rtl="0">
              <a:lnSpc>
                <a:spcPct val="115000"/>
              </a:lnSpc>
              <a:spcBef>
                <a:spcPts val="0"/>
              </a:spcBef>
              <a:spcAft>
                <a:spcPts val="0"/>
              </a:spcAft>
              <a:buClr>
                <a:srgbClr val="000000"/>
              </a:buClr>
              <a:buSzPts val="2100"/>
              <a:buChar char="●"/>
            </a:pPr>
            <a:r>
              <a:rPr lang="en" sz="2100">
                <a:solidFill>
                  <a:srgbClr val="000000"/>
                </a:solidFill>
              </a:rPr>
              <a:t>for symmetric distributions it is often more helpful to use the mean and SD to describe the center and spread</a:t>
            </a:r>
            <a:endParaRPr sz="2100">
              <a:solidFill>
                <a:srgbClr val="000000"/>
              </a:solidFill>
            </a:endParaRPr>
          </a:p>
        </p:txBody>
      </p:sp>
      <p:sp>
        <p:nvSpPr>
          <p:cNvPr id="430" name="Google Shape;430;p59"/>
          <p:cNvSpPr txBox="1">
            <a:spLocks noGrp="1"/>
          </p:cNvSpPr>
          <p:nvPr>
            <p:ph type="body" idx="1"/>
          </p:nvPr>
        </p:nvSpPr>
        <p:spPr>
          <a:xfrm>
            <a:off x="457200" y="3801925"/>
            <a:ext cx="7670400" cy="1973100"/>
          </a:xfrm>
          <a:prstGeom prst="rect">
            <a:avLst/>
          </a:prstGeom>
        </p:spPr>
        <p:txBody>
          <a:bodyPr spcFirstLastPara="1" wrap="square" lIns="91425" tIns="91425" rIns="91425" bIns="91425" anchor="t" anchorCtr="0">
            <a:noAutofit/>
          </a:bodyPr>
          <a:lstStyle/>
          <a:p>
            <a:pPr marL="0" lvl="0" indent="0" algn="l" rtl="0">
              <a:lnSpc>
                <a:spcPct val="115000"/>
              </a:lnSpc>
              <a:spcBef>
                <a:spcPts val="600"/>
              </a:spcBef>
              <a:spcAft>
                <a:spcPts val="0"/>
              </a:spcAft>
              <a:buNone/>
            </a:pPr>
            <a:r>
              <a:rPr lang="en" sz="2100">
                <a:solidFill>
                  <a:schemeClr val="accent1"/>
                </a:solidFill>
              </a:rPr>
              <a:t>If you would like to estimate the typical household income for a student, would you be more interested in the mean or median income?</a:t>
            </a:r>
            <a:endParaRPr sz="2100">
              <a:solidFill>
                <a:schemeClr val="accent1"/>
              </a:solidFill>
            </a:endParaRPr>
          </a:p>
          <a:p>
            <a:pPr marL="0" lvl="0" indent="0" algn="l" rtl="0">
              <a:lnSpc>
                <a:spcPct val="150000"/>
              </a:lnSpc>
              <a:spcBef>
                <a:spcPts val="1000"/>
              </a:spcBef>
              <a:spcAft>
                <a:spcPts val="0"/>
              </a:spcAft>
              <a:buNone/>
            </a:pPr>
            <a:r>
              <a:rPr lang="en" sz="2100" i="1">
                <a:solidFill>
                  <a:srgbClr val="FF9900"/>
                </a:solidFill>
              </a:rPr>
              <a:t>Median</a:t>
            </a:r>
            <a:endParaRPr sz="2100" i="1">
              <a:solidFill>
                <a:srgbClr val="FF9900"/>
              </a:solidFill>
            </a:endParaRPr>
          </a:p>
        </p:txBody>
      </p:sp>
      <p:sp>
        <p:nvSpPr>
          <p:cNvPr id="431" name="Google Shape;431;p59"/>
          <p:cNvSpPr txBox="1">
            <a:spLocks noGrp="1"/>
          </p:cNvSpPr>
          <p:nvPr>
            <p:ph type="title"/>
          </p:nvPr>
        </p:nvSpPr>
        <p:spPr>
          <a:xfrm>
            <a:off x="457200" y="-12"/>
            <a:ext cx="8229600" cy="11430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solidFill>
                  <a:schemeClr val="accent1"/>
                </a:solidFill>
              </a:rPr>
              <a:t>Robust Statistics</a:t>
            </a:r>
            <a:endParaRPr>
              <a:solidFill>
                <a:schemeClr val="accent1"/>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30">
                                            <p:txEl>
                                              <p:pRg st="0" end="0"/>
                                            </p:txEl>
                                          </p:spTgt>
                                        </p:tgtEl>
                                        <p:attrNameLst>
                                          <p:attrName>style.visibility</p:attrName>
                                        </p:attrNameLst>
                                      </p:cBhvr>
                                      <p:to>
                                        <p:strVal val="visible"/>
                                      </p:to>
                                    </p:set>
                                    <p:animEffect transition="in" filter="fade">
                                      <p:cBhvr>
                                        <p:cTn id="7" dur="1000"/>
                                        <p:tgtEl>
                                          <p:spTgt spid="430">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430">
                                            <p:txEl>
                                              <p:pRg st="1" end="1"/>
                                            </p:txEl>
                                          </p:spTgt>
                                        </p:tgtEl>
                                        <p:attrNameLst>
                                          <p:attrName>style.visibility</p:attrName>
                                        </p:attrNameLst>
                                      </p:cBhvr>
                                      <p:to>
                                        <p:strVal val="visible"/>
                                      </p:to>
                                    </p:set>
                                    <p:animEffect transition="in" filter="fade">
                                      <p:cBhvr>
                                        <p:cTn id="12" dur="1000"/>
                                        <p:tgtEl>
                                          <p:spTgt spid="430">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435"/>
        <p:cNvGrpSpPr/>
        <p:nvPr/>
      </p:nvGrpSpPr>
      <p:grpSpPr>
        <a:xfrm>
          <a:off x="0" y="0"/>
          <a:ext cx="0" cy="0"/>
          <a:chOff x="0" y="0"/>
          <a:chExt cx="0" cy="0"/>
        </a:xfrm>
      </p:grpSpPr>
      <p:sp>
        <p:nvSpPr>
          <p:cNvPr id="436" name="Google Shape;436;p60"/>
          <p:cNvSpPr txBox="1">
            <a:spLocks noGrp="1"/>
          </p:cNvSpPr>
          <p:nvPr>
            <p:ph type="body" idx="1"/>
          </p:nvPr>
        </p:nvSpPr>
        <p:spPr>
          <a:xfrm>
            <a:off x="457200" y="1264450"/>
            <a:ext cx="8154000" cy="830100"/>
          </a:xfrm>
          <a:prstGeom prst="rect">
            <a:avLst/>
          </a:prstGeom>
        </p:spPr>
        <p:txBody>
          <a:bodyPr spcFirstLastPara="1" wrap="square" lIns="91425" tIns="91425" rIns="91425" bIns="91425" anchor="t" anchorCtr="0">
            <a:noAutofit/>
          </a:bodyPr>
          <a:lstStyle/>
          <a:p>
            <a:pPr marL="0" lvl="0" indent="0" algn="l" rtl="0">
              <a:lnSpc>
                <a:spcPct val="115000"/>
              </a:lnSpc>
              <a:spcBef>
                <a:spcPts val="600"/>
              </a:spcBef>
              <a:spcAft>
                <a:spcPts val="0"/>
              </a:spcAft>
              <a:buNone/>
            </a:pPr>
            <a:r>
              <a:rPr lang="en" sz="1900">
                <a:solidFill>
                  <a:srgbClr val="000000"/>
                </a:solidFill>
              </a:rPr>
              <a:t>If the distribution is symmetric, center is often defined as the mean:</a:t>
            </a:r>
            <a:br>
              <a:rPr lang="en" sz="1900">
                <a:solidFill>
                  <a:srgbClr val="000000"/>
                </a:solidFill>
              </a:rPr>
            </a:br>
            <a:r>
              <a:rPr lang="en" sz="1900">
                <a:solidFill>
                  <a:srgbClr val="000000"/>
                </a:solidFill>
              </a:rPr>
              <a:t>mean ~ median</a:t>
            </a:r>
            <a:endParaRPr sz="1900">
              <a:solidFill>
                <a:srgbClr val="000000"/>
              </a:solidFill>
            </a:endParaRPr>
          </a:p>
          <a:p>
            <a:pPr marL="0" lvl="0" indent="0" algn="l" rtl="0">
              <a:lnSpc>
                <a:spcPct val="115000"/>
              </a:lnSpc>
              <a:spcBef>
                <a:spcPts val="600"/>
              </a:spcBef>
              <a:spcAft>
                <a:spcPts val="0"/>
              </a:spcAft>
              <a:buClr>
                <a:srgbClr val="000000"/>
              </a:buClr>
              <a:buSzPts val="1100"/>
              <a:buFont typeface="Arial"/>
              <a:buNone/>
            </a:pPr>
            <a:endParaRPr sz="1900">
              <a:solidFill>
                <a:srgbClr val="000000"/>
              </a:solidFill>
            </a:endParaRPr>
          </a:p>
          <a:p>
            <a:pPr marL="0" lvl="0" indent="0" algn="l" rtl="0">
              <a:lnSpc>
                <a:spcPct val="115000"/>
              </a:lnSpc>
              <a:spcBef>
                <a:spcPts val="600"/>
              </a:spcBef>
              <a:spcAft>
                <a:spcPts val="0"/>
              </a:spcAft>
              <a:buNone/>
            </a:pPr>
            <a:endParaRPr sz="1900">
              <a:solidFill>
                <a:srgbClr val="000000"/>
              </a:solidFill>
            </a:endParaRPr>
          </a:p>
          <a:p>
            <a:pPr marL="0" lvl="0" indent="0" algn="l" rtl="0">
              <a:lnSpc>
                <a:spcPct val="115000"/>
              </a:lnSpc>
              <a:spcBef>
                <a:spcPts val="600"/>
              </a:spcBef>
              <a:spcAft>
                <a:spcPts val="0"/>
              </a:spcAft>
              <a:buNone/>
            </a:pPr>
            <a:endParaRPr sz="1900">
              <a:solidFill>
                <a:srgbClr val="000000"/>
              </a:solidFill>
            </a:endParaRPr>
          </a:p>
          <a:p>
            <a:pPr marL="0" lvl="0" indent="0" algn="l" rtl="0">
              <a:lnSpc>
                <a:spcPct val="115000"/>
              </a:lnSpc>
              <a:spcBef>
                <a:spcPts val="600"/>
              </a:spcBef>
              <a:spcAft>
                <a:spcPts val="0"/>
              </a:spcAft>
              <a:buClr>
                <a:srgbClr val="000000"/>
              </a:buClr>
              <a:buSzPts val="1100"/>
              <a:buFont typeface="Arial"/>
              <a:buNone/>
            </a:pPr>
            <a:r>
              <a:rPr lang="en" sz="1900">
                <a:solidFill>
                  <a:srgbClr val="000000"/>
                </a:solidFill>
              </a:rPr>
              <a:t>If the distribution is skewed or has extreme outliers, center is often defined as the median</a:t>
            </a:r>
            <a:endParaRPr sz="1900">
              <a:solidFill>
                <a:srgbClr val="000000"/>
              </a:solidFill>
            </a:endParaRPr>
          </a:p>
          <a:p>
            <a:pPr marL="457200" lvl="0" indent="-349250" algn="l" rtl="0">
              <a:lnSpc>
                <a:spcPct val="115000"/>
              </a:lnSpc>
              <a:spcBef>
                <a:spcPts val="600"/>
              </a:spcBef>
              <a:spcAft>
                <a:spcPts val="0"/>
              </a:spcAft>
              <a:buClr>
                <a:srgbClr val="000000"/>
              </a:buClr>
              <a:buSzPts val="1900"/>
              <a:buChar char="●"/>
            </a:pPr>
            <a:r>
              <a:rPr lang="en" sz="1900">
                <a:solidFill>
                  <a:srgbClr val="000000"/>
                </a:solidFill>
              </a:rPr>
              <a:t>Right-skewed: mean &gt; median</a:t>
            </a:r>
            <a:endParaRPr sz="1900">
              <a:solidFill>
                <a:srgbClr val="000000"/>
              </a:solidFill>
            </a:endParaRPr>
          </a:p>
          <a:p>
            <a:pPr marL="457200" lvl="0" indent="-349250" algn="l" rtl="0">
              <a:lnSpc>
                <a:spcPct val="115000"/>
              </a:lnSpc>
              <a:spcBef>
                <a:spcPts val="0"/>
              </a:spcBef>
              <a:spcAft>
                <a:spcPts val="0"/>
              </a:spcAft>
              <a:buClr>
                <a:srgbClr val="000000"/>
              </a:buClr>
              <a:buSzPts val="1900"/>
              <a:buChar char="●"/>
            </a:pPr>
            <a:r>
              <a:rPr lang="en" sz="1900">
                <a:solidFill>
                  <a:srgbClr val="000000"/>
                </a:solidFill>
              </a:rPr>
              <a:t>Left-skewed: mean &lt; median</a:t>
            </a:r>
            <a:endParaRPr sz="1900">
              <a:solidFill>
                <a:srgbClr val="000000"/>
              </a:solidFill>
            </a:endParaRPr>
          </a:p>
          <a:p>
            <a:pPr marL="0" lvl="0" indent="0" algn="l" rtl="0">
              <a:lnSpc>
                <a:spcPct val="115000"/>
              </a:lnSpc>
              <a:spcBef>
                <a:spcPts val="600"/>
              </a:spcBef>
              <a:spcAft>
                <a:spcPts val="0"/>
              </a:spcAft>
              <a:buNone/>
            </a:pPr>
            <a:endParaRPr sz="1900">
              <a:solidFill>
                <a:srgbClr val="000000"/>
              </a:solidFill>
            </a:endParaRPr>
          </a:p>
        </p:txBody>
      </p:sp>
      <p:sp>
        <p:nvSpPr>
          <p:cNvPr id="437" name="Google Shape;437;p60"/>
          <p:cNvSpPr txBox="1">
            <a:spLocks noGrp="1"/>
          </p:cNvSpPr>
          <p:nvPr>
            <p:ph type="title"/>
          </p:nvPr>
        </p:nvSpPr>
        <p:spPr>
          <a:xfrm>
            <a:off x="457200" y="-12"/>
            <a:ext cx="8229600" cy="11430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solidFill>
                  <a:schemeClr val="accent1"/>
                </a:solidFill>
              </a:rPr>
              <a:t>Mean vs. Median</a:t>
            </a:r>
            <a:endParaRPr>
              <a:solidFill>
                <a:schemeClr val="accent1"/>
              </a:solidFill>
            </a:endParaRPr>
          </a:p>
        </p:txBody>
      </p:sp>
      <p:pic>
        <p:nvPicPr>
          <p:cNvPr id="438" name="Google Shape;438;p60"/>
          <p:cNvPicPr preferRelativeResize="0"/>
          <p:nvPr/>
        </p:nvPicPr>
        <p:blipFill>
          <a:blip r:embed="rId3">
            <a:alphaModFix/>
          </a:blip>
          <a:stretch>
            <a:fillRect/>
          </a:stretch>
        </p:blipFill>
        <p:spPr>
          <a:xfrm>
            <a:off x="3157525" y="1836647"/>
            <a:ext cx="2302675" cy="1384475"/>
          </a:xfrm>
          <a:prstGeom prst="rect">
            <a:avLst/>
          </a:prstGeom>
          <a:noFill/>
          <a:ln>
            <a:noFill/>
          </a:ln>
        </p:spPr>
      </p:pic>
      <p:pic>
        <p:nvPicPr>
          <p:cNvPr id="439" name="Google Shape;439;p60"/>
          <p:cNvPicPr preferRelativeResize="0"/>
          <p:nvPr/>
        </p:nvPicPr>
        <p:blipFill>
          <a:blip r:embed="rId4">
            <a:alphaModFix/>
          </a:blip>
          <a:stretch>
            <a:fillRect/>
          </a:stretch>
        </p:blipFill>
        <p:spPr>
          <a:xfrm>
            <a:off x="1671524" y="4900625"/>
            <a:ext cx="5427075" cy="1635925"/>
          </a:xfrm>
          <a:prstGeom prst="rect">
            <a:avLst/>
          </a:prstGeom>
          <a:noFill/>
          <a:ln>
            <a:noFill/>
          </a:ln>
        </p:spPr>
      </p:pic>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443"/>
        <p:cNvGrpSpPr/>
        <p:nvPr/>
      </p:nvGrpSpPr>
      <p:grpSpPr>
        <a:xfrm>
          <a:off x="0" y="0"/>
          <a:ext cx="0" cy="0"/>
          <a:chOff x="0" y="0"/>
          <a:chExt cx="0" cy="0"/>
        </a:xfrm>
      </p:grpSpPr>
      <p:sp>
        <p:nvSpPr>
          <p:cNvPr id="444" name="Google Shape;444;p61"/>
          <p:cNvSpPr txBox="1">
            <a:spLocks noGrp="1"/>
          </p:cNvSpPr>
          <p:nvPr>
            <p:ph type="body" idx="1"/>
          </p:nvPr>
        </p:nvSpPr>
        <p:spPr>
          <a:xfrm>
            <a:off x="457200" y="1264450"/>
            <a:ext cx="8154000" cy="5223600"/>
          </a:xfrm>
          <a:prstGeom prst="rect">
            <a:avLst/>
          </a:prstGeom>
        </p:spPr>
        <p:txBody>
          <a:bodyPr spcFirstLastPara="1" wrap="square" lIns="91425" tIns="91425" rIns="91425" bIns="91425" anchor="t" anchorCtr="0">
            <a:noAutofit/>
          </a:bodyPr>
          <a:lstStyle/>
          <a:p>
            <a:pPr marL="0" lvl="0" indent="0" algn="l" rtl="0">
              <a:lnSpc>
                <a:spcPct val="115000"/>
              </a:lnSpc>
              <a:spcBef>
                <a:spcPts val="600"/>
              </a:spcBef>
              <a:spcAft>
                <a:spcPts val="0"/>
              </a:spcAft>
              <a:buNone/>
            </a:pPr>
            <a:r>
              <a:rPr lang="en" sz="1900">
                <a:solidFill>
                  <a:schemeClr val="accent1"/>
                </a:solidFill>
              </a:rPr>
              <a:t>Which is most likely true for the distribution of percentage of time actually spent taking notes in class versus on Facebook, Twitter, etc.?</a:t>
            </a:r>
            <a:endParaRPr sz="1900">
              <a:solidFill>
                <a:schemeClr val="accent1"/>
              </a:solidFill>
            </a:endParaRPr>
          </a:p>
          <a:p>
            <a:pPr marL="0" lvl="0" indent="0" algn="l" rtl="0">
              <a:lnSpc>
                <a:spcPct val="115000"/>
              </a:lnSpc>
              <a:spcBef>
                <a:spcPts val="600"/>
              </a:spcBef>
              <a:spcAft>
                <a:spcPts val="0"/>
              </a:spcAft>
              <a:buNone/>
            </a:pPr>
            <a:endParaRPr sz="1900">
              <a:solidFill>
                <a:srgbClr val="000000"/>
              </a:solidFill>
            </a:endParaRPr>
          </a:p>
          <a:p>
            <a:pPr marL="0" lvl="0" indent="0" algn="l" rtl="0">
              <a:lnSpc>
                <a:spcPct val="115000"/>
              </a:lnSpc>
              <a:spcBef>
                <a:spcPts val="600"/>
              </a:spcBef>
              <a:spcAft>
                <a:spcPts val="0"/>
              </a:spcAft>
              <a:buNone/>
            </a:pPr>
            <a:endParaRPr sz="1900">
              <a:solidFill>
                <a:srgbClr val="000000"/>
              </a:solidFill>
            </a:endParaRPr>
          </a:p>
          <a:p>
            <a:pPr marL="0" lvl="0" indent="0" algn="l" rtl="0">
              <a:lnSpc>
                <a:spcPct val="115000"/>
              </a:lnSpc>
              <a:spcBef>
                <a:spcPts val="600"/>
              </a:spcBef>
              <a:spcAft>
                <a:spcPts val="0"/>
              </a:spcAft>
              <a:buNone/>
            </a:pPr>
            <a:endParaRPr sz="1900">
              <a:solidFill>
                <a:srgbClr val="000000"/>
              </a:solidFill>
            </a:endParaRPr>
          </a:p>
          <a:p>
            <a:pPr marL="0" lvl="0" indent="0" algn="l" rtl="0">
              <a:lnSpc>
                <a:spcPct val="115000"/>
              </a:lnSpc>
              <a:spcBef>
                <a:spcPts val="600"/>
              </a:spcBef>
              <a:spcAft>
                <a:spcPts val="0"/>
              </a:spcAft>
              <a:buNone/>
            </a:pPr>
            <a:endParaRPr sz="1900">
              <a:solidFill>
                <a:srgbClr val="000000"/>
              </a:solidFill>
            </a:endParaRPr>
          </a:p>
          <a:p>
            <a:pPr marL="0" lvl="0" indent="0" algn="l" rtl="0">
              <a:lnSpc>
                <a:spcPct val="115000"/>
              </a:lnSpc>
              <a:spcBef>
                <a:spcPts val="600"/>
              </a:spcBef>
              <a:spcAft>
                <a:spcPts val="0"/>
              </a:spcAft>
              <a:buNone/>
            </a:pPr>
            <a:endParaRPr sz="1900">
              <a:solidFill>
                <a:srgbClr val="000000"/>
              </a:solidFill>
            </a:endParaRPr>
          </a:p>
          <a:p>
            <a:pPr marL="0" lvl="0" indent="0" algn="l" rtl="0">
              <a:lnSpc>
                <a:spcPct val="115000"/>
              </a:lnSpc>
              <a:spcBef>
                <a:spcPts val="600"/>
              </a:spcBef>
              <a:spcAft>
                <a:spcPts val="0"/>
              </a:spcAft>
              <a:buNone/>
            </a:pPr>
            <a:endParaRPr sz="1900">
              <a:solidFill>
                <a:srgbClr val="000000"/>
              </a:solidFill>
            </a:endParaRPr>
          </a:p>
          <a:p>
            <a:pPr marL="0" lvl="0" indent="0" algn="l" rtl="0">
              <a:lnSpc>
                <a:spcPct val="115000"/>
              </a:lnSpc>
              <a:spcBef>
                <a:spcPts val="600"/>
              </a:spcBef>
              <a:spcAft>
                <a:spcPts val="0"/>
              </a:spcAft>
              <a:buNone/>
            </a:pPr>
            <a:endParaRPr sz="1900">
              <a:solidFill>
                <a:srgbClr val="000000"/>
              </a:solidFill>
            </a:endParaRPr>
          </a:p>
          <a:p>
            <a:pPr marL="0" lvl="0" indent="0" algn="l" rtl="0">
              <a:lnSpc>
                <a:spcPct val="115000"/>
              </a:lnSpc>
              <a:spcBef>
                <a:spcPts val="600"/>
              </a:spcBef>
              <a:spcAft>
                <a:spcPts val="0"/>
              </a:spcAft>
              <a:buNone/>
            </a:pPr>
            <a:endParaRPr sz="1900">
              <a:solidFill>
                <a:srgbClr val="000000"/>
              </a:solidFill>
            </a:endParaRPr>
          </a:p>
          <a:p>
            <a:pPr marL="0" lvl="0" indent="0" algn="l" rtl="0">
              <a:lnSpc>
                <a:spcPct val="115000"/>
              </a:lnSpc>
              <a:spcBef>
                <a:spcPts val="600"/>
              </a:spcBef>
              <a:spcAft>
                <a:spcPts val="0"/>
              </a:spcAft>
              <a:buNone/>
            </a:pPr>
            <a:endParaRPr sz="1900">
              <a:solidFill>
                <a:srgbClr val="000000"/>
              </a:solidFill>
            </a:endParaRPr>
          </a:p>
          <a:p>
            <a:pPr marL="0" lvl="0" indent="0" algn="l" rtl="0">
              <a:lnSpc>
                <a:spcPct val="115000"/>
              </a:lnSpc>
              <a:spcBef>
                <a:spcPts val="600"/>
              </a:spcBef>
              <a:spcAft>
                <a:spcPts val="0"/>
              </a:spcAft>
              <a:buNone/>
            </a:pPr>
            <a:r>
              <a:rPr lang="en" sz="1900">
                <a:solidFill>
                  <a:srgbClr val="000000"/>
                </a:solidFill>
              </a:rPr>
              <a:t>(a) mean &gt; median			(b) mean ~ median</a:t>
            </a:r>
            <a:endParaRPr sz="1900">
              <a:solidFill>
                <a:srgbClr val="000000"/>
              </a:solidFill>
            </a:endParaRPr>
          </a:p>
          <a:p>
            <a:pPr marL="0" lvl="0" indent="0" algn="l" rtl="0">
              <a:lnSpc>
                <a:spcPct val="115000"/>
              </a:lnSpc>
              <a:spcBef>
                <a:spcPts val="600"/>
              </a:spcBef>
              <a:spcAft>
                <a:spcPts val="0"/>
              </a:spcAft>
              <a:buNone/>
            </a:pPr>
            <a:r>
              <a:rPr lang="en" sz="1900">
                <a:solidFill>
                  <a:srgbClr val="000000"/>
                </a:solidFill>
              </a:rPr>
              <a:t>(c) mean &lt; median			(d) impossible to tell</a:t>
            </a:r>
            <a:endParaRPr sz="1900">
              <a:solidFill>
                <a:srgbClr val="000000"/>
              </a:solidFill>
            </a:endParaRPr>
          </a:p>
        </p:txBody>
      </p:sp>
      <p:sp>
        <p:nvSpPr>
          <p:cNvPr id="445" name="Google Shape;445;p61"/>
          <p:cNvSpPr txBox="1">
            <a:spLocks noGrp="1"/>
          </p:cNvSpPr>
          <p:nvPr>
            <p:ph type="title"/>
          </p:nvPr>
        </p:nvSpPr>
        <p:spPr>
          <a:xfrm>
            <a:off x="457200" y="-12"/>
            <a:ext cx="8229600" cy="11430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solidFill>
                  <a:schemeClr val="accent1"/>
                </a:solidFill>
              </a:rPr>
              <a:t>Practice</a:t>
            </a:r>
            <a:endParaRPr>
              <a:solidFill>
                <a:schemeClr val="accent1"/>
              </a:solidFill>
            </a:endParaRPr>
          </a:p>
        </p:txBody>
      </p:sp>
      <p:pic>
        <p:nvPicPr>
          <p:cNvPr id="446" name="Google Shape;446;p61"/>
          <p:cNvPicPr preferRelativeResize="0"/>
          <p:nvPr/>
        </p:nvPicPr>
        <p:blipFill>
          <a:blip r:embed="rId3">
            <a:alphaModFix/>
          </a:blip>
          <a:stretch>
            <a:fillRect/>
          </a:stretch>
        </p:blipFill>
        <p:spPr>
          <a:xfrm>
            <a:off x="547700" y="2225598"/>
            <a:ext cx="5155425" cy="2979850"/>
          </a:xfrm>
          <a:prstGeom prst="rect">
            <a:avLst/>
          </a:prstGeom>
          <a:noFill/>
          <a:ln>
            <a:noFill/>
          </a:ln>
        </p:spPr>
      </p:pic>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450"/>
        <p:cNvGrpSpPr/>
        <p:nvPr/>
      </p:nvGrpSpPr>
      <p:grpSpPr>
        <a:xfrm>
          <a:off x="0" y="0"/>
          <a:ext cx="0" cy="0"/>
          <a:chOff x="0" y="0"/>
          <a:chExt cx="0" cy="0"/>
        </a:xfrm>
      </p:grpSpPr>
      <p:sp>
        <p:nvSpPr>
          <p:cNvPr id="451" name="Google Shape;451;p62"/>
          <p:cNvSpPr txBox="1">
            <a:spLocks noGrp="1"/>
          </p:cNvSpPr>
          <p:nvPr>
            <p:ph type="body" idx="1"/>
          </p:nvPr>
        </p:nvSpPr>
        <p:spPr>
          <a:xfrm>
            <a:off x="457200" y="1264450"/>
            <a:ext cx="8154000" cy="5223600"/>
          </a:xfrm>
          <a:prstGeom prst="rect">
            <a:avLst/>
          </a:prstGeom>
        </p:spPr>
        <p:txBody>
          <a:bodyPr spcFirstLastPara="1" wrap="square" lIns="91425" tIns="91425" rIns="91425" bIns="91425" anchor="t" anchorCtr="0">
            <a:noAutofit/>
          </a:bodyPr>
          <a:lstStyle/>
          <a:p>
            <a:pPr marL="0" lvl="0" indent="0" algn="l" rtl="0">
              <a:lnSpc>
                <a:spcPct val="115000"/>
              </a:lnSpc>
              <a:spcBef>
                <a:spcPts val="600"/>
              </a:spcBef>
              <a:spcAft>
                <a:spcPts val="0"/>
              </a:spcAft>
              <a:buNone/>
            </a:pPr>
            <a:r>
              <a:rPr lang="en" sz="1900">
                <a:solidFill>
                  <a:schemeClr val="accent1"/>
                </a:solidFill>
              </a:rPr>
              <a:t>Which is most likely true for the distribution of percentage of time actually spent taking notes in class versus on Facebook, Twitter, etc.?</a:t>
            </a:r>
            <a:endParaRPr sz="1900">
              <a:solidFill>
                <a:schemeClr val="accent1"/>
              </a:solidFill>
            </a:endParaRPr>
          </a:p>
          <a:p>
            <a:pPr marL="0" lvl="0" indent="0" algn="l" rtl="0">
              <a:lnSpc>
                <a:spcPct val="115000"/>
              </a:lnSpc>
              <a:spcBef>
                <a:spcPts val="600"/>
              </a:spcBef>
              <a:spcAft>
                <a:spcPts val="0"/>
              </a:spcAft>
              <a:buNone/>
            </a:pPr>
            <a:endParaRPr sz="1900">
              <a:solidFill>
                <a:srgbClr val="000000"/>
              </a:solidFill>
            </a:endParaRPr>
          </a:p>
          <a:p>
            <a:pPr marL="0" lvl="0" indent="0" algn="l" rtl="0">
              <a:lnSpc>
                <a:spcPct val="115000"/>
              </a:lnSpc>
              <a:spcBef>
                <a:spcPts val="600"/>
              </a:spcBef>
              <a:spcAft>
                <a:spcPts val="0"/>
              </a:spcAft>
              <a:buNone/>
            </a:pPr>
            <a:endParaRPr sz="1900">
              <a:solidFill>
                <a:srgbClr val="000000"/>
              </a:solidFill>
            </a:endParaRPr>
          </a:p>
          <a:p>
            <a:pPr marL="5486400" lvl="0" indent="0" algn="l" rtl="0">
              <a:lnSpc>
                <a:spcPct val="115000"/>
              </a:lnSpc>
              <a:spcBef>
                <a:spcPts val="600"/>
              </a:spcBef>
              <a:spcAft>
                <a:spcPts val="0"/>
              </a:spcAft>
              <a:buNone/>
            </a:pPr>
            <a:r>
              <a:rPr lang="en" sz="1900" i="1">
                <a:solidFill>
                  <a:srgbClr val="FF9900"/>
                </a:solidFill>
              </a:rPr>
              <a:t>median: 80%</a:t>
            </a:r>
            <a:endParaRPr sz="1900" i="1">
              <a:solidFill>
                <a:srgbClr val="FF9900"/>
              </a:solidFill>
            </a:endParaRPr>
          </a:p>
          <a:p>
            <a:pPr marL="5486400" lvl="0" indent="0" algn="l" rtl="0">
              <a:lnSpc>
                <a:spcPct val="115000"/>
              </a:lnSpc>
              <a:spcBef>
                <a:spcPts val="600"/>
              </a:spcBef>
              <a:spcAft>
                <a:spcPts val="0"/>
              </a:spcAft>
              <a:buNone/>
            </a:pPr>
            <a:r>
              <a:rPr lang="en" sz="1900" i="1">
                <a:solidFill>
                  <a:srgbClr val="FF9900"/>
                </a:solidFill>
              </a:rPr>
              <a:t>mean: 76%</a:t>
            </a:r>
            <a:endParaRPr sz="1900" i="1">
              <a:solidFill>
                <a:srgbClr val="FF9900"/>
              </a:solidFill>
            </a:endParaRPr>
          </a:p>
          <a:p>
            <a:pPr marL="0" lvl="0" indent="0" algn="l" rtl="0">
              <a:lnSpc>
                <a:spcPct val="115000"/>
              </a:lnSpc>
              <a:spcBef>
                <a:spcPts val="600"/>
              </a:spcBef>
              <a:spcAft>
                <a:spcPts val="0"/>
              </a:spcAft>
              <a:buNone/>
            </a:pPr>
            <a:endParaRPr sz="1900">
              <a:solidFill>
                <a:srgbClr val="000000"/>
              </a:solidFill>
            </a:endParaRPr>
          </a:p>
          <a:p>
            <a:pPr marL="0" lvl="0" indent="0" algn="l" rtl="0">
              <a:lnSpc>
                <a:spcPct val="115000"/>
              </a:lnSpc>
              <a:spcBef>
                <a:spcPts val="600"/>
              </a:spcBef>
              <a:spcAft>
                <a:spcPts val="0"/>
              </a:spcAft>
              <a:buNone/>
            </a:pPr>
            <a:endParaRPr sz="1900">
              <a:solidFill>
                <a:srgbClr val="000000"/>
              </a:solidFill>
            </a:endParaRPr>
          </a:p>
          <a:p>
            <a:pPr marL="0" lvl="0" indent="0" algn="l" rtl="0">
              <a:lnSpc>
                <a:spcPct val="115000"/>
              </a:lnSpc>
              <a:spcBef>
                <a:spcPts val="600"/>
              </a:spcBef>
              <a:spcAft>
                <a:spcPts val="0"/>
              </a:spcAft>
              <a:buNone/>
            </a:pPr>
            <a:endParaRPr sz="1900">
              <a:solidFill>
                <a:srgbClr val="000000"/>
              </a:solidFill>
            </a:endParaRPr>
          </a:p>
          <a:p>
            <a:pPr marL="0" lvl="0" indent="0" algn="l" rtl="0">
              <a:lnSpc>
                <a:spcPct val="115000"/>
              </a:lnSpc>
              <a:spcBef>
                <a:spcPts val="600"/>
              </a:spcBef>
              <a:spcAft>
                <a:spcPts val="0"/>
              </a:spcAft>
              <a:buNone/>
            </a:pPr>
            <a:endParaRPr sz="1900">
              <a:solidFill>
                <a:srgbClr val="000000"/>
              </a:solidFill>
            </a:endParaRPr>
          </a:p>
          <a:p>
            <a:pPr marL="0" lvl="0" indent="0" algn="l" rtl="0">
              <a:lnSpc>
                <a:spcPct val="115000"/>
              </a:lnSpc>
              <a:spcBef>
                <a:spcPts val="600"/>
              </a:spcBef>
              <a:spcAft>
                <a:spcPts val="0"/>
              </a:spcAft>
              <a:buNone/>
            </a:pPr>
            <a:endParaRPr sz="1900">
              <a:solidFill>
                <a:srgbClr val="000000"/>
              </a:solidFill>
            </a:endParaRPr>
          </a:p>
          <a:p>
            <a:pPr marL="0" lvl="0" indent="0" algn="l" rtl="0">
              <a:lnSpc>
                <a:spcPct val="115000"/>
              </a:lnSpc>
              <a:spcBef>
                <a:spcPts val="600"/>
              </a:spcBef>
              <a:spcAft>
                <a:spcPts val="0"/>
              </a:spcAft>
              <a:buNone/>
            </a:pPr>
            <a:r>
              <a:rPr lang="en" sz="1900">
                <a:solidFill>
                  <a:srgbClr val="000000"/>
                </a:solidFill>
              </a:rPr>
              <a:t>(a) mean &gt; median			(b) mean ~ median</a:t>
            </a:r>
            <a:endParaRPr sz="1900">
              <a:solidFill>
                <a:srgbClr val="000000"/>
              </a:solidFill>
            </a:endParaRPr>
          </a:p>
          <a:p>
            <a:pPr marL="0" lvl="0" indent="0" algn="l" rtl="0">
              <a:lnSpc>
                <a:spcPct val="115000"/>
              </a:lnSpc>
              <a:spcBef>
                <a:spcPts val="600"/>
              </a:spcBef>
              <a:spcAft>
                <a:spcPts val="0"/>
              </a:spcAft>
              <a:buNone/>
            </a:pPr>
            <a:r>
              <a:rPr lang="en" sz="1900" i="1">
                <a:solidFill>
                  <a:srgbClr val="FF9900"/>
                </a:solidFill>
              </a:rPr>
              <a:t>(c) mean &lt; median</a:t>
            </a:r>
            <a:r>
              <a:rPr lang="en" sz="1900">
                <a:solidFill>
                  <a:srgbClr val="FF9900"/>
                </a:solidFill>
              </a:rPr>
              <a:t>	</a:t>
            </a:r>
            <a:r>
              <a:rPr lang="en" sz="1900">
                <a:solidFill>
                  <a:srgbClr val="000000"/>
                </a:solidFill>
              </a:rPr>
              <a:t>		(d) impossible to tell</a:t>
            </a:r>
            <a:endParaRPr sz="1900">
              <a:solidFill>
                <a:srgbClr val="000000"/>
              </a:solidFill>
            </a:endParaRPr>
          </a:p>
        </p:txBody>
      </p:sp>
      <p:sp>
        <p:nvSpPr>
          <p:cNvPr id="452" name="Google Shape;452;p62"/>
          <p:cNvSpPr txBox="1">
            <a:spLocks noGrp="1"/>
          </p:cNvSpPr>
          <p:nvPr>
            <p:ph type="title"/>
          </p:nvPr>
        </p:nvSpPr>
        <p:spPr>
          <a:xfrm>
            <a:off x="457200" y="-12"/>
            <a:ext cx="8229600" cy="11430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solidFill>
                  <a:schemeClr val="accent1"/>
                </a:solidFill>
              </a:rPr>
              <a:t>Practice</a:t>
            </a:r>
            <a:endParaRPr>
              <a:solidFill>
                <a:schemeClr val="accent1"/>
              </a:solidFill>
            </a:endParaRPr>
          </a:p>
        </p:txBody>
      </p:sp>
      <p:pic>
        <p:nvPicPr>
          <p:cNvPr id="453" name="Google Shape;453;p62"/>
          <p:cNvPicPr preferRelativeResize="0"/>
          <p:nvPr/>
        </p:nvPicPr>
        <p:blipFill>
          <a:blip r:embed="rId3">
            <a:alphaModFix/>
          </a:blip>
          <a:stretch>
            <a:fillRect/>
          </a:stretch>
        </p:blipFill>
        <p:spPr>
          <a:xfrm>
            <a:off x="547700" y="2225598"/>
            <a:ext cx="5155425" cy="2979850"/>
          </a:xfrm>
          <a:prstGeom prst="rect">
            <a:avLst/>
          </a:prstGeom>
          <a:noFill/>
          <a:ln>
            <a:noFill/>
          </a:ln>
        </p:spPr>
      </p:pic>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463"/>
        <p:cNvGrpSpPr/>
        <p:nvPr/>
      </p:nvGrpSpPr>
      <p:grpSpPr>
        <a:xfrm>
          <a:off x="0" y="0"/>
          <a:ext cx="0" cy="0"/>
          <a:chOff x="0" y="0"/>
          <a:chExt cx="0" cy="0"/>
        </a:xfrm>
      </p:grpSpPr>
      <p:sp>
        <p:nvSpPr>
          <p:cNvPr id="464" name="Google Shape;464;p64"/>
          <p:cNvSpPr txBox="1">
            <a:spLocks noGrp="1"/>
          </p:cNvSpPr>
          <p:nvPr>
            <p:ph type="body" idx="1"/>
          </p:nvPr>
        </p:nvSpPr>
        <p:spPr>
          <a:xfrm>
            <a:off x="457200" y="1264450"/>
            <a:ext cx="8154000" cy="858900"/>
          </a:xfrm>
          <a:prstGeom prst="rect">
            <a:avLst/>
          </a:prstGeom>
        </p:spPr>
        <p:txBody>
          <a:bodyPr spcFirstLastPara="1" wrap="square" lIns="91425" tIns="91425" rIns="91425" bIns="91425" anchor="t" anchorCtr="0">
            <a:noAutofit/>
          </a:bodyPr>
          <a:lstStyle/>
          <a:p>
            <a:pPr marL="0" lvl="0" indent="0" algn="l" rtl="0">
              <a:lnSpc>
                <a:spcPct val="115000"/>
              </a:lnSpc>
              <a:spcBef>
                <a:spcPts val="600"/>
              </a:spcBef>
              <a:spcAft>
                <a:spcPts val="0"/>
              </a:spcAft>
              <a:buNone/>
            </a:pPr>
            <a:r>
              <a:rPr lang="en" sz="1900">
                <a:solidFill>
                  <a:srgbClr val="000000"/>
                </a:solidFill>
              </a:rPr>
              <a:t>When data are extremely skewed, transforming them might make modeling easier. A common transformation is the </a:t>
            </a:r>
            <a:r>
              <a:rPr lang="en" sz="1900">
                <a:solidFill>
                  <a:schemeClr val="accent1"/>
                </a:solidFill>
              </a:rPr>
              <a:t>log transformation</a:t>
            </a:r>
            <a:r>
              <a:rPr lang="en" sz="1900">
                <a:solidFill>
                  <a:srgbClr val="000000"/>
                </a:solidFill>
              </a:rPr>
              <a:t>.</a:t>
            </a:r>
            <a:endParaRPr sz="1900">
              <a:solidFill>
                <a:srgbClr val="000000"/>
              </a:solidFill>
            </a:endParaRPr>
          </a:p>
        </p:txBody>
      </p:sp>
      <p:sp>
        <p:nvSpPr>
          <p:cNvPr id="465" name="Google Shape;465;p64"/>
          <p:cNvSpPr txBox="1">
            <a:spLocks noGrp="1"/>
          </p:cNvSpPr>
          <p:nvPr>
            <p:ph type="title"/>
          </p:nvPr>
        </p:nvSpPr>
        <p:spPr>
          <a:xfrm>
            <a:off x="457200" y="-12"/>
            <a:ext cx="8229600" cy="11430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solidFill>
                  <a:schemeClr val="accent1"/>
                </a:solidFill>
              </a:rPr>
              <a:t>Extremely Skewed Data</a:t>
            </a:r>
            <a:endParaRPr>
              <a:solidFill>
                <a:schemeClr val="accent1"/>
              </a:solidFill>
            </a:endParaRPr>
          </a:p>
        </p:txBody>
      </p:sp>
      <p:sp>
        <p:nvSpPr>
          <p:cNvPr id="466" name="Google Shape;466;p64"/>
          <p:cNvSpPr txBox="1">
            <a:spLocks noGrp="1"/>
          </p:cNvSpPr>
          <p:nvPr>
            <p:ph type="body" idx="1"/>
          </p:nvPr>
        </p:nvSpPr>
        <p:spPr>
          <a:xfrm>
            <a:off x="419400" y="2244800"/>
            <a:ext cx="8229600" cy="858900"/>
          </a:xfrm>
          <a:prstGeom prst="rect">
            <a:avLst/>
          </a:prstGeom>
        </p:spPr>
        <p:txBody>
          <a:bodyPr spcFirstLastPara="1" wrap="square" lIns="91425" tIns="91425" rIns="91425" bIns="91425" anchor="t" anchorCtr="0">
            <a:noAutofit/>
          </a:bodyPr>
          <a:lstStyle/>
          <a:p>
            <a:pPr marL="0" lvl="0" indent="0" algn="l" rtl="0">
              <a:lnSpc>
                <a:spcPct val="115000"/>
              </a:lnSpc>
              <a:spcBef>
                <a:spcPts val="600"/>
              </a:spcBef>
              <a:spcAft>
                <a:spcPts val="0"/>
              </a:spcAft>
              <a:buNone/>
            </a:pPr>
            <a:r>
              <a:rPr lang="en" sz="1900">
                <a:solidFill>
                  <a:srgbClr val="000000"/>
                </a:solidFill>
              </a:rPr>
              <a:t>The histograms on the left shows the distribution of number of basketball games attended by students. The histogram on the right shows the distribution of log of number of games attended.</a:t>
            </a:r>
            <a:endParaRPr sz="1900">
              <a:solidFill>
                <a:srgbClr val="000000"/>
              </a:solidFill>
            </a:endParaRPr>
          </a:p>
        </p:txBody>
      </p:sp>
      <p:pic>
        <p:nvPicPr>
          <p:cNvPr id="467" name="Google Shape;467;p64"/>
          <p:cNvPicPr preferRelativeResize="0"/>
          <p:nvPr/>
        </p:nvPicPr>
        <p:blipFill>
          <a:blip r:embed="rId3">
            <a:alphaModFix/>
          </a:blip>
          <a:stretch>
            <a:fillRect/>
          </a:stretch>
        </p:blipFill>
        <p:spPr>
          <a:xfrm>
            <a:off x="515838" y="3691125"/>
            <a:ext cx="8036726" cy="2310975"/>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66"/>
                                        </p:tgtEl>
                                        <p:attrNameLst>
                                          <p:attrName>style.visibility</p:attrName>
                                        </p:attrNameLst>
                                      </p:cBhvr>
                                      <p:to>
                                        <p:strVal val="visible"/>
                                      </p:to>
                                    </p:set>
                                    <p:animEffect transition="in" filter="fade">
                                      <p:cBhvr>
                                        <p:cTn id="7" dur="1000"/>
                                        <p:tgtEl>
                                          <p:spTgt spid="466"/>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467"/>
                                        </p:tgtEl>
                                        <p:attrNameLst>
                                          <p:attrName>style.visibility</p:attrName>
                                        </p:attrNameLst>
                                      </p:cBhvr>
                                      <p:to>
                                        <p:strVal val="visible"/>
                                      </p:to>
                                    </p:set>
                                    <p:animEffect transition="in" filter="fade">
                                      <p:cBhvr>
                                        <p:cTn id="12" dur="1000"/>
                                        <p:tgtEl>
                                          <p:spTgt spid="46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Shape 484"/>
        <p:cNvGrpSpPr/>
        <p:nvPr/>
      </p:nvGrpSpPr>
      <p:grpSpPr>
        <a:xfrm>
          <a:off x="0" y="0"/>
          <a:ext cx="0" cy="0"/>
          <a:chOff x="0" y="0"/>
          <a:chExt cx="0" cy="0"/>
        </a:xfrm>
      </p:grpSpPr>
      <p:sp>
        <p:nvSpPr>
          <p:cNvPr id="485" name="Google Shape;485;p67"/>
          <p:cNvSpPr txBox="1">
            <a:spLocks noGrp="1"/>
          </p:cNvSpPr>
          <p:nvPr>
            <p:ph type="body" idx="1"/>
          </p:nvPr>
        </p:nvSpPr>
        <p:spPr>
          <a:xfrm>
            <a:off x="457200" y="1264450"/>
            <a:ext cx="8154000" cy="858900"/>
          </a:xfrm>
          <a:prstGeom prst="rect">
            <a:avLst/>
          </a:prstGeom>
        </p:spPr>
        <p:txBody>
          <a:bodyPr spcFirstLastPara="1" wrap="square" lIns="91425" tIns="91425" rIns="91425" bIns="91425" anchor="t" anchorCtr="0">
            <a:noAutofit/>
          </a:bodyPr>
          <a:lstStyle/>
          <a:p>
            <a:pPr marL="457200" lvl="0" indent="-349250" algn="l" rtl="0">
              <a:lnSpc>
                <a:spcPct val="115000"/>
              </a:lnSpc>
              <a:spcBef>
                <a:spcPts val="600"/>
              </a:spcBef>
              <a:spcAft>
                <a:spcPts val="0"/>
              </a:spcAft>
              <a:buClr>
                <a:srgbClr val="000000"/>
              </a:buClr>
              <a:buSzPts val="1900"/>
              <a:buChar char="●"/>
            </a:pPr>
            <a:r>
              <a:rPr lang="en" sz="1900">
                <a:solidFill>
                  <a:srgbClr val="000000"/>
                </a:solidFill>
              </a:rPr>
              <a:t>Skewed data are easier to model with when they are transformed because outliers tend to become far less prominent after an appropriate transformation.</a:t>
            </a:r>
            <a:endParaRPr sz="1900">
              <a:solidFill>
                <a:srgbClr val="000000"/>
              </a:solidFill>
            </a:endParaRPr>
          </a:p>
          <a:p>
            <a:pPr marL="0" lvl="0" indent="457200" algn="l" rtl="0">
              <a:lnSpc>
                <a:spcPct val="115000"/>
              </a:lnSpc>
              <a:spcBef>
                <a:spcPts val="1000"/>
              </a:spcBef>
              <a:spcAft>
                <a:spcPts val="0"/>
              </a:spcAft>
              <a:buClr>
                <a:srgbClr val="000000"/>
              </a:buClr>
              <a:buSzPts val="1100"/>
              <a:buFont typeface="Arial"/>
              <a:buNone/>
            </a:pPr>
            <a:r>
              <a:rPr lang="en" sz="1900">
                <a:solidFill>
                  <a:srgbClr val="000000"/>
                </a:solidFill>
              </a:rPr>
              <a:t># of games	70		50 		25 		…</a:t>
            </a:r>
            <a:endParaRPr sz="1900">
              <a:solidFill>
                <a:srgbClr val="000000"/>
              </a:solidFill>
            </a:endParaRPr>
          </a:p>
          <a:p>
            <a:pPr marL="0" lvl="0" indent="457200" algn="l" rtl="0">
              <a:lnSpc>
                <a:spcPct val="115000"/>
              </a:lnSpc>
              <a:spcBef>
                <a:spcPts val="600"/>
              </a:spcBef>
              <a:spcAft>
                <a:spcPts val="0"/>
              </a:spcAft>
              <a:buNone/>
            </a:pPr>
            <a:r>
              <a:rPr lang="en" sz="1900">
                <a:solidFill>
                  <a:srgbClr val="000000"/>
                </a:solidFill>
              </a:rPr>
              <a:t># of games	4.25	3.91 	3.22 	...</a:t>
            </a:r>
            <a:endParaRPr sz="1900">
              <a:solidFill>
                <a:srgbClr val="000000"/>
              </a:solidFill>
            </a:endParaRPr>
          </a:p>
          <a:p>
            <a:pPr marL="457200" lvl="0" indent="-349250" algn="l" rtl="0">
              <a:lnSpc>
                <a:spcPct val="115000"/>
              </a:lnSpc>
              <a:spcBef>
                <a:spcPts val="1000"/>
              </a:spcBef>
              <a:spcAft>
                <a:spcPts val="0"/>
              </a:spcAft>
              <a:buClr>
                <a:srgbClr val="000000"/>
              </a:buClr>
              <a:buSzPts val="1900"/>
              <a:buChar char="●"/>
            </a:pPr>
            <a:r>
              <a:rPr lang="en" sz="1900">
                <a:solidFill>
                  <a:srgbClr val="000000"/>
                </a:solidFill>
              </a:rPr>
              <a:t>However, results of an analysis might be difficult to interpret because the log of a measured variable is usually meaningless.</a:t>
            </a:r>
            <a:endParaRPr sz="1900">
              <a:solidFill>
                <a:srgbClr val="000000"/>
              </a:solidFill>
            </a:endParaRPr>
          </a:p>
        </p:txBody>
      </p:sp>
      <p:sp>
        <p:nvSpPr>
          <p:cNvPr id="486" name="Google Shape;486;p67"/>
          <p:cNvSpPr txBox="1">
            <a:spLocks noGrp="1"/>
          </p:cNvSpPr>
          <p:nvPr>
            <p:ph type="title"/>
          </p:nvPr>
        </p:nvSpPr>
        <p:spPr>
          <a:xfrm>
            <a:off x="457200" y="-12"/>
            <a:ext cx="8229600" cy="11430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solidFill>
                  <a:schemeClr val="accent1"/>
                </a:solidFill>
              </a:rPr>
              <a:t>Pros and Cons of Transformations</a:t>
            </a:r>
            <a:endParaRPr>
              <a:solidFill>
                <a:schemeClr val="accent1"/>
              </a:solidFill>
            </a:endParaRPr>
          </a:p>
        </p:txBody>
      </p:sp>
      <p:sp>
        <p:nvSpPr>
          <p:cNvPr id="487" name="Google Shape;487;p67"/>
          <p:cNvSpPr txBox="1">
            <a:spLocks noGrp="1"/>
          </p:cNvSpPr>
          <p:nvPr>
            <p:ph type="body" idx="1"/>
          </p:nvPr>
        </p:nvSpPr>
        <p:spPr>
          <a:xfrm>
            <a:off x="419400" y="4273625"/>
            <a:ext cx="8229600" cy="858900"/>
          </a:xfrm>
          <a:prstGeom prst="rect">
            <a:avLst/>
          </a:prstGeom>
        </p:spPr>
        <p:txBody>
          <a:bodyPr spcFirstLastPara="1" wrap="square" lIns="91425" tIns="91425" rIns="91425" bIns="91425" anchor="t" anchorCtr="0">
            <a:noAutofit/>
          </a:bodyPr>
          <a:lstStyle/>
          <a:p>
            <a:pPr marL="0" lvl="0" indent="0" algn="l" rtl="0">
              <a:lnSpc>
                <a:spcPct val="150000"/>
              </a:lnSpc>
              <a:spcBef>
                <a:spcPts val="600"/>
              </a:spcBef>
              <a:spcAft>
                <a:spcPts val="0"/>
              </a:spcAft>
              <a:buClr>
                <a:srgbClr val="000000"/>
              </a:buClr>
              <a:buSzPts val="1100"/>
              <a:buFont typeface="Arial"/>
              <a:buNone/>
            </a:pPr>
            <a:r>
              <a:rPr lang="en" sz="1900">
                <a:solidFill>
                  <a:schemeClr val="accent1"/>
                </a:solidFill>
              </a:rPr>
              <a:t>What other variables would you expect to be extremely skewed?</a:t>
            </a:r>
            <a:endParaRPr sz="1900">
              <a:solidFill>
                <a:schemeClr val="accent1"/>
              </a:solidFill>
            </a:endParaRPr>
          </a:p>
          <a:p>
            <a:pPr marL="0" lvl="0" indent="0" algn="l" rtl="0">
              <a:lnSpc>
                <a:spcPct val="115000"/>
              </a:lnSpc>
              <a:spcBef>
                <a:spcPts val="600"/>
              </a:spcBef>
              <a:spcAft>
                <a:spcPts val="0"/>
              </a:spcAft>
              <a:buClr>
                <a:srgbClr val="000000"/>
              </a:buClr>
              <a:buSzPts val="1100"/>
              <a:buFont typeface="Arial"/>
              <a:buNone/>
            </a:pPr>
            <a:r>
              <a:rPr lang="en" sz="1900" i="1">
                <a:solidFill>
                  <a:srgbClr val="FF9900"/>
                </a:solidFill>
              </a:rPr>
              <a:t>Salary, housing prices, etc.</a:t>
            </a:r>
            <a:endParaRPr sz="1900" i="1">
              <a:solidFill>
                <a:srgbClr val="FF9900"/>
              </a:solidFill>
            </a:endParaRPr>
          </a:p>
          <a:p>
            <a:pPr marL="0" lvl="0" indent="0" algn="l" rtl="0">
              <a:lnSpc>
                <a:spcPct val="115000"/>
              </a:lnSpc>
              <a:spcBef>
                <a:spcPts val="600"/>
              </a:spcBef>
              <a:spcAft>
                <a:spcPts val="0"/>
              </a:spcAft>
              <a:buNone/>
            </a:pPr>
            <a:endParaRPr sz="1900">
              <a:solidFill>
                <a:srgbClr val="000000"/>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87">
                                            <p:txEl>
                                              <p:pRg st="0" end="0"/>
                                            </p:txEl>
                                          </p:spTgt>
                                        </p:tgtEl>
                                        <p:attrNameLst>
                                          <p:attrName>style.visibility</p:attrName>
                                        </p:attrNameLst>
                                      </p:cBhvr>
                                      <p:to>
                                        <p:strVal val="visible"/>
                                      </p:to>
                                    </p:set>
                                    <p:animEffect transition="in" filter="fade">
                                      <p:cBhvr>
                                        <p:cTn id="7" dur="1000"/>
                                        <p:tgtEl>
                                          <p:spTgt spid="487">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487">
                                            <p:txEl>
                                              <p:pRg st="1" end="1"/>
                                            </p:txEl>
                                          </p:spTgt>
                                        </p:tgtEl>
                                        <p:attrNameLst>
                                          <p:attrName>style.visibility</p:attrName>
                                        </p:attrNameLst>
                                      </p:cBhvr>
                                      <p:to>
                                        <p:strVal val="visible"/>
                                      </p:to>
                                    </p:set>
                                    <p:animEffect transition="in" filter="fade">
                                      <p:cBhvr>
                                        <p:cTn id="12" dur="1000"/>
                                        <p:tgtEl>
                                          <p:spTgt spid="487">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487">
                                            <p:txEl>
                                              <p:pRg st="2" end="2"/>
                                            </p:txEl>
                                          </p:spTgt>
                                        </p:tgtEl>
                                        <p:attrNameLst>
                                          <p:attrName>style.visibility</p:attrName>
                                        </p:attrNameLst>
                                      </p:cBhvr>
                                      <p:to>
                                        <p:strVal val="visible"/>
                                      </p:to>
                                    </p:set>
                                    <p:animEffect transition="in" filter="fade">
                                      <p:cBhvr>
                                        <p:cTn id="17" dur="1000"/>
                                        <p:tgtEl>
                                          <p:spTgt spid="487">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Shape 491"/>
        <p:cNvGrpSpPr/>
        <p:nvPr/>
      </p:nvGrpSpPr>
      <p:grpSpPr>
        <a:xfrm>
          <a:off x="0" y="0"/>
          <a:ext cx="0" cy="0"/>
          <a:chOff x="0" y="0"/>
          <a:chExt cx="0" cy="0"/>
        </a:xfrm>
      </p:grpSpPr>
      <p:sp>
        <p:nvSpPr>
          <p:cNvPr id="492" name="Google Shape;492;p68"/>
          <p:cNvSpPr txBox="1">
            <a:spLocks noGrp="1"/>
          </p:cNvSpPr>
          <p:nvPr>
            <p:ph type="body" idx="1"/>
          </p:nvPr>
        </p:nvSpPr>
        <p:spPr>
          <a:xfrm>
            <a:off x="457200" y="1264450"/>
            <a:ext cx="8154000" cy="858900"/>
          </a:xfrm>
          <a:prstGeom prst="rect">
            <a:avLst/>
          </a:prstGeom>
        </p:spPr>
        <p:txBody>
          <a:bodyPr spcFirstLastPara="1" wrap="square" lIns="91425" tIns="91425" rIns="91425" bIns="91425" anchor="t" anchorCtr="0">
            <a:noAutofit/>
          </a:bodyPr>
          <a:lstStyle/>
          <a:p>
            <a:pPr marL="0" lvl="0" indent="0" algn="l" rtl="0">
              <a:lnSpc>
                <a:spcPct val="115000"/>
              </a:lnSpc>
              <a:spcBef>
                <a:spcPts val="600"/>
              </a:spcBef>
              <a:spcAft>
                <a:spcPts val="0"/>
              </a:spcAft>
              <a:buNone/>
            </a:pPr>
            <a:r>
              <a:rPr lang="en" sz="2100">
                <a:solidFill>
                  <a:srgbClr val="000000"/>
                </a:solidFill>
              </a:rPr>
              <a:t>What patterns are apparent in the change in population between 2000 and 2010?</a:t>
            </a:r>
            <a:endParaRPr sz="2100">
              <a:solidFill>
                <a:srgbClr val="000000"/>
              </a:solidFill>
            </a:endParaRPr>
          </a:p>
          <a:p>
            <a:pPr marL="0" lvl="0" indent="0" algn="l" rtl="0">
              <a:lnSpc>
                <a:spcPct val="115000"/>
              </a:lnSpc>
              <a:spcBef>
                <a:spcPts val="600"/>
              </a:spcBef>
              <a:spcAft>
                <a:spcPts val="0"/>
              </a:spcAft>
              <a:buNone/>
            </a:pPr>
            <a:endParaRPr sz="2100">
              <a:solidFill>
                <a:srgbClr val="000000"/>
              </a:solidFill>
            </a:endParaRPr>
          </a:p>
          <a:p>
            <a:pPr marL="0" lvl="0" indent="0" algn="l" rtl="0">
              <a:lnSpc>
                <a:spcPct val="115000"/>
              </a:lnSpc>
              <a:spcBef>
                <a:spcPts val="600"/>
              </a:spcBef>
              <a:spcAft>
                <a:spcPts val="0"/>
              </a:spcAft>
              <a:buNone/>
            </a:pPr>
            <a:endParaRPr sz="2100">
              <a:solidFill>
                <a:srgbClr val="000000"/>
              </a:solidFill>
            </a:endParaRPr>
          </a:p>
          <a:p>
            <a:pPr marL="0" lvl="0" indent="0" algn="l" rtl="0">
              <a:lnSpc>
                <a:spcPct val="115000"/>
              </a:lnSpc>
              <a:spcBef>
                <a:spcPts val="600"/>
              </a:spcBef>
              <a:spcAft>
                <a:spcPts val="0"/>
              </a:spcAft>
              <a:buNone/>
            </a:pPr>
            <a:endParaRPr sz="2100">
              <a:solidFill>
                <a:srgbClr val="000000"/>
              </a:solidFill>
            </a:endParaRPr>
          </a:p>
          <a:p>
            <a:pPr marL="0" lvl="0" indent="0" algn="l" rtl="0">
              <a:lnSpc>
                <a:spcPct val="115000"/>
              </a:lnSpc>
              <a:spcBef>
                <a:spcPts val="600"/>
              </a:spcBef>
              <a:spcAft>
                <a:spcPts val="0"/>
              </a:spcAft>
              <a:buNone/>
            </a:pPr>
            <a:endParaRPr sz="2100">
              <a:solidFill>
                <a:srgbClr val="000000"/>
              </a:solidFill>
            </a:endParaRPr>
          </a:p>
          <a:p>
            <a:pPr marL="0" lvl="0" indent="0" algn="l" rtl="0">
              <a:lnSpc>
                <a:spcPct val="115000"/>
              </a:lnSpc>
              <a:spcBef>
                <a:spcPts val="600"/>
              </a:spcBef>
              <a:spcAft>
                <a:spcPts val="0"/>
              </a:spcAft>
              <a:buNone/>
            </a:pPr>
            <a:endParaRPr sz="2100">
              <a:solidFill>
                <a:srgbClr val="000000"/>
              </a:solidFill>
            </a:endParaRPr>
          </a:p>
          <a:p>
            <a:pPr marL="0" lvl="0" indent="0" algn="l" rtl="0">
              <a:lnSpc>
                <a:spcPct val="115000"/>
              </a:lnSpc>
              <a:spcBef>
                <a:spcPts val="600"/>
              </a:spcBef>
              <a:spcAft>
                <a:spcPts val="0"/>
              </a:spcAft>
              <a:buNone/>
            </a:pPr>
            <a:endParaRPr sz="2100">
              <a:solidFill>
                <a:srgbClr val="000000"/>
              </a:solidFill>
            </a:endParaRPr>
          </a:p>
          <a:p>
            <a:pPr marL="0" lvl="0" indent="0" algn="l" rtl="0">
              <a:lnSpc>
                <a:spcPct val="115000"/>
              </a:lnSpc>
              <a:spcBef>
                <a:spcPts val="600"/>
              </a:spcBef>
              <a:spcAft>
                <a:spcPts val="0"/>
              </a:spcAft>
              <a:buNone/>
            </a:pPr>
            <a:endParaRPr sz="2100">
              <a:solidFill>
                <a:srgbClr val="000000"/>
              </a:solidFill>
            </a:endParaRPr>
          </a:p>
          <a:p>
            <a:pPr marL="0" lvl="0" indent="0" algn="l" rtl="0">
              <a:lnSpc>
                <a:spcPct val="115000"/>
              </a:lnSpc>
              <a:spcBef>
                <a:spcPts val="600"/>
              </a:spcBef>
              <a:spcAft>
                <a:spcPts val="0"/>
              </a:spcAft>
              <a:buNone/>
            </a:pPr>
            <a:endParaRPr sz="2100">
              <a:solidFill>
                <a:srgbClr val="000000"/>
              </a:solidFill>
            </a:endParaRPr>
          </a:p>
          <a:p>
            <a:pPr marL="0" lvl="0" indent="0" algn="l" rtl="0">
              <a:lnSpc>
                <a:spcPct val="115000"/>
              </a:lnSpc>
              <a:spcBef>
                <a:spcPts val="600"/>
              </a:spcBef>
              <a:spcAft>
                <a:spcPts val="0"/>
              </a:spcAft>
              <a:buNone/>
            </a:pPr>
            <a:endParaRPr sz="2100">
              <a:solidFill>
                <a:srgbClr val="000000"/>
              </a:solidFill>
            </a:endParaRPr>
          </a:p>
          <a:p>
            <a:pPr marL="0" lvl="0" indent="0" algn="l" rtl="0">
              <a:lnSpc>
                <a:spcPct val="115000"/>
              </a:lnSpc>
              <a:spcBef>
                <a:spcPts val="600"/>
              </a:spcBef>
              <a:spcAft>
                <a:spcPts val="0"/>
              </a:spcAft>
              <a:buNone/>
            </a:pPr>
            <a:r>
              <a:rPr lang="en" sz="2100" i="1">
                <a:solidFill>
                  <a:srgbClr val="000000"/>
                </a:solidFill>
              </a:rPr>
              <a:t>http://projects.nytimes.com/census/2010/map</a:t>
            </a:r>
            <a:endParaRPr sz="2100" i="1">
              <a:solidFill>
                <a:srgbClr val="000000"/>
              </a:solidFill>
            </a:endParaRPr>
          </a:p>
        </p:txBody>
      </p:sp>
      <p:sp>
        <p:nvSpPr>
          <p:cNvPr id="493" name="Google Shape;493;p68"/>
          <p:cNvSpPr txBox="1">
            <a:spLocks noGrp="1"/>
          </p:cNvSpPr>
          <p:nvPr>
            <p:ph type="title"/>
          </p:nvPr>
        </p:nvSpPr>
        <p:spPr>
          <a:xfrm>
            <a:off x="457200" y="-12"/>
            <a:ext cx="8229600" cy="11430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solidFill>
                  <a:schemeClr val="accent1"/>
                </a:solidFill>
              </a:rPr>
              <a:t>Intensity Maps</a:t>
            </a:r>
            <a:endParaRPr>
              <a:solidFill>
                <a:schemeClr val="accent1"/>
              </a:solidFill>
            </a:endParaRPr>
          </a:p>
        </p:txBody>
      </p:sp>
      <p:pic>
        <p:nvPicPr>
          <p:cNvPr id="494" name="Google Shape;494;p68"/>
          <p:cNvPicPr preferRelativeResize="0"/>
          <p:nvPr/>
        </p:nvPicPr>
        <p:blipFill>
          <a:blip r:embed="rId3">
            <a:alphaModFix/>
          </a:blip>
          <a:stretch>
            <a:fillRect/>
          </a:stretch>
        </p:blipFill>
        <p:spPr>
          <a:xfrm>
            <a:off x="528650" y="2244800"/>
            <a:ext cx="7793850" cy="3472650"/>
          </a:xfrm>
          <a:prstGeom prst="rect">
            <a:avLst/>
          </a:prstGeom>
          <a:noFill/>
          <a:ln>
            <a:noFill/>
          </a:ln>
        </p:spPr>
      </p:pic>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Shape 32"/>
        <p:cNvGrpSpPr/>
        <p:nvPr/>
      </p:nvGrpSpPr>
      <p:grpSpPr>
        <a:xfrm>
          <a:off x="0" y="0"/>
          <a:ext cx="0" cy="0"/>
          <a:chOff x="0" y="0"/>
          <a:chExt cx="0" cy="0"/>
        </a:xfrm>
      </p:grpSpPr>
      <p:sp>
        <p:nvSpPr>
          <p:cNvPr id="33" name="Google Shape;33;p9"/>
          <p:cNvSpPr txBox="1">
            <a:spLocks noGrp="1"/>
          </p:cNvSpPr>
          <p:nvPr>
            <p:ph type="ctrTitle"/>
          </p:nvPr>
        </p:nvSpPr>
        <p:spPr>
          <a:xfrm>
            <a:off x="685800" y="2111126"/>
            <a:ext cx="7772400" cy="22818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solidFill>
                  <a:schemeClr val="accent1"/>
                </a:solidFill>
              </a:rPr>
              <a:t>Considering</a:t>
            </a:r>
            <a:endParaRPr>
              <a:solidFill>
                <a:schemeClr val="accent1"/>
              </a:solidFill>
            </a:endParaRPr>
          </a:p>
          <a:p>
            <a:pPr marL="0" lvl="0" indent="0" algn="l" rtl="0">
              <a:spcBef>
                <a:spcPts val="0"/>
              </a:spcBef>
              <a:spcAft>
                <a:spcPts val="0"/>
              </a:spcAft>
              <a:buNone/>
            </a:pPr>
            <a:r>
              <a:rPr lang="en">
                <a:solidFill>
                  <a:schemeClr val="accent1"/>
                </a:solidFill>
              </a:rPr>
              <a:t>Categorical Data</a:t>
            </a:r>
            <a:endParaRPr>
              <a:solidFill>
                <a:schemeClr val="accent1"/>
              </a:solidFill>
            </a:endParaRPr>
          </a:p>
          <a:p>
            <a:pPr marL="0" lvl="0" indent="0" algn="l" rtl="0">
              <a:spcBef>
                <a:spcPts val="0"/>
              </a:spcBef>
              <a:spcAft>
                <a:spcPts val="0"/>
              </a:spcAft>
              <a:buNone/>
            </a:pPr>
            <a:endParaRPr>
              <a:solidFill>
                <a:schemeClr val="accent1"/>
              </a:solidFill>
            </a:endParaRP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Shape 43"/>
        <p:cNvGrpSpPr/>
        <p:nvPr/>
      </p:nvGrpSpPr>
      <p:grpSpPr>
        <a:xfrm>
          <a:off x="0" y="0"/>
          <a:ext cx="0" cy="0"/>
          <a:chOff x="0" y="0"/>
          <a:chExt cx="0" cy="0"/>
        </a:xfrm>
      </p:grpSpPr>
      <p:sp>
        <p:nvSpPr>
          <p:cNvPr id="44" name="Google Shape;44;p11"/>
          <p:cNvSpPr txBox="1">
            <a:spLocks noGrp="1"/>
          </p:cNvSpPr>
          <p:nvPr>
            <p:ph type="body" idx="1"/>
          </p:nvPr>
        </p:nvSpPr>
        <p:spPr>
          <a:xfrm>
            <a:off x="457200" y="1264450"/>
            <a:ext cx="8154000" cy="858900"/>
          </a:xfrm>
          <a:prstGeom prst="rect">
            <a:avLst/>
          </a:prstGeom>
        </p:spPr>
        <p:txBody>
          <a:bodyPr spcFirstLastPara="1" wrap="square" lIns="91425" tIns="91425" rIns="91425" bIns="91425" anchor="t" anchorCtr="0">
            <a:noAutofit/>
          </a:bodyPr>
          <a:lstStyle/>
          <a:p>
            <a:pPr marL="0" lvl="0" indent="0" algn="l" rtl="0">
              <a:lnSpc>
                <a:spcPct val="115000"/>
              </a:lnSpc>
              <a:spcBef>
                <a:spcPts val="600"/>
              </a:spcBef>
              <a:spcAft>
                <a:spcPts val="0"/>
              </a:spcAft>
              <a:buNone/>
            </a:pPr>
            <a:r>
              <a:rPr lang="en" sz="1900" dirty="0">
                <a:solidFill>
                  <a:srgbClr val="000000"/>
                </a:solidFill>
              </a:rPr>
              <a:t>A table that summarizes data for two categorical variables is called a </a:t>
            </a:r>
            <a:r>
              <a:rPr lang="en" sz="1900" i="1" dirty="0">
                <a:solidFill>
                  <a:schemeClr val="accent1"/>
                </a:solidFill>
              </a:rPr>
              <a:t>contingency table</a:t>
            </a:r>
            <a:r>
              <a:rPr lang="en" sz="1900" dirty="0">
                <a:solidFill>
                  <a:srgbClr val="000000"/>
                </a:solidFill>
              </a:rPr>
              <a:t>. A table for a single variable is called a frequency table.</a:t>
            </a:r>
            <a:endParaRPr sz="1900" dirty="0">
              <a:solidFill>
                <a:srgbClr val="000000"/>
              </a:solidFill>
            </a:endParaRPr>
          </a:p>
        </p:txBody>
      </p:sp>
      <p:sp>
        <p:nvSpPr>
          <p:cNvPr id="45" name="Google Shape;45;p11"/>
          <p:cNvSpPr txBox="1">
            <a:spLocks noGrp="1"/>
          </p:cNvSpPr>
          <p:nvPr>
            <p:ph type="title"/>
          </p:nvPr>
        </p:nvSpPr>
        <p:spPr>
          <a:xfrm>
            <a:off x="457200" y="-12"/>
            <a:ext cx="8229600" cy="11430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solidFill>
                  <a:schemeClr val="accent1"/>
                </a:solidFill>
              </a:rPr>
              <a:t>Contingency Tables</a:t>
            </a:r>
            <a:endParaRPr>
              <a:solidFill>
                <a:schemeClr val="accent1"/>
              </a:solidFill>
            </a:endParaRPr>
          </a:p>
        </p:txBody>
      </p:sp>
      <p:sp>
        <p:nvSpPr>
          <p:cNvPr id="46" name="Google Shape;46;p11"/>
          <p:cNvSpPr txBox="1">
            <a:spLocks noGrp="1"/>
          </p:cNvSpPr>
          <p:nvPr>
            <p:ph type="body" idx="1"/>
          </p:nvPr>
        </p:nvSpPr>
        <p:spPr>
          <a:xfrm>
            <a:off x="419400" y="2244800"/>
            <a:ext cx="8229600" cy="1259400"/>
          </a:xfrm>
          <a:prstGeom prst="rect">
            <a:avLst/>
          </a:prstGeom>
        </p:spPr>
        <p:txBody>
          <a:bodyPr spcFirstLastPara="1" wrap="square" lIns="91425" tIns="91425" rIns="91425" bIns="91425" anchor="t" anchorCtr="0">
            <a:noAutofit/>
          </a:bodyPr>
          <a:lstStyle/>
          <a:p>
            <a:pPr marL="0" lvl="0" indent="0" algn="l" rtl="0">
              <a:lnSpc>
                <a:spcPct val="115000"/>
              </a:lnSpc>
              <a:spcBef>
                <a:spcPts val="600"/>
              </a:spcBef>
              <a:spcAft>
                <a:spcPts val="0"/>
              </a:spcAft>
              <a:buNone/>
            </a:pPr>
            <a:r>
              <a:rPr lang="en" sz="1900">
                <a:solidFill>
                  <a:srgbClr val="000000"/>
                </a:solidFill>
              </a:rPr>
              <a:t>The contingency table below shows the distribution of students' genders and whether or not they are looking for a spouse while in college.</a:t>
            </a:r>
            <a:endParaRPr sz="1900">
              <a:solidFill>
                <a:srgbClr val="000000"/>
              </a:solidFill>
            </a:endParaRPr>
          </a:p>
        </p:txBody>
      </p:sp>
      <p:pic>
        <p:nvPicPr>
          <p:cNvPr id="47" name="Google Shape;47;p11"/>
          <p:cNvPicPr preferRelativeResize="0"/>
          <p:nvPr/>
        </p:nvPicPr>
        <p:blipFill>
          <a:blip r:embed="rId3">
            <a:alphaModFix/>
          </a:blip>
          <a:stretch>
            <a:fillRect/>
          </a:stretch>
        </p:blipFill>
        <p:spPr>
          <a:xfrm>
            <a:off x="1336625" y="3504200"/>
            <a:ext cx="4894975" cy="1599475"/>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6"/>
                                        </p:tgtEl>
                                        <p:attrNameLst>
                                          <p:attrName>style.visibility</p:attrName>
                                        </p:attrNameLst>
                                      </p:cBhvr>
                                      <p:to>
                                        <p:strVal val="visible"/>
                                      </p:to>
                                    </p:set>
                                    <p:animEffect transition="in" filter="fade">
                                      <p:cBhvr>
                                        <p:cTn id="7" dur="1000"/>
                                        <p:tgtEl>
                                          <p:spTgt spid="46"/>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47"/>
                                        </p:tgtEl>
                                        <p:attrNameLst>
                                          <p:attrName>style.visibility</p:attrName>
                                        </p:attrNameLst>
                                      </p:cBhvr>
                                      <p:to>
                                        <p:strVal val="visible"/>
                                      </p:to>
                                    </p:set>
                                    <p:animEffect transition="in" filter="fade">
                                      <p:cBhvr>
                                        <p:cTn id="12" dur="1000"/>
                                        <p:tgtEl>
                                          <p:spTgt spid="4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Shape 66"/>
        <p:cNvGrpSpPr/>
        <p:nvPr/>
      </p:nvGrpSpPr>
      <p:grpSpPr>
        <a:xfrm>
          <a:off x="0" y="0"/>
          <a:ext cx="0" cy="0"/>
          <a:chOff x="0" y="0"/>
          <a:chExt cx="0" cy="0"/>
        </a:xfrm>
      </p:grpSpPr>
      <p:sp>
        <p:nvSpPr>
          <p:cNvPr id="67" name="Google Shape;67;p14"/>
          <p:cNvSpPr txBox="1">
            <a:spLocks noGrp="1"/>
          </p:cNvSpPr>
          <p:nvPr>
            <p:ph type="body" idx="1"/>
          </p:nvPr>
        </p:nvSpPr>
        <p:spPr>
          <a:xfrm>
            <a:off x="419400" y="4612100"/>
            <a:ext cx="8229600" cy="1983900"/>
          </a:xfrm>
          <a:prstGeom prst="rect">
            <a:avLst/>
          </a:prstGeom>
        </p:spPr>
        <p:txBody>
          <a:bodyPr spcFirstLastPara="1" wrap="square" lIns="91425" tIns="91425" rIns="91425" bIns="91425" anchor="t" anchorCtr="0">
            <a:noAutofit/>
          </a:bodyPr>
          <a:lstStyle/>
          <a:p>
            <a:pPr marL="0" lvl="0" indent="0" algn="l" rtl="0">
              <a:lnSpc>
                <a:spcPct val="115000"/>
              </a:lnSpc>
              <a:spcBef>
                <a:spcPts val="600"/>
              </a:spcBef>
              <a:spcAft>
                <a:spcPts val="0"/>
              </a:spcAft>
              <a:buClr>
                <a:srgbClr val="000000"/>
              </a:buClr>
              <a:buSzPts val="1100"/>
              <a:buFont typeface="Arial"/>
              <a:buNone/>
            </a:pPr>
            <a:r>
              <a:rPr lang="en" sz="1900" dirty="0">
                <a:solidFill>
                  <a:schemeClr val="accent1"/>
                </a:solidFill>
              </a:rPr>
              <a:t>How are bar plots different than histograms?</a:t>
            </a:r>
            <a:endParaRPr sz="1900" dirty="0">
              <a:solidFill>
                <a:schemeClr val="accent1"/>
              </a:solidFill>
            </a:endParaRPr>
          </a:p>
          <a:p>
            <a:pPr marL="0" lvl="0" indent="0" algn="l" rtl="0">
              <a:lnSpc>
                <a:spcPct val="115000"/>
              </a:lnSpc>
              <a:spcBef>
                <a:spcPts val="600"/>
              </a:spcBef>
              <a:spcAft>
                <a:spcPts val="0"/>
              </a:spcAft>
              <a:buNone/>
            </a:pPr>
            <a:r>
              <a:rPr lang="en" sz="1800" i="1" dirty="0">
                <a:solidFill>
                  <a:srgbClr val="000000"/>
                </a:solidFill>
              </a:rPr>
              <a:t>Bar plots are used for displaying distributions of categorical variables, while histograms are used for numerical variables. The x-axis in a histogram is a number line,  hence the order of the bars cannot be changed, while in a bar plot the categories can be listed in any order (though some orderings make more sense than others, especially for ordinal variables.)</a:t>
            </a:r>
            <a:endParaRPr sz="1800" i="1" dirty="0">
              <a:solidFill>
                <a:srgbClr val="000000"/>
              </a:solidFill>
            </a:endParaRPr>
          </a:p>
        </p:txBody>
      </p:sp>
      <p:sp>
        <p:nvSpPr>
          <p:cNvPr id="68" name="Google Shape;68;p14"/>
          <p:cNvSpPr txBox="1">
            <a:spLocks noGrp="1"/>
          </p:cNvSpPr>
          <p:nvPr>
            <p:ph type="title"/>
          </p:nvPr>
        </p:nvSpPr>
        <p:spPr>
          <a:xfrm>
            <a:off x="457200" y="-12"/>
            <a:ext cx="8229600" cy="11430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dirty="0">
                <a:solidFill>
                  <a:schemeClr val="accent1"/>
                </a:solidFill>
              </a:rPr>
              <a:t>Bar Plots</a:t>
            </a:r>
            <a:endParaRPr dirty="0">
              <a:solidFill>
                <a:schemeClr val="accent1"/>
              </a:solidFill>
            </a:endParaRPr>
          </a:p>
        </p:txBody>
      </p:sp>
      <p:sp>
        <p:nvSpPr>
          <p:cNvPr id="69" name="Google Shape;69;p14"/>
          <p:cNvSpPr txBox="1">
            <a:spLocks noGrp="1"/>
          </p:cNvSpPr>
          <p:nvPr>
            <p:ph type="body" idx="1"/>
          </p:nvPr>
        </p:nvSpPr>
        <p:spPr>
          <a:xfrm>
            <a:off x="457200" y="1143000"/>
            <a:ext cx="8154000" cy="1264500"/>
          </a:xfrm>
          <a:prstGeom prst="rect">
            <a:avLst/>
          </a:prstGeom>
        </p:spPr>
        <p:txBody>
          <a:bodyPr spcFirstLastPara="1" wrap="square" lIns="91425" tIns="91425" rIns="91425" bIns="91425" anchor="t" anchorCtr="0">
            <a:noAutofit/>
          </a:bodyPr>
          <a:lstStyle/>
          <a:p>
            <a:pPr marL="0" lvl="0" indent="0" algn="l" rtl="0">
              <a:lnSpc>
                <a:spcPct val="115000"/>
              </a:lnSpc>
              <a:spcBef>
                <a:spcPts val="600"/>
              </a:spcBef>
              <a:spcAft>
                <a:spcPts val="0"/>
              </a:spcAft>
              <a:buNone/>
            </a:pPr>
            <a:r>
              <a:rPr lang="en" sz="1900">
                <a:solidFill>
                  <a:srgbClr val="000000"/>
                </a:solidFill>
              </a:rPr>
              <a:t>A </a:t>
            </a:r>
            <a:r>
              <a:rPr lang="en" sz="1900" i="1">
                <a:solidFill>
                  <a:schemeClr val="accent1"/>
                </a:solidFill>
              </a:rPr>
              <a:t>bar plot</a:t>
            </a:r>
            <a:r>
              <a:rPr lang="en" sz="1900">
                <a:solidFill>
                  <a:srgbClr val="000000"/>
                </a:solidFill>
              </a:rPr>
              <a:t> is a common way to display a single categorical variable. A bar plot where proportions instead of frequencies are shown is called a </a:t>
            </a:r>
            <a:r>
              <a:rPr lang="en" sz="1900" i="1">
                <a:solidFill>
                  <a:schemeClr val="accent1"/>
                </a:solidFill>
              </a:rPr>
              <a:t>relative frequency bar plot</a:t>
            </a:r>
            <a:r>
              <a:rPr lang="en" sz="1900">
                <a:solidFill>
                  <a:srgbClr val="000000"/>
                </a:solidFill>
              </a:rPr>
              <a:t>.</a:t>
            </a:r>
            <a:endParaRPr sz="1900">
              <a:solidFill>
                <a:srgbClr val="000000"/>
              </a:solidFill>
            </a:endParaRPr>
          </a:p>
        </p:txBody>
      </p:sp>
      <p:pic>
        <p:nvPicPr>
          <p:cNvPr id="70" name="Google Shape;70;p14"/>
          <p:cNvPicPr preferRelativeResize="0"/>
          <p:nvPr/>
        </p:nvPicPr>
        <p:blipFill>
          <a:blip r:embed="rId3">
            <a:alphaModFix/>
          </a:blip>
          <a:stretch>
            <a:fillRect/>
          </a:stretch>
        </p:blipFill>
        <p:spPr>
          <a:xfrm>
            <a:off x="457200" y="2348650"/>
            <a:ext cx="7799726" cy="2160700"/>
          </a:xfrm>
          <a:prstGeom prst="rect">
            <a:avLst/>
          </a:prstGeom>
          <a:noFill/>
          <a:ln>
            <a:noFill/>
          </a:ln>
        </p:spPr>
      </p:pic>
      <p:sp>
        <p:nvSpPr>
          <p:cNvPr id="2" name="文本框 1">
            <a:extLst>
              <a:ext uri="{FF2B5EF4-FFF2-40B4-BE49-F238E27FC236}">
                <a16:creationId xmlns:a16="http://schemas.microsoft.com/office/drawing/2014/main" id="{E0B7977E-B7EE-CC18-4743-1928094DCBEC}"/>
              </a:ext>
            </a:extLst>
          </p:cNvPr>
          <p:cNvSpPr txBox="1"/>
          <p:nvPr/>
        </p:nvSpPr>
        <p:spPr>
          <a:xfrm rot="10800000">
            <a:off x="164815" y="2781281"/>
            <a:ext cx="400110" cy="954107"/>
          </a:xfrm>
          <a:prstGeom prst="rect">
            <a:avLst/>
          </a:prstGeom>
          <a:noFill/>
        </p:spPr>
        <p:txBody>
          <a:bodyPr vert="eaVert" wrap="square" rtlCol="0">
            <a:spAutoFit/>
          </a:bodyPr>
          <a:lstStyle/>
          <a:p>
            <a:r>
              <a:rPr lang="en-US" altLang="zh-CN" dirty="0"/>
              <a:t>count</a:t>
            </a:r>
            <a:endParaRPr lang="zh-CN" altLang="en-US" dirty="0"/>
          </a:p>
        </p:txBody>
      </p:sp>
      <p:sp>
        <p:nvSpPr>
          <p:cNvPr id="4" name="文本框 3">
            <a:extLst>
              <a:ext uri="{FF2B5EF4-FFF2-40B4-BE49-F238E27FC236}">
                <a16:creationId xmlns:a16="http://schemas.microsoft.com/office/drawing/2014/main" id="{9A8B1089-1D80-7AA8-D9C8-FC2F7622D31F}"/>
              </a:ext>
            </a:extLst>
          </p:cNvPr>
          <p:cNvSpPr txBox="1"/>
          <p:nvPr/>
        </p:nvSpPr>
        <p:spPr>
          <a:xfrm rot="10800000">
            <a:off x="4210871" y="2870534"/>
            <a:ext cx="400110" cy="954107"/>
          </a:xfrm>
          <a:prstGeom prst="rect">
            <a:avLst/>
          </a:prstGeom>
          <a:noFill/>
        </p:spPr>
        <p:txBody>
          <a:bodyPr vert="eaVert" wrap="square" rtlCol="0">
            <a:spAutoFit/>
          </a:bodyPr>
          <a:lstStyle/>
          <a:p>
            <a:r>
              <a:rPr lang="en-US" altLang="zh-CN" dirty="0"/>
              <a:t>proportion</a:t>
            </a:r>
            <a:endParaRPr lang="zh-CN" alt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67"/>
                                        </p:tgtEl>
                                        <p:attrNameLst>
                                          <p:attrName>style.visibility</p:attrName>
                                        </p:attrNameLst>
                                      </p:cBhvr>
                                      <p:to>
                                        <p:strVal val="visible"/>
                                      </p:to>
                                    </p:set>
                                    <p:animEffect transition="in" filter="fade">
                                      <p:cBhvr>
                                        <p:cTn id="7" dur="1000"/>
                                        <p:tgtEl>
                                          <p:spTgt spid="6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Shape 97"/>
        <p:cNvGrpSpPr/>
        <p:nvPr/>
      </p:nvGrpSpPr>
      <p:grpSpPr>
        <a:xfrm>
          <a:off x="0" y="0"/>
          <a:ext cx="0" cy="0"/>
          <a:chOff x="0" y="0"/>
          <a:chExt cx="0" cy="0"/>
        </a:xfrm>
      </p:grpSpPr>
      <p:sp>
        <p:nvSpPr>
          <p:cNvPr id="98" name="Google Shape;98;p18"/>
          <p:cNvSpPr txBox="1">
            <a:spLocks noGrp="1"/>
          </p:cNvSpPr>
          <p:nvPr>
            <p:ph type="body" idx="1"/>
          </p:nvPr>
        </p:nvSpPr>
        <p:spPr>
          <a:xfrm>
            <a:off x="419400" y="4253425"/>
            <a:ext cx="8229600" cy="2414400"/>
          </a:xfrm>
          <a:prstGeom prst="rect">
            <a:avLst/>
          </a:prstGeom>
        </p:spPr>
        <p:txBody>
          <a:bodyPr spcFirstLastPara="1" wrap="square" lIns="91425" tIns="91425" rIns="91425" bIns="91425" anchor="t" anchorCtr="0">
            <a:noAutofit/>
          </a:bodyPr>
          <a:lstStyle/>
          <a:p>
            <a:pPr marL="0" lvl="0" indent="0" algn="l" rtl="0">
              <a:lnSpc>
                <a:spcPct val="115000"/>
              </a:lnSpc>
              <a:spcBef>
                <a:spcPts val="600"/>
              </a:spcBef>
              <a:spcAft>
                <a:spcPts val="0"/>
              </a:spcAft>
              <a:buClr>
                <a:srgbClr val="000000"/>
              </a:buClr>
              <a:buSzPts val="1100"/>
              <a:buFont typeface="Arial"/>
              <a:buNone/>
            </a:pPr>
            <a:r>
              <a:rPr lang="en" sz="1900" dirty="0">
                <a:solidFill>
                  <a:srgbClr val="000000"/>
                </a:solidFill>
              </a:rPr>
              <a:t>To answer this question we examine the row proportions: </a:t>
            </a:r>
            <a:endParaRPr sz="1900" dirty="0">
              <a:solidFill>
                <a:srgbClr val="000000"/>
              </a:solidFill>
            </a:endParaRPr>
          </a:p>
          <a:p>
            <a:pPr marL="457200" lvl="0" indent="-349250" algn="l" rtl="0">
              <a:lnSpc>
                <a:spcPct val="115000"/>
              </a:lnSpc>
              <a:spcBef>
                <a:spcPts val="1000"/>
              </a:spcBef>
              <a:spcAft>
                <a:spcPts val="0"/>
              </a:spcAft>
              <a:buClr>
                <a:srgbClr val="000000"/>
              </a:buClr>
              <a:buSzPts val="1900"/>
              <a:buChar char="●"/>
            </a:pPr>
            <a:r>
              <a:rPr lang="en" sz="1900" dirty="0">
                <a:solidFill>
                  <a:srgbClr val="000000"/>
                </a:solidFill>
              </a:rPr>
              <a:t>% Females looking for a spouse: 51 / 137 ~ 0.37)</a:t>
            </a:r>
            <a:endParaRPr sz="1900" dirty="0">
              <a:solidFill>
                <a:srgbClr val="000000"/>
              </a:solidFill>
            </a:endParaRPr>
          </a:p>
          <a:p>
            <a:pPr marL="457200" lvl="0" indent="-349250" algn="l" rtl="0">
              <a:lnSpc>
                <a:spcPct val="115000"/>
              </a:lnSpc>
              <a:spcBef>
                <a:spcPts val="1000"/>
              </a:spcBef>
              <a:spcAft>
                <a:spcPts val="1000"/>
              </a:spcAft>
              <a:buClr>
                <a:srgbClr val="000000"/>
              </a:buClr>
              <a:buSzPts val="1900"/>
              <a:buChar char="●"/>
            </a:pPr>
            <a:r>
              <a:rPr lang="en" sz="1900" dirty="0">
                <a:solidFill>
                  <a:srgbClr val="000000"/>
                </a:solidFill>
              </a:rPr>
              <a:t>% Males looking for a spouse: 18 / 70 ~ 0.26</a:t>
            </a:r>
            <a:endParaRPr sz="1900" dirty="0">
              <a:solidFill>
                <a:srgbClr val="000000"/>
              </a:solidFill>
            </a:endParaRPr>
          </a:p>
        </p:txBody>
      </p:sp>
      <p:sp>
        <p:nvSpPr>
          <p:cNvPr id="99" name="Google Shape;99;p18"/>
          <p:cNvSpPr txBox="1">
            <a:spLocks noGrp="1"/>
          </p:cNvSpPr>
          <p:nvPr>
            <p:ph type="body" idx="1"/>
          </p:nvPr>
        </p:nvSpPr>
        <p:spPr>
          <a:xfrm>
            <a:off x="457200" y="1501200"/>
            <a:ext cx="8154000" cy="622200"/>
          </a:xfrm>
          <a:prstGeom prst="rect">
            <a:avLst/>
          </a:prstGeom>
        </p:spPr>
        <p:txBody>
          <a:bodyPr spcFirstLastPara="1" wrap="square" lIns="91425" tIns="91425" rIns="91425" bIns="91425" anchor="t" anchorCtr="0">
            <a:noAutofit/>
          </a:bodyPr>
          <a:lstStyle/>
          <a:p>
            <a:pPr marL="0" lvl="0" indent="0" algn="l" rtl="0">
              <a:lnSpc>
                <a:spcPct val="115000"/>
              </a:lnSpc>
              <a:spcBef>
                <a:spcPts val="600"/>
              </a:spcBef>
              <a:spcAft>
                <a:spcPts val="0"/>
              </a:spcAft>
              <a:buNone/>
            </a:pPr>
            <a:r>
              <a:rPr lang="en" sz="1900">
                <a:solidFill>
                  <a:srgbClr val="000000"/>
                </a:solidFill>
              </a:rPr>
              <a:t>Does there appear to be a relationship between gender and whether the student is looking for a spouse in college?</a:t>
            </a:r>
            <a:endParaRPr sz="1900">
              <a:solidFill>
                <a:srgbClr val="000000"/>
              </a:solidFill>
            </a:endParaRPr>
          </a:p>
        </p:txBody>
      </p:sp>
      <p:sp>
        <p:nvSpPr>
          <p:cNvPr id="100" name="Google Shape;100;p18"/>
          <p:cNvSpPr txBox="1">
            <a:spLocks noGrp="1"/>
          </p:cNvSpPr>
          <p:nvPr>
            <p:ph type="title"/>
          </p:nvPr>
        </p:nvSpPr>
        <p:spPr>
          <a:xfrm>
            <a:off x="457200" y="284101"/>
            <a:ext cx="8229600" cy="10956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solidFill>
                  <a:schemeClr val="accent1"/>
                </a:solidFill>
              </a:rPr>
              <a:t>Choosing the</a:t>
            </a:r>
            <a:endParaRPr>
              <a:solidFill>
                <a:schemeClr val="accent1"/>
              </a:solidFill>
            </a:endParaRPr>
          </a:p>
          <a:p>
            <a:pPr marL="0" lvl="0" indent="0" algn="l" rtl="0">
              <a:spcBef>
                <a:spcPts val="0"/>
              </a:spcBef>
              <a:spcAft>
                <a:spcPts val="0"/>
              </a:spcAft>
              <a:buNone/>
            </a:pPr>
            <a:r>
              <a:rPr lang="en">
                <a:solidFill>
                  <a:schemeClr val="accent1"/>
                </a:solidFill>
              </a:rPr>
              <a:t>Appropriate Proportion</a:t>
            </a:r>
            <a:endParaRPr>
              <a:solidFill>
                <a:schemeClr val="accent1"/>
              </a:solidFill>
            </a:endParaRPr>
          </a:p>
        </p:txBody>
      </p:sp>
      <p:pic>
        <p:nvPicPr>
          <p:cNvPr id="101" name="Google Shape;101;p18"/>
          <p:cNvPicPr preferRelativeResize="0"/>
          <p:nvPr/>
        </p:nvPicPr>
        <p:blipFill>
          <a:blip r:embed="rId3">
            <a:alphaModFix/>
          </a:blip>
          <a:stretch>
            <a:fillRect/>
          </a:stretch>
        </p:blipFill>
        <p:spPr>
          <a:xfrm>
            <a:off x="921975" y="2452499"/>
            <a:ext cx="5128826" cy="1661100"/>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98">
                                            <p:txEl>
                                              <p:pRg st="0" end="0"/>
                                            </p:txEl>
                                          </p:spTgt>
                                        </p:tgtEl>
                                        <p:attrNameLst>
                                          <p:attrName>style.visibility</p:attrName>
                                        </p:attrNameLst>
                                      </p:cBhvr>
                                      <p:to>
                                        <p:strVal val="visible"/>
                                      </p:to>
                                    </p:set>
                                    <p:animEffect transition="in" filter="fade">
                                      <p:cBhvr>
                                        <p:cTn id="7" dur="1000"/>
                                        <p:tgtEl>
                                          <p:spTgt spid="98">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98">
                                            <p:txEl>
                                              <p:pRg st="1" end="1"/>
                                            </p:txEl>
                                          </p:spTgt>
                                        </p:tgtEl>
                                        <p:attrNameLst>
                                          <p:attrName>style.visibility</p:attrName>
                                        </p:attrNameLst>
                                      </p:cBhvr>
                                      <p:to>
                                        <p:strVal val="visible"/>
                                      </p:to>
                                    </p:set>
                                    <p:animEffect transition="in" filter="fade">
                                      <p:cBhvr>
                                        <p:cTn id="12" dur="1000"/>
                                        <p:tgtEl>
                                          <p:spTgt spid="98">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98">
                                            <p:txEl>
                                              <p:pRg st="2" end="2"/>
                                            </p:txEl>
                                          </p:spTgt>
                                        </p:tgtEl>
                                        <p:attrNameLst>
                                          <p:attrName>style.visibility</p:attrName>
                                        </p:attrNameLst>
                                      </p:cBhvr>
                                      <p:to>
                                        <p:strVal val="visible"/>
                                      </p:to>
                                    </p:set>
                                    <p:animEffect transition="in" filter="fade">
                                      <p:cBhvr>
                                        <p:cTn id="17" dur="1000"/>
                                        <p:tgtEl>
                                          <p:spTgt spid="98">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Shape 105"/>
        <p:cNvGrpSpPr/>
        <p:nvPr/>
      </p:nvGrpSpPr>
      <p:grpSpPr>
        <a:xfrm>
          <a:off x="0" y="0"/>
          <a:ext cx="0" cy="0"/>
          <a:chOff x="0" y="0"/>
          <a:chExt cx="0" cy="0"/>
        </a:xfrm>
      </p:grpSpPr>
      <p:sp>
        <p:nvSpPr>
          <p:cNvPr id="106" name="Google Shape;106;p19"/>
          <p:cNvSpPr txBox="1">
            <a:spLocks noGrp="1"/>
          </p:cNvSpPr>
          <p:nvPr>
            <p:ph type="title"/>
          </p:nvPr>
        </p:nvSpPr>
        <p:spPr>
          <a:xfrm>
            <a:off x="457200" y="284101"/>
            <a:ext cx="8229600" cy="10956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solidFill>
                  <a:schemeClr val="accent1"/>
                </a:solidFill>
              </a:rPr>
              <a:t>Bar plots with two variables</a:t>
            </a:r>
            <a:endParaRPr>
              <a:solidFill>
                <a:schemeClr val="accent1"/>
              </a:solidFill>
            </a:endParaRPr>
          </a:p>
        </p:txBody>
      </p:sp>
      <p:sp>
        <p:nvSpPr>
          <p:cNvPr id="107" name="Google Shape;107;p19"/>
          <p:cNvSpPr txBox="1">
            <a:spLocks noGrp="1"/>
          </p:cNvSpPr>
          <p:nvPr>
            <p:ph type="body" idx="1"/>
          </p:nvPr>
        </p:nvSpPr>
        <p:spPr>
          <a:xfrm>
            <a:off x="457200" y="1501200"/>
            <a:ext cx="8154000" cy="4727100"/>
          </a:xfrm>
          <a:prstGeom prst="rect">
            <a:avLst/>
          </a:prstGeom>
        </p:spPr>
        <p:txBody>
          <a:bodyPr spcFirstLastPara="1" wrap="square" lIns="91425" tIns="91425" rIns="91425" bIns="91425" anchor="t" anchorCtr="0">
            <a:noAutofit/>
          </a:bodyPr>
          <a:lstStyle/>
          <a:p>
            <a:pPr marL="0" lvl="0" indent="0" algn="l" rtl="0">
              <a:lnSpc>
                <a:spcPct val="115000"/>
              </a:lnSpc>
              <a:spcBef>
                <a:spcPts val="600"/>
              </a:spcBef>
              <a:spcAft>
                <a:spcPts val="0"/>
              </a:spcAft>
              <a:buNone/>
            </a:pPr>
            <a:endParaRPr sz="1900">
              <a:solidFill>
                <a:srgbClr val="000000"/>
              </a:solidFill>
            </a:endParaRPr>
          </a:p>
          <a:p>
            <a:pPr marL="457200" lvl="0" indent="-349250" algn="l" rtl="0">
              <a:lnSpc>
                <a:spcPct val="115000"/>
              </a:lnSpc>
              <a:spcBef>
                <a:spcPts val="600"/>
              </a:spcBef>
              <a:spcAft>
                <a:spcPts val="0"/>
              </a:spcAft>
              <a:buClr>
                <a:srgbClr val="000000"/>
              </a:buClr>
              <a:buSzPts val="1900"/>
              <a:buChar char="●"/>
            </a:pPr>
            <a:r>
              <a:rPr lang="en" sz="1900" i="1">
                <a:solidFill>
                  <a:srgbClr val="3D85C6"/>
                </a:solidFill>
              </a:rPr>
              <a:t>Stacked bar plot:</a:t>
            </a:r>
            <a:r>
              <a:rPr lang="en" sz="1900">
                <a:solidFill>
                  <a:srgbClr val="000000"/>
                </a:solidFill>
              </a:rPr>
              <a:t> Graphical display of contingency table information, for counts.</a:t>
            </a:r>
            <a:br>
              <a:rPr lang="en" sz="1900">
                <a:solidFill>
                  <a:srgbClr val="000000"/>
                </a:solidFill>
              </a:rPr>
            </a:br>
            <a:endParaRPr sz="1900">
              <a:solidFill>
                <a:srgbClr val="000000"/>
              </a:solidFill>
            </a:endParaRPr>
          </a:p>
          <a:p>
            <a:pPr marL="457200" lvl="0" indent="-349250" algn="l" rtl="0">
              <a:lnSpc>
                <a:spcPct val="115000"/>
              </a:lnSpc>
              <a:spcBef>
                <a:spcPts val="0"/>
              </a:spcBef>
              <a:spcAft>
                <a:spcPts val="0"/>
              </a:spcAft>
              <a:buClr>
                <a:srgbClr val="000000"/>
              </a:buClr>
              <a:buSzPts val="1900"/>
              <a:buChar char="●"/>
            </a:pPr>
            <a:r>
              <a:rPr lang="en" sz="1900" i="1">
                <a:solidFill>
                  <a:srgbClr val="3D85C6"/>
                </a:solidFill>
              </a:rPr>
              <a:t>Side-by-side bar plot:</a:t>
            </a:r>
            <a:r>
              <a:rPr lang="en" sz="1900">
                <a:solidFill>
                  <a:srgbClr val="000000"/>
                </a:solidFill>
              </a:rPr>
              <a:t> Displays the same information by placing bars next to, instead of on top of, each other.</a:t>
            </a:r>
            <a:br>
              <a:rPr lang="en" sz="1900">
                <a:solidFill>
                  <a:srgbClr val="000000"/>
                </a:solidFill>
              </a:rPr>
            </a:br>
            <a:endParaRPr sz="1900">
              <a:solidFill>
                <a:srgbClr val="000000"/>
              </a:solidFill>
            </a:endParaRPr>
          </a:p>
          <a:p>
            <a:pPr marL="457200" lvl="0" indent="-349250" algn="l" rtl="0">
              <a:lnSpc>
                <a:spcPct val="115000"/>
              </a:lnSpc>
              <a:spcBef>
                <a:spcPts val="0"/>
              </a:spcBef>
              <a:spcAft>
                <a:spcPts val="0"/>
              </a:spcAft>
              <a:buClr>
                <a:srgbClr val="000000"/>
              </a:buClr>
              <a:buSzPts val="1900"/>
              <a:buChar char="●"/>
            </a:pPr>
            <a:r>
              <a:rPr lang="en" sz="1900" i="1">
                <a:solidFill>
                  <a:srgbClr val="3D85C6"/>
                </a:solidFill>
              </a:rPr>
              <a:t>Standardized stacked bar plot:</a:t>
            </a:r>
            <a:r>
              <a:rPr lang="en" sz="1900">
                <a:solidFill>
                  <a:srgbClr val="000000"/>
                </a:solidFill>
              </a:rPr>
              <a:t> Graphical display of contingency table information, for proportions.</a:t>
            </a:r>
            <a:endParaRPr sz="1900">
              <a:solidFill>
                <a:srgbClr val="000000"/>
              </a:solidFill>
            </a:endParaRP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Shape 111"/>
        <p:cNvGrpSpPr/>
        <p:nvPr/>
      </p:nvGrpSpPr>
      <p:grpSpPr>
        <a:xfrm>
          <a:off x="0" y="0"/>
          <a:ext cx="0" cy="0"/>
          <a:chOff x="0" y="0"/>
          <a:chExt cx="0" cy="0"/>
        </a:xfrm>
      </p:grpSpPr>
      <p:sp>
        <p:nvSpPr>
          <p:cNvPr id="112" name="Google Shape;112;p20"/>
          <p:cNvSpPr txBox="1">
            <a:spLocks noGrp="1"/>
          </p:cNvSpPr>
          <p:nvPr>
            <p:ph type="title"/>
          </p:nvPr>
        </p:nvSpPr>
        <p:spPr>
          <a:xfrm>
            <a:off x="457200" y="90400"/>
            <a:ext cx="8229600" cy="11604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solidFill>
                  <a:schemeClr val="accent1"/>
                </a:solidFill>
              </a:rPr>
              <a:t>Segmented Bar and Mosaic Plots</a:t>
            </a:r>
            <a:endParaRPr>
              <a:solidFill>
                <a:schemeClr val="accent1"/>
              </a:solidFill>
            </a:endParaRPr>
          </a:p>
        </p:txBody>
      </p:sp>
      <p:sp>
        <p:nvSpPr>
          <p:cNvPr id="113" name="Google Shape;113;p20"/>
          <p:cNvSpPr txBox="1">
            <a:spLocks noGrp="1"/>
          </p:cNvSpPr>
          <p:nvPr>
            <p:ph type="body" idx="1"/>
          </p:nvPr>
        </p:nvSpPr>
        <p:spPr>
          <a:xfrm>
            <a:off x="457200" y="1407925"/>
            <a:ext cx="8154000" cy="715500"/>
          </a:xfrm>
          <a:prstGeom prst="rect">
            <a:avLst/>
          </a:prstGeom>
        </p:spPr>
        <p:txBody>
          <a:bodyPr spcFirstLastPara="1" wrap="square" lIns="91425" tIns="91425" rIns="91425" bIns="91425" anchor="t" anchorCtr="0">
            <a:noAutofit/>
          </a:bodyPr>
          <a:lstStyle/>
          <a:p>
            <a:pPr marL="0" lvl="0" indent="0" algn="l" rtl="0">
              <a:lnSpc>
                <a:spcPct val="115000"/>
              </a:lnSpc>
              <a:spcBef>
                <a:spcPts val="600"/>
              </a:spcBef>
              <a:spcAft>
                <a:spcPts val="0"/>
              </a:spcAft>
              <a:buNone/>
            </a:pPr>
            <a:r>
              <a:rPr lang="en" sz="2100">
                <a:solidFill>
                  <a:srgbClr val="000000"/>
                </a:solidFill>
              </a:rPr>
              <a:t>What are the differences between the three visualizations</a:t>
            </a:r>
            <a:br>
              <a:rPr lang="en" sz="2100">
                <a:solidFill>
                  <a:srgbClr val="000000"/>
                </a:solidFill>
              </a:rPr>
            </a:br>
            <a:r>
              <a:rPr lang="en" sz="2100">
                <a:solidFill>
                  <a:srgbClr val="000000"/>
                </a:solidFill>
              </a:rPr>
              <a:t>shown below?</a:t>
            </a:r>
            <a:endParaRPr sz="2100">
              <a:solidFill>
                <a:srgbClr val="000000"/>
              </a:solidFill>
            </a:endParaRPr>
          </a:p>
        </p:txBody>
      </p:sp>
      <p:pic>
        <p:nvPicPr>
          <p:cNvPr id="114" name="Google Shape;114;p20"/>
          <p:cNvPicPr preferRelativeResize="0"/>
          <p:nvPr/>
        </p:nvPicPr>
        <p:blipFill>
          <a:blip r:embed="rId3">
            <a:alphaModFix/>
          </a:blip>
          <a:stretch>
            <a:fillRect/>
          </a:stretch>
        </p:blipFill>
        <p:spPr>
          <a:xfrm>
            <a:off x="457200" y="2690775"/>
            <a:ext cx="7975124" cy="2698425"/>
          </a:xfrm>
          <a:prstGeom prst="rect">
            <a:avLst/>
          </a:prstGeom>
          <a:noFill/>
          <a:ln>
            <a:noFill/>
          </a:ln>
        </p:spPr>
      </p:pic>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Shape 118"/>
        <p:cNvGrpSpPr/>
        <p:nvPr/>
      </p:nvGrpSpPr>
      <p:grpSpPr>
        <a:xfrm>
          <a:off x="0" y="0"/>
          <a:ext cx="0" cy="0"/>
          <a:chOff x="0" y="0"/>
          <a:chExt cx="0" cy="0"/>
        </a:xfrm>
      </p:grpSpPr>
      <p:sp>
        <p:nvSpPr>
          <p:cNvPr id="119" name="Google Shape;119;p21"/>
          <p:cNvSpPr txBox="1">
            <a:spLocks noGrp="1"/>
          </p:cNvSpPr>
          <p:nvPr>
            <p:ph type="title"/>
          </p:nvPr>
        </p:nvSpPr>
        <p:spPr>
          <a:xfrm>
            <a:off x="457200" y="90400"/>
            <a:ext cx="8229600" cy="11604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solidFill>
                  <a:schemeClr val="accent1"/>
                </a:solidFill>
              </a:rPr>
              <a:t>Mosaic plots</a:t>
            </a:r>
            <a:endParaRPr>
              <a:solidFill>
                <a:schemeClr val="accent1"/>
              </a:solidFill>
            </a:endParaRPr>
          </a:p>
        </p:txBody>
      </p:sp>
      <p:sp>
        <p:nvSpPr>
          <p:cNvPr id="120" name="Google Shape;120;p21"/>
          <p:cNvSpPr txBox="1">
            <a:spLocks noGrp="1"/>
          </p:cNvSpPr>
          <p:nvPr>
            <p:ph type="body" idx="1"/>
          </p:nvPr>
        </p:nvSpPr>
        <p:spPr>
          <a:xfrm>
            <a:off x="457200" y="1407925"/>
            <a:ext cx="8154000" cy="715500"/>
          </a:xfrm>
          <a:prstGeom prst="rect">
            <a:avLst/>
          </a:prstGeom>
        </p:spPr>
        <p:txBody>
          <a:bodyPr spcFirstLastPara="1" wrap="square" lIns="91425" tIns="91425" rIns="91425" bIns="91425" anchor="t" anchorCtr="0">
            <a:noAutofit/>
          </a:bodyPr>
          <a:lstStyle/>
          <a:p>
            <a:pPr marL="0" lvl="0" indent="0" algn="l" rtl="0">
              <a:lnSpc>
                <a:spcPct val="115000"/>
              </a:lnSpc>
              <a:spcBef>
                <a:spcPts val="600"/>
              </a:spcBef>
              <a:spcAft>
                <a:spcPts val="0"/>
              </a:spcAft>
              <a:buNone/>
            </a:pPr>
            <a:r>
              <a:rPr lang="en" sz="2100">
                <a:solidFill>
                  <a:srgbClr val="000000"/>
                </a:solidFill>
              </a:rPr>
              <a:t>What are the differences between the two visualizations</a:t>
            </a:r>
            <a:br>
              <a:rPr lang="en" sz="2100">
                <a:solidFill>
                  <a:srgbClr val="000000"/>
                </a:solidFill>
              </a:rPr>
            </a:br>
            <a:r>
              <a:rPr lang="en" sz="2100">
                <a:solidFill>
                  <a:srgbClr val="000000"/>
                </a:solidFill>
              </a:rPr>
              <a:t>shown below?</a:t>
            </a:r>
            <a:endParaRPr sz="2100">
              <a:solidFill>
                <a:srgbClr val="000000"/>
              </a:solidFill>
            </a:endParaRPr>
          </a:p>
        </p:txBody>
      </p:sp>
      <p:pic>
        <p:nvPicPr>
          <p:cNvPr id="121" name="Google Shape;121;p21"/>
          <p:cNvPicPr preferRelativeResize="0"/>
          <p:nvPr/>
        </p:nvPicPr>
        <p:blipFill>
          <a:blip r:embed="rId3">
            <a:alphaModFix/>
          </a:blip>
          <a:stretch>
            <a:fillRect/>
          </a:stretch>
        </p:blipFill>
        <p:spPr>
          <a:xfrm>
            <a:off x="495000" y="2595430"/>
            <a:ext cx="8153997" cy="2457496"/>
          </a:xfrm>
          <a:prstGeom prst="rect">
            <a:avLst/>
          </a:prstGeom>
          <a:noFill/>
          <a:ln>
            <a:noFill/>
          </a:ln>
        </p:spPr>
      </p:pic>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Shape 125"/>
        <p:cNvGrpSpPr/>
        <p:nvPr/>
      </p:nvGrpSpPr>
      <p:grpSpPr>
        <a:xfrm>
          <a:off x="0" y="0"/>
          <a:ext cx="0" cy="0"/>
          <a:chOff x="0" y="0"/>
          <a:chExt cx="0" cy="0"/>
        </a:xfrm>
      </p:grpSpPr>
      <p:sp>
        <p:nvSpPr>
          <p:cNvPr id="126" name="Google Shape;126;p22"/>
          <p:cNvSpPr txBox="1">
            <a:spLocks noGrp="1"/>
          </p:cNvSpPr>
          <p:nvPr>
            <p:ph type="body" idx="1"/>
          </p:nvPr>
        </p:nvSpPr>
        <p:spPr>
          <a:xfrm>
            <a:off x="457200" y="1407925"/>
            <a:ext cx="8154000" cy="715500"/>
          </a:xfrm>
          <a:prstGeom prst="rect">
            <a:avLst/>
          </a:prstGeom>
        </p:spPr>
        <p:txBody>
          <a:bodyPr spcFirstLastPara="1" wrap="square" lIns="91425" tIns="91425" rIns="91425" bIns="91425" anchor="t" anchorCtr="0">
            <a:noAutofit/>
          </a:bodyPr>
          <a:lstStyle/>
          <a:p>
            <a:pPr marL="0" lvl="0" indent="0" algn="l" rtl="0">
              <a:lnSpc>
                <a:spcPct val="115000"/>
              </a:lnSpc>
              <a:spcBef>
                <a:spcPts val="600"/>
              </a:spcBef>
              <a:spcAft>
                <a:spcPts val="0"/>
              </a:spcAft>
              <a:buNone/>
            </a:pPr>
            <a:r>
              <a:rPr lang="en" sz="2100">
                <a:solidFill>
                  <a:srgbClr val="000000"/>
                </a:solidFill>
              </a:rPr>
              <a:t>Can you tell which order encompasses the lowest percentage of mammal species?</a:t>
            </a:r>
            <a:endParaRPr sz="2100">
              <a:solidFill>
                <a:srgbClr val="000000"/>
              </a:solidFill>
            </a:endParaRPr>
          </a:p>
          <a:p>
            <a:pPr marL="0" lvl="0" indent="0" algn="l" rtl="0">
              <a:lnSpc>
                <a:spcPct val="115000"/>
              </a:lnSpc>
              <a:spcBef>
                <a:spcPts val="600"/>
              </a:spcBef>
              <a:spcAft>
                <a:spcPts val="0"/>
              </a:spcAft>
              <a:buNone/>
            </a:pPr>
            <a:endParaRPr sz="2100">
              <a:solidFill>
                <a:srgbClr val="000000"/>
              </a:solidFill>
            </a:endParaRPr>
          </a:p>
          <a:p>
            <a:pPr marL="0" lvl="0" indent="0" algn="l" rtl="0">
              <a:lnSpc>
                <a:spcPct val="115000"/>
              </a:lnSpc>
              <a:spcBef>
                <a:spcPts val="600"/>
              </a:spcBef>
              <a:spcAft>
                <a:spcPts val="0"/>
              </a:spcAft>
              <a:buNone/>
            </a:pPr>
            <a:endParaRPr sz="2100">
              <a:solidFill>
                <a:srgbClr val="000000"/>
              </a:solidFill>
            </a:endParaRPr>
          </a:p>
          <a:p>
            <a:pPr marL="0" lvl="0" indent="0" algn="l" rtl="0">
              <a:lnSpc>
                <a:spcPct val="115000"/>
              </a:lnSpc>
              <a:spcBef>
                <a:spcPts val="600"/>
              </a:spcBef>
              <a:spcAft>
                <a:spcPts val="0"/>
              </a:spcAft>
              <a:buNone/>
            </a:pPr>
            <a:endParaRPr sz="2100">
              <a:solidFill>
                <a:srgbClr val="000000"/>
              </a:solidFill>
            </a:endParaRPr>
          </a:p>
          <a:p>
            <a:pPr marL="0" lvl="0" indent="0" algn="l" rtl="0">
              <a:lnSpc>
                <a:spcPct val="115000"/>
              </a:lnSpc>
              <a:spcBef>
                <a:spcPts val="600"/>
              </a:spcBef>
              <a:spcAft>
                <a:spcPts val="0"/>
              </a:spcAft>
              <a:buNone/>
            </a:pPr>
            <a:endParaRPr sz="2100">
              <a:solidFill>
                <a:srgbClr val="000000"/>
              </a:solidFill>
            </a:endParaRPr>
          </a:p>
          <a:p>
            <a:pPr marL="0" lvl="0" indent="0" algn="l" rtl="0">
              <a:lnSpc>
                <a:spcPct val="115000"/>
              </a:lnSpc>
              <a:spcBef>
                <a:spcPts val="600"/>
              </a:spcBef>
              <a:spcAft>
                <a:spcPts val="0"/>
              </a:spcAft>
              <a:buNone/>
            </a:pPr>
            <a:endParaRPr sz="2100">
              <a:solidFill>
                <a:srgbClr val="000000"/>
              </a:solidFill>
            </a:endParaRPr>
          </a:p>
          <a:p>
            <a:pPr marL="0" lvl="0" indent="0" algn="l" rtl="0">
              <a:lnSpc>
                <a:spcPct val="115000"/>
              </a:lnSpc>
              <a:spcBef>
                <a:spcPts val="600"/>
              </a:spcBef>
              <a:spcAft>
                <a:spcPts val="0"/>
              </a:spcAft>
              <a:buNone/>
            </a:pPr>
            <a:endParaRPr sz="2100">
              <a:solidFill>
                <a:srgbClr val="000000"/>
              </a:solidFill>
            </a:endParaRPr>
          </a:p>
          <a:p>
            <a:pPr marL="0" lvl="0" indent="0" algn="l" rtl="0">
              <a:lnSpc>
                <a:spcPct val="115000"/>
              </a:lnSpc>
              <a:spcBef>
                <a:spcPts val="600"/>
              </a:spcBef>
              <a:spcAft>
                <a:spcPts val="0"/>
              </a:spcAft>
              <a:buNone/>
            </a:pPr>
            <a:endParaRPr sz="2100">
              <a:solidFill>
                <a:srgbClr val="000000"/>
              </a:solidFill>
            </a:endParaRPr>
          </a:p>
          <a:p>
            <a:pPr marL="0" lvl="0" indent="0" algn="l" rtl="0">
              <a:lnSpc>
                <a:spcPct val="115000"/>
              </a:lnSpc>
              <a:spcBef>
                <a:spcPts val="600"/>
              </a:spcBef>
              <a:spcAft>
                <a:spcPts val="0"/>
              </a:spcAft>
              <a:buNone/>
            </a:pPr>
            <a:endParaRPr sz="2100">
              <a:solidFill>
                <a:srgbClr val="000000"/>
              </a:solidFill>
            </a:endParaRPr>
          </a:p>
          <a:p>
            <a:pPr marL="0" lvl="0" indent="0" algn="l" rtl="0">
              <a:lnSpc>
                <a:spcPct val="115000"/>
              </a:lnSpc>
              <a:spcBef>
                <a:spcPts val="600"/>
              </a:spcBef>
              <a:spcAft>
                <a:spcPts val="0"/>
              </a:spcAft>
              <a:buNone/>
            </a:pPr>
            <a:endParaRPr sz="2100">
              <a:solidFill>
                <a:srgbClr val="000000"/>
              </a:solidFill>
            </a:endParaRPr>
          </a:p>
          <a:p>
            <a:pPr marL="0" lvl="0" indent="0" algn="l" rtl="0">
              <a:lnSpc>
                <a:spcPct val="115000"/>
              </a:lnSpc>
              <a:spcBef>
                <a:spcPts val="600"/>
              </a:spcBef>
              <a:spcAft>
                <a:spcPts val="0"/>
              </a:spcAft>
              <a:buNone/>
            </a:pPr>
            <a:r>
              <a:rPr lang="en" sz="1900" i="1">
                <a:solidFill>
                  <a:srgbClr val="000000"/>
                </a:solidFill>
              </a:rPr>
              <a:t>http://www.bucknell.edu/msw3</a:t>
            </a:r>
            <a:endParaRPr sz="1900" i="1">
              <a:solidFill>
                <a:srgbClr val="000000"/>
              </a:solidFill>
            </a:endParaRPr>
          </a:p>
        </p:txBody>
      </p:sp>
      <p:sp>
        <p:nvSpPr>
          <p:cNvPr id="127" name="Google Shape;127;p22"/>
          <p:cNvSpPr txBox="1">
            <a:spLocks noGrp="1"/>
          </p:cNvSpPr>
          <p:nvPr>
            <p:ph type="title"/>
          </p:nvPr>
        </p:nvSpPr>
        <p:spPr>
          <a:xfrm>
            <a:off x="457200" y="90400"/>
            <a:ext cx="8229600" cy="11604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solidFill>
                  <a:schemeClr val="accent1"/>
                </a:solidFill>
              </a:rPr>
              <a:t>Pie Charts</a:t>
            </a:r>
            <a:endParaRPr>
              <a:solidFill>
                <a:schemeClr val="accent1"/>
              </a:solidFill>
            </a:endParaRPr>
          </a:p>
        </p:txBody>
      </p:sp>
      <p:pic>
        <p:nvPicPr>
          <p:cNvPr id="128" name="Google Shape;128;p22"/>
          <p:cNvPicPr preferRelativeResize="0"/>
          <p:nvPr/>
        </p:nvPicPr>
        <p:blipFill>
          <a:blip r:embed="rId3">
            <a:alphaModFix/>
          </a:blip>
          <a:stretch>
            <a:fillRect/>
          </a:stretch>
        </p:blipFill>
        <p:spPr>
          <a:xfrm>
            <a:off x="1657200" y="2280546"/>
            <a:ext cx="3880776" cy="3371100"/>
          </a:xfrm>
          <a:prstGeom prst="rect">
            <a:avLst/>
          </a:prstGeom>
          <a:noFill/>
          <a:ln>
            <a:noFill/>
          </a:ln>
        </p:spPr>
      </p:pic>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Shape 132"/>
        <p:cNvGrpSpPr/>
        <p:nvPr/>
      </p:nvGrpSpPr>
      <p:grpSpPr>
        <a:xfrm>
          <a:off x="0" y="0"/>
          <a:ext cx="0" cy="0"/>
          <a:chOff x="0" y="0"/>
          <a:chExt cx="0" cy="0"/>
        </a:xfrm>
      </p:grpSpPr>
      <p:sp>
        <p:nvSpPr>
          <p:cNvPr id="133" name="Google Shape;133;p23"/>
          <p:cNvSpPr txBox="1">
            <a:spLocks noGrp="1"/>
          </p:cNvSpPr>
          <p:nvPr>
            <p:ph type="title"/>
          </p:nvPr>
        </p:nvSpPr>
        <p:spPr>
          <a:xfrm>
            <a:off x="457200" y="90400"/>
            <a:ext cx="8229600" cy="13827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solidFill>
                  <a:schemeClr val="accent1"/>
                </a:solidFill>
              </a:rPr>
              <a:t>Comparing Numerical Data</a:t>
            </a:r>
            <a:endParaRPr>
              <a:solidFill>
                <a:schemeClr val="accent1"/>
              </a:solidFill>
            </a:endParaRPr>
          </a:p>
          <a:p>
            <a:pPr marL="0" lvl="0" indent="0" algn="l" rtl="0">
              <a:spcBef>
                <a:spcPts val="0"/>
              </a:spcBef>
              <a:spcAft>
                <a:spcPts val="0"/>
              </a:spcAft>
              <a:buNone/>
            </a:pPr>
            <a:r>
              <a:rPr lang="en">
                <a:solidFill>
                  <a:schemeClr val="accent1"/>
                </a:solidFill>
              </a:rPr>
              <a:t>Across Groups</a:t>
            </a:r>
            <a:endParaRPr>
              <a:solidFill>
                <a:schemeClr val="accent1"/>
              </a:solidFill>
            </a:endParaRPr>
          </a:p>
        </p:txBody>
      </p:sp>
      <p:sp>
        <p:nvSpPr>
          <p:cNvPr id="134" name="Google Shape;134;p23"/>
          <p:cNvSpPr txBox="1">
            <a:spLocks noGrp="1"/>
          </p:cNvSpPr>
          <p:nvPr>
            <p:ph type="body" idx="1"/>
          </p:nvPr>
        </p:nvSpPr>
        <p:spPr>
          <a:xfrm>
            <a:off x="457200" y="1572925"/>
            <a:ext cx="8154000" cy="550500"/>
          </a:xfrm>
          <a:prstGeom prst="rect">
            <a:avLst/>
          </a:prstGeom>
        </p:spPr>
        <p:txBody>
          <a:bodyPr spcFirstLastPara="1" wrap="square" lIns="91425" tIns="91425" rIns="91425" bIns="91425" anchor="t" anchorCtr="0">
            <a:noAutofit/>
          </a:bodyPr>
          <a:lstStyle/>
          <a:p>
            <a:pPr marL="0" lvl="0" indent="0" algn="l" rtl="0">
              <a:lnSpc>
                <a:spcPct val="115000"/>
              </a:lnSpc>
              <a:spcBef>
                <a:spcPts val="600"/>
              </a:spcBef>
              <a:spcAft>
                <a:spcPts val="0"/>
              </a:spcAft>
              <a:buNone/>
            </a:pPr>
            <a:r>
              <a:rPr lang="en" sz="2100">
                <a:solidFill>
                  <a:srgbClr val="000000"/>
                </a:solidFill>
              </a:rPr>
              <a:t>Does there appear to be a relationship between class year and number of clubs students are in?</a:t>
            </a:r>
            <a:endParaRPr sz="2100">
              <a:solidFill>
                <a:srgbClr val="000000"/>
              </a:solidFill>
            </a:endParaRPr>
          </a:p>
        </p:txBody>
      </p:sp>
      <p:pic>
        <p:nvPicPr>
          <p:cNvPr id="135" name="Google Shape;135;p23"/>
          <p:cNvPicPr preferRelativeResize="0"/>
          <p:nvPr/>
        </p:nvPicPr>
        <p:blipFill>
          <a:blip r:embed="rId3">
            <a:alphaModFix/>
          </a:blip>
          <a:stretch>
            <a:fillRect/>
          </a:stretch>
        </p:blipFill>
        <p:spPr>
          <a:xfrm>
            <a:off x="457197" y="2707475"/>
            <a:ext cx="7005325" cy="3324000"/>
          </a:xfrm>
          <a:prstGeom prst="rect">
            <a:avLst/>
          </a:prstGeom>
          <a:noFill/>
          <a:ln>
            <a:noFill/>
          </a:ln>
        </p:spPr>
      </p:pic>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Shape 32"/>
        <p:cNvGrpSpPr/>
        <p:nvPr/>
      </p:nvGrpSpPr>
      <p:grpSpPr>
        <a:xfrm>
          <a:off x="0" y="0"/>
          <a:ext cx="0" cy="0"/>
          <a:chOff x="0" y="0"/>
          <a:chExt cx="0" cy="0"/>
        </a:xfrm>
      </p:grpSpPr>
      <p:sp>
        <p:nvSpPr>
          <p:cNvPr id="33" name="Google Shape;33;p9"/>
          <p:cNvSpPr txBox="1">
            <a:spLocks noGrp="1"/>
          </p:cNvSpPr>
          <p:nvPr>
            <p:ph type="ctrTitle"/>
          </p:nvPr>
        </p:nvSpPr>
        <p:spPr>
          <a:xfrm>
            <a:off x="685800" y="2111126"/>
            <a:ext cx="7772400" cy="22818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solidFill>
                  <a:schemeClr val="accent1"/>
                </a:solidFill>
              </a:rPr>
              <a:t>Case Study:</a:t>
            </a:r>
            <a:endParaRPr>
              <a:solidFill>
                <a:schemeClr val="accent1"/>
              </a:solidFill>
            </a:endParaRPr>
          </a:p>
          <a:p>
            <a:pPr marL="0" lvl="0" indent="0" algn="l" rtl="0">
              <a:spcBef>
                <a:spcPts val="0"/>
              </a:spcBef>
              <a:spcAft>
                <a:spcPts val="0"/>
              </a:spcAft>
              <a:buNone/>
            </a:pPr>
            <a:r>
              <a:rPr lang="en">
                <a:solidFill>
                  <a:schemeClr val="accent1"/>
                </a:solidFill>
              </a:rPr>
              <a:t>Gender Discrimination</a:t>
            </a:r>
            <a:endParaRPr>
              <a:solidFill>
                <a:schemeClr val="accent1"/>
              </a:solidFill>
            </a:endParaRPr>
          </a:p>
          <a:p>
            <a:pPr marL="0" lvl="0" indent="0" algn="l" rtl="0">
              <a:spcBef>
                <a:spcPts val="0"/>
              </a:spcBef>
              <a:spcAft>
                <a:spcPts val="0"/>
              </a:spcAft>
              <a:buNone/>
            </a:pPr>
            <a:endParaRPr>
              <a:solidFill>
                <a:schemeClr val="accent1"/>
              </a:solidFill>
            </a:endParaRP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Shape 37"/>
        <p:cNvGrpSpPr/>
        <p:nvPr/>
      </p:nvGrpSpPr>
      <p:grpSpPr>
        <a:xfrm>
          <a:off x="0" y="0"/>
          <a:ext cx="0" cy="0"/>
          <a:chOff x="0" y="0"/>
          <a:chExt cx="0" cy="0"/>
        </a:xfrm>
      </p:grpSpPr>
      <p:sp>
        <p:nvSpPr>
          <p:cNvPr id="38" name="Google Shape;38;p10"/>
          <p:cNvSpPr txBox="1">
            <a:spLocks noGrp="1"/>
          </p:cNvSpPr>
          <p:nvPr>
            <p:ph type="title"/>
          </p:nvPr>
        </p:nvSpPr>
        <p:spPr>
          <a:xfrm>
            <a:off x="457200" y="-12"/>
            <a:ext cx="8229600" cy="11430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solidFill>
                  <a:schemeClr val="accent1"/>
                </a:solidFill>
              </a:rPr>
              <a:t>Gender Discrimination</a:t>
            </a:r>
            <a:endParaRPr>
              <a:solidFill>
                <a:schemeClr val="accent1"/>
              </a:solidFill>
            </a:endParaRPr>
          </a:p>
        </p:txBody>
      </p:sp>
      <p:sp>
        <p:nvSpPr>
          <p:cNvPr id="39" name="Google Shape;39;p10"/>
          <p:cNvSpPr txBox="1">
            <a:spLocks noGrp="1"/>
          </p:cNvSpPr>
          <p:nvPr>
            <p:ph type="body" idx="1"/>
          </p:nvPr>
        </p:nvSpPr>
        <p:spPr>
          <a:xfrm>
            <a:off x="457200" y="1143000"/>
            <a:ext cx="8154000" cy="5382000"/>
          </a:xfrm>
          <a:prstGeom prst="rect">
            <a:avLst/>
          </a:prstGeom>
        </p:spPr>
        <p:txBody>
          <a:bodyPr spcFirstLastPara="1" wrap="square" lIns="91425" tIns="91425" rIns="91425" bIns="91425" anchor="t" anchorCtr="0">
            <a:noAutofit/>
          </a:bodyPr>
          <a:lstStyle/>
          <a:p>
            <a:pPr marL="457200" lvl="0" indent="-349250" algn="l" rtl="0">
              <a:lnSpc>
                <a:spcPct val="115000"/>
              </a:lnSpc>
              <a:spcBef>
                <a:spcPts val="600"/>
              </a:spcBef>
              <a:spcAft>
                <a:spcPts val="0"/>
              </a:spcAft>
              <a:buClr>
                <a:srgbClr val="000000"/>
              </a:buClr>
              <a:buSzPts val="1900"/>
              <a:buChar char="●"/>
            </a:pPr>
            <a:r>
              <a:rPr lang="en" sz="1900" dirty="0">
                <a:solidFill>
                  <a:srgbClr val="000000"/>
                </a:solidFill>
              </a:rPr>
              <a:t>In 1972, as a part of a study on gender discrimination, 48 male bank supervisors were each given the same personnel file and asked to judge whether the person should be promoted to a branch manager job that was described as “routine”.</a:t>
            </a:r>
            <a:endParaRPr sz="1900" dirty="0">
              <a:solidFill>
                <a:srgbClr val="000000"/>
              </a:solidFill>
            </a:endParaRPr>
          </a:p>
          <a:p>
            <a:pPr marL="457200" lvl="0" indent="-349250" algn="l" rtl="0">
              <a:lnSpc>
                <a:spcPct val="115000"/>
              </a:lnSpc>
              <a:spcBef>
                <a:spcPts val="0"/>
              </a:spcBef>
              <a:spcAft>
                <a:spcPts val="0"/>
              </a:spcAft>
              <a:buClr>
                <a:srgbClr val="000000"/>
              </a:buClr>
              <a:buSzPts val="1900"/>
              <a:buChar char="●"/>
            </a:pPr>
            <a:r>
              <a:rPr lang="en" sz="1900" dirty="0">
                <a:solidFill>
                  <a:srgbClr val="000000"/>
                </a:solidFill>
              </a:rPr>
              <a:t>The files were identical except that half of the supervisors had files showing the person was male while the other half had files showing the person was female.</a:t>
            </a:r>
            <a:endParaRPr sz="1900" dirty="0">
              <a:solidFill>
                <a:srgbClr val="000000"/>
              </a:solidFill>
            </a:endParaRPr>
          </a:p>
          <a:p>
            <a:pPr marL="457200" lvl="0" indent="-349250" algn="l" rtl="0">
              <a:lnSpc>
                <a:spcPct val="115000"/>
              </a:lnSpc>
              <a:spcBef>
                <a:spcPts val="0"/>
              </a:spcBef>
              <a:spcAft>
                <a:spcPts val="0"/>
              </a:spcAft>
              <a:buClr>
                <a:srgbClr val="000000"/>
              </a:buClr>
              <a:buSzPts val="1900"/>
              <a:buChar char="●"/>
            </a:pPr>
            <a:r>
              <a:rPr lang="en" sz="1900" dirty="0">
                <a:solidFill>
                  <a:srgbClr val="000000"/>
                </a:solidFill>
              </a:rPr>
              <a:t>It was randomly determined which supervisors got “male” applications and which got “female” applications.</a:t>
            </a:r>
            <a:endParaRPr sz="1900" dirty="0">
              <a:solidFill>
                <a:srgbClr val="000000"/>
              </a:solidFill>
            </a:endParaRPr>
          </a:p>
          <a:p>
            <a:pPr marL="457200" lvl="0" indent="-349250" algn="l" rtl="0">
              <a:lnSpc>
                <a:spcPct val="115000"/>
              </a:lnSpc>
              <a:spcBef>
                <a:spcPts val="0"/>
              </a:spcBef>
              <a:spcAft>
                <a:spcPts val="0"/>
              </a:spcAft>
              <a:buClr>
                <a:srgbClr val="000000"/>
              </a:buClr>
              <a:buSzPts val="1900"/>
              <a:buChar char="●"/>
            </a:pPr>
            <a:r>
              <a:rPr lang="en" sz="1900" dirty="0">
                <a:solidFill>
                  <a:srgbClr val="000000"/>
                </a:solidFill>
              </a:rPr>
              <a:t>Of the 48 files reviewed, 35 were promoted.</a:t>
            </a:r>
            <a:endParaRPr sz="1900" dirty="0">
              <a:solidFill>
                <a:srgbClr val="000000"/>
              </a:solidFill>
            </a:endParaRPr>
          </a:p>
          <a:p>
            <a:pPr marL="457200" lvl="0" indent="-349250" algn="l" rtl="0">
              <a:lnSpc>
                <a:spcPct val="115000"/>
              </a:lnSpc>
              <a:spcBef>
                <a:spcPts val="0"/>
              </a:spcBef>
              <a:spcAft>
                <a:spcPts val="0"/>
              </a:spcAft>
              <a:buClr>
                <a:srgbClr val="000000"/>
              </a:buClr>
              <a:buSzPts val="1900"/>
              <a:buChar char="●"/>
            </a:pPr>
            <a:r>
              <a:rPr lang="en" sz="1900" dirty="0">
                <a:solidFill>
                  <a:srgbClr val="000000"/>
                </a:solidFill>
              </a:rPr>
              <a:t>The study is testing whether females are unfairly discriminated against.</a:t>
            </a:r>
            <a:endParaRPr sz="1900" dirty="0">
              <a:solidFill>
                <a:srgbClr val="000000"/>
              </a:solidFill>
            </a:endParaRPr>
          </a:p>
          <a:p>
            <a:pPr marL="0" lvl="0" indent="0" algn="l" rtl="0">
              <a:lnSpc>
                <a:spcPct val="115000"/>
              </a:lnSpc>
              <a:spcBef>
                <a:spcPts val="600"/>
              </a:spcBef>
              <a:spcAft>
                <a:spcPts val="0"/>
              </a:spcAft>
              <a:buNone/>
            </a:pPr>
            <a:r>
              <a:rPr lang="en" sz="1900" dirty="0">
                <a:solidFill>
                  <a:schemeClr val="accent1"/>
                </a:solidFill>
              </a:rPr>
              <a:t>Is this an observational study or an experiment?</a:t>
            </a:r>
            <a:endParaRPr sz="1900" dirty="0">
              <a:solidFill>
                <a:schemeClr val="accent1"/>
              </a:solidFill>
            </a:endParaRPr>
          </a:p>
          <a:p>
            <a:pPr marL="0" lvl="0" indent="0" algn="l" rtl="0">
              <a:lnSpc>
                <a:spcPct val="115000"/>
              </a:lnSpc>
              <a:spcBef>
                <a:spcPts val="600"/>
              </a:spcBef>
              <a:spcAft>
                <a:spcPts val="0"/>
              </a:spcAft>
              <a:buNone/>
            </a:pPr>
            <a:endParaRPr sz="1900" dirty="0">
              <a:solidFill>
                <a:srgbClr val="000000"/>
              </a:solidFill>
            </a:endParaRP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Shape 50"/>
        <p:cNvGrpSpPr/>
        <p:nvPr/>
      </p:nvGrpSpPr>
      <p:grpSpPr>
        <a:xfrm>
          <a:off x="0" y="0"/>
          <a:ext cx="0" cy="0"/>
          <a:chOff x="0" y="0"/>
          <a:chExt cx="0" cy="0"/>
        </a:xfrm>
      </p:grpSpPr>
      <p:sp>
        <p:nvSpPr>
          <p:cNvPr id="51" name="Google Shape;51;p12"/>
          <p:cNvSpPr txBox="1">
            <a:spLocks noGrp="1"/>
          </p:cNvSpPr>
          <p:nvPr>
            <p:ph type="body" idx="1"/>
          </p:nvPr>
        </p:nvSpPr>
        <p:spPr>
          <a:xfrm>
            <a:off x="457200" y="1143000"/>
            <a:ext cx="8154000" cy="1143000"/>
          </a:xfrm>
          <a:prstGeom prst="rect">
            <a:avLst/>
          </a:prstGeom>
        </p:spPr>
        <p:txBody>
          <a:bodyPr spcFirstLastPara="1" wrap="square" lIns="91425" tIns="91425" rIns="91425" bIns="91425" anchor="t" anchorCtr="0">
            <a:noAutofit/>
          </a:bodyPr>
          <a:lstStyle/>
          <a:p>
            <a:pPr marL="0" lvl="0" indent="0" algn="l" rtl="0">
              <a:lnSpc>
                <a:spcPct val="115000"/>
              </a:lnSpc>
              <a:spcBef>
                <a:spcPts val="600"/>
              </a:spcBef>
              <a:spcAft>
                <a:spcPts val="0"/>
              </a:spcAft>
              <a:buNone/>
            </a:pPr>
            <a:r>
              <a:rPr lang="en" sz="1900">
                <a:solidFill>
                  <a:schemeClr val="accent1"/>
                </a:solidFill>
              </a:rPr>
              <a:t>At a first glance, does there appear to be a relationship between promotion and gender?</a:t>
            </a:r>
            <a:endParaRPr sz="1900">
              <a:solidFill>
                <a:schemeClr val="accent1"/>
              </a:solidFill>
            </a:endParaRPr>
          </a:p>
        </p:txBody>
      </p:sp>
      <p:sp>
        <p:nvSpPr>
          <p:cNvPr id="52" name="Google Shape;52;p12"/>
          <p:cNvSpPr txBox="1">
            <a:spLocks noGrp="1"/>
          </p:cNvSpPr>
          <p:nvPr>
            <p:ph type="title"/>
          </p:nvPr>
        </p:nvSpPr>
        <p:spPr>
          <a:xfrm>
            <a:off x="457200" y="-12"/>
            <a:ext cx="8229600" cy="11430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solidFill>
                  <a:schemeClr val="accent1"/>
                </a:solidFill>
              </a:rPr>
              <a:t>Data</a:t>
            </a:r>
            <a:endParaRPr>
              <a:solidFill>
                <a:schemeClr val="accent1"/>
              </a:solidFill>
            </a:endParaRPr>
          </a:p>
        </p:txBody>
      </p:sp>
      <p:sp>
        <p:nvSpPr>
          <p:cNvPr id="53" name="Google Shape;53;p12"/>
          <p:cNvSpPr txBox="1"/>
          <p:nvPr/>
        </p:nvSpPr>
        <p:spPr>
          <a:xfrm>
            <a:off x="473450" y="4440475"/>
            <a:ext cx="8229600" cy="1936800"/>
          </a:xfrm>
          <a:prstGeom prst="rect">
            <a:avLst/>
          </a:prstGeom>
          <a:noFill/>
          <a:ln>
            <a:noFill/>
          </a:ln>
        </p:spPr>
        <p:txBody>
          <a:bodyPr spcFirstLastPara="1" wrap="square" lIns="91425" tIns="91425" rIns="91425" bIns="91425" anchor="t" anchorCtr="0">
            <a:noAutofit/>
          </a:bodyPr>
          <a:lstStyle/>
          <a:p>
            <a:pPr marL="0" lvl="0" indent="0" algn="l" rtl="0">
              <a:lnSpc>
                <a:spcPct val="150000"/>
              </a:lnSpc>
              <a:spcBef>
                <a:spcPts val="0"/>
              </a:spcBef>
              <a:spcAft>
                <a:spcPts val="0"/>
              </a:spcAft>
              <a:buClr>
                <a:srgbClr val="000000"/>
              </a:buClr>
              <a:buSzPts val="1100"/>
              <a:buFont typeface="Arial"/>
              <a:buNone/>
            </a:pPr>
            <a:r>
              <a:rPr lang="en" sz="1900" b="1" dirty="0"/>
              <a:t>% of males promoted:</a:t>
            </a:r>
            <a:r>
              <a:rPr lang="en" sz="1900" dirty="0"/>
              <a:t> 21 / 24 = 0.875</a:t>
            </a:r>
            <a:endParaRPr sz="1900" dirty="0"/>
          </a:p>
          <a:p>
            <a:pPr marL="0" lvl="0" indent="0" algn="l" rtl="0">
              <a:lnSpc>
                <a:spcPct val="150000"/>
              </a:lnSpc>
              <a:spcBef>
                <a:spcPts val="0"/>
              </a:spcBef>
              <a:spcAft>
                <a:spcPts val="0"/>
              </a:spcAft>
              <a:buNone/>
            </a:pPr>
            <a:r>
              <a:rPr lang="en" sz="1900" b="1" dirty="0"/>
              <a:t>% of females promoted:</a:t>
            </a:r>
            <a:r>
              <a:rPr lang="en" sz="1900" dirty="0"/>
              <a:t> 14 / 24 = 0.583</a:t>
            </a:r>
          </a:p>
          <a:p>
            <a:pPr marL="0" lvl="0" indent="0" algn="l" rtl="0">
              <a:lnSpc>
                <a:spcPct val="150000"/>
              </a:lnSpc>
              <a:spcBef>
                <a:spcPts val="0"/>
              </a:spcBef>
              <a:spcAft>
                <a:spcPts val="0"/>
              </a:spcAft>
              <a:buNone/>
            </a:pPr>
            <a:endParaRPr lang="en" sz="1900" dirty="0"/>
          </a:p>
          <a:p>
            <a:pPr marL="0" lvl="0" indent="0" algn="l" rtl="0">
              <a:lnSpc>
                <a:spcPct val="150000"/>
              </a:lnSpc>
              <a:spcBef>
                <a:spcPts val="0"/>
              </a:spcBef>
              <a:spcAft>
                <a:spcPts val="0"/>
              </a:spcAft>
              <a:buNone/>
            </a:pPr>
            <a:r>
              <a:rPr lang="en-US" altLang="zh-CN" sz="1900" dirty="0"/>
              <a:t>Observing some difference does not automatically mean there was discrimination. There might be a difference from chance/randomness alone.</a:t>
            </a:r>
            <a:endParaRPr sz="1900" dirty="0"/>
          </a:p>
        </p:txBody>
      </p:sp>
      <p:pic>
        <p:nvPicPr>
          <p:cNvPr id="54" name="Google Shape;54;p12"/>
          <p:cNvPicPr preferRelativeResize="0"/>
          <p:nvPr/>
        </p:nvPicPr>
        <p:blipFill>
          <a:blip r:embed="rId3">
            <a:alphaModFix/>
          </a:blip>
          <a:stretch>
            <a:fillRect/>
          </a:stretch>
        </p:blipFill>
        <p:spPr>
          <a:xfrm>
            <a:off x="457197" y="2212850"/>
            <a:ext cx="6747075" cy="1799500"/>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3"/>
                                        </p:tgtEl>
                                        <p:attrNameLst>
                                          <p:attrName>style.visibility</p:attrName>
                                        </p:attrNameLst>
                                      </p:cBhvr>
                                      <p:to>
                                        <p:strVal val="visible"/>
                                      </p:to>
                                    </p:set>
                                    <p:animEffect transition="in" filter="fade">
                                      <p:cBhvr>
                                        <p:cTn id="7" dur="1000"/>
                                        <p:tgtEl>
                                          <p:spTgt spid="5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Shape 58"/>
        <p:cNvGrpSpPr/>
        <p:nvPr/>
      </p:nvGrpSpPr>
      <p:grpSpPr>
        <a:xfrm>
          <a:off x="0" y="0"/>
          <a:ext cx="0" cy="0"/>
          <a:chOff x="0" y="0"/>
          <a:chExt cx="0" cy="0"/>
        </a:xfrm>
      </p:grpSpPr>
      <p:sp>
        <p:nvSpPr>
          <p:cNvPr id="59" name="Google Shape;59;p13"/>
          <p:cNvSpPr txBox="1">
            <a:spLocks noGrp="1"/>
          </p:cNvSpPr>
          <p:nvPr>
            <p:ph type="body" idx="1"/>
          </p:nvPr>
        </p:nvSpPr>
        <p:spPr>
          <a:xfrm>
            <a:off x="457200" y="1143000"/>
            <a:ext cx="8154000" cy="1143000"/>
          </a:xfrm>
          <a:prstGeom prst="rect">
            <a:avLst/>
          </a:prstGeom>
        </p:spPr>
        <p:txBody>
          <a:bodyPr spcFirstLastPara="1" wrap="square" lIns="91425" tIns="91425" rIns="91425" bIns="91425" anchor="t" anchorCtr="0">
            <a:noAutofit/>
          </a:bodyPr>
          <a:lstStyle/>
          <a:p>
            <a:pPr marL="0" lvl="0" indent="0" algn="l" rtl="0">
              <a:lnSpc>
                <a:spcPct val="115000"/>
              </a:lnSpc>
              <a:spcBef>
                <a:spcPts val="600"/>
              </a:spcBef>
              <a:spcAft>
                <a:spcPts val="0"/>
              </a:spcAft>
              <a:buClr>
                <a:srgbClr val="000000"/>
              </a:buClr>
              <a:buSzPts val="1100"/>
              <a:buFont typeface="Arial"/>
              <a:buNone/>
            </a:pPr>
            <a:r>
              <a:rPr lang="en" sz="1900">
                <a:solidFill>
                  <a:schemeClr val="accent1"/>
                </a:solidFill>
              </a:rPr>
              <a:t>We saw a difference of almost 30% (29.2% to be exact) between the proportion of male and female files that are promoted. Based on this information, which of the below is true?</a:t>
            </a:r>
            <a:endParaRPr sz="1900">
              <a:solidFill>
                <a:schemeClr val="accent1"/>
              </a:solidFill>
            </a:endParaRPr>
          </a:p>
          <a:p>
            <a:pPr marL="457200" lvl="0" indent="-349250" algn="l" rtl="0">
              <a:lnSpc>
                <a:spcPct val="115000"/>
              </a:lnSpc>
              <a:spcBef>
                <a:spcPts val="1000"/>
              </a:spcBef>
              <a:spcAft>
                <a:spcPts val="0"/>
              </a:spcAft>
              <a:buClr>
                <a:srgbClr val="000000"/>
              </a:buClr>
              <a:buSzPts val="1900"/>
              <a:buAutoNum type="alphaUcPeriod"/>
            </a:pPr>
            <a:r>
              <a:rPr lang="en" sz="1900">
                <a:solidFill>
                  <a:srgbClr val="000000"/>
                </a:solidFill>
              </a:rPr>
              <a:t>If we were to repeat the experiment we will definitely see that more female files get promoted. This was a fluke.</a:t>
            </a:r>
            <a:endParaRPr sz="1900">
              <a:solidFill>
                <a:srgbClr val="000000"/>
              </a:solidFill>
            </a:endParaRPr>
          </a:p>
          <a:p>
            <a:pPr marL="457200" lvl="0" indent="-349250" algn="l" rtl="0">
              <a:lnSpc>
                <a:spcPct val="115000"/>
              </a:lnSpc>
              <a:spcBef>
                <a:spcPts val="0"/>
              </a:spcBef>
              <a:spcAft>
                <a:spcPts val="0"/>
              </a:spcAft>
              <a:buClr>
                <a:srgbClr val="000000"/>
              </a:buClr>
              <a:buSzPts val="1900"/>
              <a:buAutoNum type="alphaUcPeriod"/>
            </a:pPr>
            <a:r>
              <a:rPr lang="en" sz="1900">
                <a:solidFill>
                  <a:srgbClr val="000000"/>
                </a:solidFill>
              </a:rPr>
              <a:t>Promotion is dependent on gender, males are more likely to be promoted, and hence there is gender discrimination against women in promotion decisions.</a:t>
            </a:r>
            <a:endParaRPr sz="1900">
              <a:solidFill>
                <a:srgbClr val="000000"/>
              </a:solidFill>
            </a:endParaRPr>
          </a:p>
          <a:p>
            <a:pPr marL="457200" lvl="0" indent="-349250" algn="l" rtl="0">
              <a:lnSpc>
                <a:spcPct val="115000"/>
              </a:lnSpc>
              <a:spcBef>
                <a:spcPts val="0"/>
              </a:spcBef>
              <a:spcAft>
                <a:spcPts val="0"/>
              </a:spcAft>
              <a:buClr>
                <a:srgbClr val="000000"/>
              </a:buClr>
              <a:buSzPts val="1900"/>
              <a:buAutoNum type="alphaUcPeriod"/>
            </a:pPr>
            <a:r>
              <a:rPr lang="en" sz="1900">
                <a:solidFill>
                  <a:srgbClr val="000000"/>
                </a:solidFill>
              </a:rPr>
              <a:t>The difference in the proportions of promoted male and female files is due to chance, this is not evidence of gender discrimination against women in promotion decisions.</a:t>
            </a:r>
            <a:endParaRPr sz="1900">
              <a:solidFill>
                <a:srgbClr val="000000"/>
              </a:solidFill>
            </a:endParaRPr>
          </a:p>
          <a:p>
            <a:pPr marL="457200" lvl="0" indent="-349250" algn="l" rtl="0">
              <a:lnSpc>
                <a:spcPct val="115000"/>
              </a:lnSpc>
              <a:spcBef>
                <a:spcPts val="0"/>
              </a:spcBef>
              <a:spcAft>
                <a:spcPts val="0"/>
              </a:spcAft>
              <a:buClr>
                <a:srgbClr val="000000"/>
              </a:buClr>
              <a:buSzPts val="1900"/>
              <a:buAutoNum type="alphaUcPeriod"/>
            </a:pPr>
            <a:r>
              <a:rPr lang="en" sz="1900">
                <a:solidFill>
                  <a:srgbClr val="000000"/>
                </a:solidFill>
              </a:rPr>
              <a:t>Women are less qualified than men, and this is why fewer females get promoted.</a:t>
            </a:r>
            <a:endParaRPr sz="1900">
              <a:solidFill>
                <a:srgbClr val="000000"/>
              </a:solidFill>
            </a:endParaRPr>
          </a:p>
        </p:txBody>
      </p:sp>
      <p:sp>
        <p:nvSpPr>
          <p:cNvPr id="60" name="Google Shape;60;p13"/>
          <p:cNvSpPr txBox="1">
            <a:spLocks noGrp="1"/>
          </p:cNvSpPr>
          <p:nvPr>
            <p:ph type="title"/>
          </p:nvPr>
        </p:nvSpPr>
        <p:spPr>
          <a:xfrm>
            <a:off x="457200" y="-12"/>
            <a:ext cx="8229600" cy="11430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solidFill>
                  <a:schemeClr val="accent1"/>
                </a:solidFill>
              </a:rPr>
              <a:t>Practice</a:t>
            </a:r>
            <a:endParaRPr>
              <a:solidFill>
                <a:schemeClr val="accent1"/>
              </a:solidFill>
            </a:endParaRP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Shape 64"/>
        <p:cNvGrpSpPr/>
        <p:nvPr/>
      </p:nvGrpSpPr>
      <p:grpSpPr>
        <a:xfrm>
          <a:off x="0" y="0"/>
          <a:ext cx="0" cy="0"/>
          <a:chOff x="0" y="0"/>
          <a:chExt cx="0" cy="0"/>
        </a:xfrm>
      </p:grpSpPr>
      <p:sp>
        <p:nvSpPr>
          <p:cNvPr id="65" name="Google Shape;65;p14"/>
          <p:cNvSpPr txBox="1">
            <a:spLocks noGrp="1"/>
          </p:cNvSpPr>
          <p:nvPr>
            <p:ph type="body" idx="1"/>
          </p:nvPr>
        </p:nvSpPr>
        <p:spPr>
          <a:xfrm>
            <a:off x="457200" y="1143000"/>
            <a:ext cx="8154000" cy="1143000"/>
          </a:xfrm>
          <a:prstGeom prst="rect">
            <a:avLst/>
          </a:prstGeom>
        </p:spPr>
        <p:txBody>
          <a:bodyPr spcFirstLastPara="1" wrap="square" lIns="91425" tIns="91425" rIns="91425" bIns="91425" anchor="t" anchorCtr="0">
            <a:noAutofit/>
          </a:bodyPr>
          <a:lstStyle/>
          <a:p>
            <a:pPr marL="0" lvl="0" indent="0" algn="l" rtl="0">
              <a:lnSpc>
                <a:spcPct val="115000"/>
              </a:lnSpc>
              <a:spcBef>
                <a:spcPts val="600"/>
              </a:spcBef>
              <a:spcAft>
                <a:spcPts val="0"/>
              </a:spcAft>
              <a:buClr>
                <a:srgbClr val="000000"/>
              </a:buClr>
              <a:buSzPts val="1100"/>
              <a:buFont typeface="Arial"/>
              <a:buNone/>
            </a:pPr>
            <a:r>
              <a:rPr lang="en" sz="1900">
                <a:solidFill>
                  <a:schemeClr val="accent1"/>
                </a:solidFill>
              </a:rPr>
              <a:t>We saw a difference of almost 30% (29.2% to be exact) between the proportion of male and female files that are promoted. Based on this information, which of the below is true?</a:t>
            </a:r>
            <a:endParaRPr sz="1900">
              <a:solidFill>
                <a:schemeClr val="accent1"/>
              </a:solidFill>
            </a:endParaRPr>
          </a:p>
          <a:p>
            <a:pPr marL="457200" lvl="0" indent="-349250" algn="l" rtl="0">
              <a:lnSpc>
                <a:spcPct val="115000"/>
              </a:lnSpc>
              <a:spcBef>
                <a:spcPts val="1000"/>
              </a:spcBef>
              <a:spcAft>
                <a:spcPts val="0"/>
              </a:spcAft>
              <a:buClr>
                <a:srgbClr val="000000"/>
              </a:buClr>
              <a:buSzPts val="1900"/>
              <a:buAutoNum type="alphaUcPeriod"/>
            </a:pPr>
            <a:r>
              <a:rPr lang="en" sz="1900">
                <a:solidFill>
                  <a:srgbClr val="000000"/>
                </a:solidFill>
              </a:rPr>
              <a:t>If we were to repeat the experiment we will definitely see that more female files get promoted. This was a fluke.</a:t>
            </a:r>
            <a:endParaRPr sz="1900">
              <a:solidFill>
                <a:srgbClr val="000000"/>
              </a:solidFill>
            </a:endParaRPr>
          </a:p>
          <a:p>
            <a:pPr marL="457200" lvl="0" indent="-349250" algn="l" rtl="0">
              <a:lnSpc>
                <a:spcPct val="115000"/>
              </a:lnSpc>
              <a:spcBef>
                <a:spcPts val="0"/>
              </a:spcBef>
              <a:spcAft>
                <a:spcPts val="0"/>
              </a:spcAft>
              <a:buClr>
                <a:schemeClr val="accent1"/>
              </a:buClr>
              <a:buSzPts val="1900"/>
              <a:buAutoNum type="alphaUcPeriod"/>
            </a:pPr>
            <a:r>
              <a:rPr lang="en" sz="1900">
                <a:solidFill>
                  <a:schemeClr val="accent1"/>
                </a:solidFill>
              </a:rPr>
              <a:t>Promotion is dependent on gender, males are more likely to be promoted, and hence there is gender discrimination against women in promotion decisions.  </a:t>
            </a:r>
            <a:r>
              <a:rPr lang="en" sz="1900">
                <a:solidFill>
                  <a:srgbClr val="FF9900"/>
                </a:solidFill>
              </a:rPr>
              <a:t>Maybe</a:t>
            </a:r>
            <a:endParaRPr sz="1900">
              <a:solidFill>
                <a:srgbClr val="FF9900"/>
              </a:solidFill>
            </a:endParaRPr>
          </a:p>
          <a:p>
            <a:pPr marL="457200" lvl="0" indent="-349250" algn="l" rtl="0">
              <a:lnSpc>
                <a:spcPct val="115000"/>
              </a:lnSpc>
              <a:spcBef>
                <a:spcPts val="0"/>
              </a:spcBef>
              <a:spcAft>
                <a:spcPts val="0"/>
              </a:spcAft>
              <a:buClr>
                <a:schemeClr val="accent1"/>
              </a:buClr>
              <a:buSzPts val="1900"/>
              <a:buAutoNum type="alphaUcPeriod"/>
            </a:pPr>
            <a:r>
              <a:rPr lang="en" sz="1900">
                <a:solidFill>
                  <a:schemeClr val="accent1"/>
                </a:solidFill>
              </a:rPr>
              <a:t>The difference in the proportions of promoted male and female files is due to chance, this is not evidence of gender discrimination against women in promotion decisions. </a:t>
            </a:r>
            <a:r>
              <a:rPr lang="en" sz="1900">
                <a:solidFill>
                  <a:srgbClr val="FF9900"/>
                </a:solidFill>
              </a:rPr>
              <a:t>Maybe</a:t>
            </a:r>
            <a:endParaRPr sz="1900">
              <a:solidFill>
                <a:srgbClr val="FF9900"/>
              </a:solidFill>
            </a:endParaRPr>
          </a:p>
          <a:p>
            <a:pPr marL="457200" lvl="0" indent="-349250" algn="l" rtl="0">
              <a:lnSpc>
                <a:spcPct val="115000"/>
              </a:lnSpc>
              <a:spcBef>
                <a:spcPts val="0"/>
              </a:spcBef>
              <a:spcAft>
                <a:spcPts val="0"/>
              </a:spcAft>
              <a:buClr>
                <a:srgbClr val="000000"/>
              </a:buClr>
              <a:buSzPts val="1900"/>
              <a:buAutoNum type="alphaUcPeriod"/>
            </a:pPr>
            <a:r>
              <a:rPr lang="en" sz="1900">
                <a:solidFill>
                  <a:srgbClr val="000000"/>
                </a:solidFill>
              </a:rPr>
              <a:t>Women are less qualified than men, and this is why fewer females get promoted.</a:t>
            </a:r>
            <a:endParaRPr sz="1900">
              <a:solidFill>
                <a:srgbClr val="000000"/>
              </a:solidFill>
            </a:endParaRPr>
          </a:p>
        </p:txBody>
      </p:sp>
      <p:sp>
        <p:nvSpPr>
          <p:cNvPr id="66" name="Google Shape;66;p14"/>
          <p:cNvSpPr txBox="1">
            <a:spLocks noGrp="1"/>
          </p:cNvSpPr>
          <p:nvPr>
            <p:ph type="title"/>
          </p:nvPr>
        </p:nvSpPr>
        <p:spPr>
          <a:xfrm>
            <a:off x="457200" y="-12"/>
            <a:ext cx="8229600" cy="11430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solidFill>
                  <a:schemeClr val="accent1"/>
                </a:solidFill>
              </a:rPr>
              <a:t>Practice</a:t>
            </a:r>
            <a:endParaRPr>
              <a:solidFill>
                <a:schemeClr val="accent1"/>
              </a:solidFill>
            </a:endParaRPr>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Shape 76"/>
        <p:cNvGrpSpPr/>
        <p:nvPr/>
      </p:nvGrpSpPr>
      <p:grpSpPr>
        <a:xfrm>
          <a:off x="0" y="0"/>
          <a:ext cx="0" cy="0"/>
          <a:chOff x="0" y="0"/>
          <a:chExt cx="0" cy="0"/>
        </a:xfrm>
      </p:grpSpPr>
      <p:sp>
        <p:nvSpPr>
          <p:cNvPr id="77" name="Google Shape;77;p16"/>
          <p:cNvSpPr txBox="1">
            <a:spLocks noGrp="1"/>
          </p:cNvSpPr>
          <p:nvPr>
            <p:ph type="body" idx="1"/>
          </p:nvPr>
        </p:nvSpPr>
        <p:spPr>
          <a:xfrm>
            <a:off x="457200" y="3780975"/>
            <a:ext cx="8154000" cy="1143000"/>
          </a:xfrm>
          <a:prstGeom prst="rect">
            <a:avLst/>
          </a:prstGeom>
        </p:spPr>
        <p:txBody>
          <a:bodyPr spcFirstLastPara="1" wrap="square" lIns="91425" tIns="91425" rIns="91425" bIns="91425" anchor="t" anchorCtr="0">
            <a:noAutofit/>
          </a:bodyPr>
          <a:lstStyle/>
          <a:p>
            <a:pPr marL="457200" lvl="0" indent="-349250" algn="l" rtl="0">
              <a:lnSpc>
                <a:spcPct val="115000"/>
              </a:lnSpc>
              <a:spcBef>
                <a:spcPts val="600"/>
              </a:spcBef>
              <a:spcAft>
                <a:spcPts val="0"/>
              </a:spcAft>
              <a:buSzPts val="1900"/>
              <a:buAutoNum type="arabicPeriod" startAt="2"/>
            </a:pPr>
            <a:r>
              <a:rPr lang="en" sz="1900">
                <a:solidFill>
                  <a:srgbClr val="000000"/>
                </a:solidFill>
              </a:rPr>
              <a:t>“There is something going on.”</a:t>
            </a:r>
            <a:endParaRPr sz="1900">
              <a:solidFill>
                <a:srgbClr val="000000"/>
              </a:solidFill>
            </a:endParaRPr>
          </a:p>
          <a:p>
            <a:pPr marL="457200" lvl="0" indent="0" algn="l" rtl="0">
              <a:lnSpc>
                <a:spcPct val="115000"/>
              </a:lnSpc>
              <a:spcBef>
                <a:spcPts val="600"/>
              </a:spcBef>
              <a:spcAft>
                <a:spcPts val="0"/>
              </a:spcAft>
              <a:buNone/>
            </a:pPr>
            <a:r>
              <a:rPr lang="en" sz="1900">
                <a:solidFill>
                  <a:srgbClr val="000000"/>
                </a:solidFill>
              </a:rPr>
              <a:t>Promotion and gender are </a:t>
            </a:r>
            <a:r>
              <a:rPr lang="en" sz="1900" i="1">
                <a:solidFill>
                  <a:schemeClr val="accent1"/>
                </a:solidFill>
              </a:rPr>
              <a:t>dependent</a:t>
            </a:r>
            <a:r>
              <a:rPr lang="en" sz="1900">
                <a:solidFill>
                  <a:srgbClr val="000000"/>
                </a:solidFill>
              </a:rPr>
              <a:t>, there is gender discrimination, observed difference in proportions is not due to chance.</a:t>
            </a:r>
            <a:endParaRPr sz="1900">
              <a:solidFill>
                <a:srgbClr val="000000"/>
              </a:solidFill>
            </a:endParaRPr>
          </a:p>
          <a:p>
            <a:pPr marL="457200" lvl="0" indent="0" algn="l" rtl="0">
              <a:lnSpc>
                <a:spcPct val="115000"/>
              </a:lnSpc>
              <a:spcBef>
                <a:spcPts val="600"/>
              </a:spcBef>
              <a:spcAft>
                <a:spcPts val="0"/>
              </a:spcAft>
              <a:buNone/>
            </a:pPr>
            <a:r>
              <a:rPr lang="en" sz="1900">
                <a:solidFill>
                  <a:srgbClr val="000000"/>
                </a:solidFill>
              </a:rPr>
              <a:t>→ </a:t>
            </a:r>
            <a:r>
              <a:rPr lang="en" sz="1900">
                <a:solidFill>
                  <a:schemeClr val="accent1"/>
                </a:solidFill>
              </a:rPr>
              <a:t>Alternative Hypothesis</a:t>
            </a:r>
            <a:endParaRPr sz="1900">
              <a:solidFill>
                <a:srgbClr val="000000"/>
              </a:solidFill>
            </a:endParaRPr>
          </a:p>
        </p:txBody>
      </p:sp>
      <p:sp>
        <p:nvSpPr>
          <p:cNvPr id="78" name="Google Shape;78;p16"/>
          <p:cNvSpPr txBox="1">
            <a:spLocks noGrp="1"/>
          </p:cNvSpPr>
          <p:nvPr>
            <p:ph type="body" idx="1"/>
          </p:nvPr>
        </p:nvSpPr>
        <p:spPr>
          <a:xfrm>
            <a:off x="495000" y="1600200"/>
            <a:ext cx="8154000" cy="1990200"/>
          </a:xfrm>
          <a:prstGeom prst="rect">
            <a:avLst/>
          </a:prstGeom>
        </p:spPr>
        <p:txBody>
          <a:bodyPr spcFirstLastPara="1" wrap="square" lIns="91425" tIns="91425" rIns="91425" bIns="91425" anchor="t" anchorCtr="0">
            <a:noAutofit/>
          </a:bodyPr>
          <a:lstStyle/>
          <a:p>
            <a:pPr marL="457200" lvl="0" indent="-349250" algn="l" rtl="0">
              <a:lnSpc>
                <a:spcPct val="115000"/>
              </a:lnSpc>
              <a:spcBef>
                <a:spcPts val="600"/>
              </a:spcBef>
              <a:spcAft>
                <a:spcPts val="0"/>
              </a:spcAft>
              <a:buSzPts val="1900"/>
              <a:buAutoNum type="arabicPeriod"/>
            </a:pPr>
            <a:r>
              <a:rPr lang="en" sz="1900" dirty="0">
                <a:solidFill>
                  <a:srgbClr val="000000"/>
                </a:solidFill>
              </a:rPr>
              <a:t>“There is nothing going on.” (no difference)</a:t>
            </a:r>
            <a:endParaRPr sz="1900" dirty="0">
              <a:solidFill>
                <a:srgbClr val="000000"/>
              </a:solidFill>
            </a:endParaRPr>
          </a:p>
          <a:p>
            <a:pPr marL="457200" lvl="0" indent="0" algn="l" rtl="0">
              <a:lnSpc>
                <a:spcPct val="115000"/>
              </a:lnSpc>
              <a:spcBef>
                <a:spcPts val="600"/>
              </a:spcBef>
              <a:spcAft>
                <a:spcPts val="0"/>
              </a:spcAft>
              <a:buNone/>
            </a:pPr>
            <a:r>
              <a:rPr lang="en" sz="1900" dirty="0">
                <a:solidFill>
                  <a:srgbClr val="000000"/>
                </a:solidFill>
              </a:rPr>
              <a:t>Promotion and gender are </a:t>
            </a:r>
            <a:r>
              <a:rPr lang="en" sz="1900" i="1" dirty="0">
                <a:solidFill>
                  <a:schemeClr val="accent1"/>
                </a:solidFill>
              </a:rPr>
              <a:t>independent</a:t>
            </a:r>
            <a:r>
              <a:rPr lang="en" sz="1900" dirty="0">
                <a:solidFill>
                  <a:srgbClr val="000000"/>
                </a:solidFill>
              </a:rPr>
              <a:t>, no gender discrimination, observed difference in proportions is simply due to chance.</a:t>
            </a:r>
            <a:endParaRPr sz="1900" dirty="0">
              <a:solidFill>
                <a:srgbClr val="000000"/>
              </a:solidFill>
            </a:endParaRPr>
          </a:p>
          <a:p>
            <a:pPr marL="457200" lvl="0" indent="0" algn="l" rtl="0">
              <a:lnSpc>
                <a:spcPct val="115000"/>
              </a:lnSpc>
              <a:spcBef>
                <a:spcPts val="600"/>
              </a:spcBef>
              <a:spcAft>
                <a:spcPts val="0"/>
              </a:spcAft>
              <a:buNone/>
            </a:pPr>
            <a:r>
              <a:rPr lang="en" sz="1900" dirty="0">
                <a:solidFill>
                  <a:srgbClr val="000000"/>
                </a:solidFill>
              </a:rPr>
              <a:t>→ </a:t>
            </a:r>
            <a:r>
              <a:rPr lang="en" sz="1900" dirty="0">
                <a:solidFill>
                  <a:schemeClr val="accent1"/>
                </a:solidFill>
              </a:rPr>
              <a:t>Null Hypothesis</a:t>
            </a:r>
            <a:endParaRPr sz="1900" dirty="0">
              <a:solidFill>
                <a:srgbClr val="000000"/>
              </a:solidFill>
            </a:endParaRPr>
          </a:p>
          <a:p>
            <a:pPr marL="0" lvl="0" indent="0" algn="l" rtl="0">
              <a:lnSpc>
                <a:spcPct val="115000"/>
              </a:lnSpc>
              <a:spcBef>
                <a:spcPts val="600"/>
              </a:spcBef>
              <a:spcAft>
                <a:spcPts val="0"/>
              </a:spcAft>
              <a:buNone/>
            </a:pPr>
            <a:endParaRPr sz="1900" dirty="0">
              <a:solidFill>
                <a:srgbClr val="000000"/>
              </a:solidFill>
            </a:endParaRPr>
          </a:p>
        </p:txBody>
      </p:sp>
      <p:sp>
        <p:nvSpPr>
          <p:cNvPr id="79" name="Google Shape;79;p16"/>
          <p:cNvSpPr txBox="1">
            <a:spLocks noGrp="1"/>
          </p:cNvSpPr>
          <p:nvPr>
            <p:ph type="title"/>
          </p:nvPr>
        </p:nvSpPr>
        <p:spPr>
          <a:xfrm>
            <a:off x="457200" y="-12"/>
            <a:ext cx="8229600" cy="11430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solidFill>
                  <a:schemeClr val="accent1"/>
                </a:solidFill>
              </a:rPr>
              <a:t>Two Competing Claims</a:t>
            </a:r>
            <a:endParaRPr>
              <a:solidFill>
                <a:schemeClr val="accent1"/>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77"/>
                                        </p:tgtEl>
                                        <p:attrNameLst>
                                          <p:attrName>style.visibility</p:attrName>
                                        </p:attrNameLst>
                                      </p:cBhvr>
                                      <p:to>
                                        <p:strVal val="visible"/>
                                      </p:to>
                                    </p:set>
                                    <p:animEffect transition="in" filter="fade">
                                      <p:cBhvr>
                                        <p:cTn id="7" dur="1000"/>
                                        <p:tgtEl>
                                          <p:spTgt spid="7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Shape 83"/>
        <p:cNvGrpSpPr/>
        <p:nvPr/>
      </p:nvGrpSpPr>
      <p:grpSpPr>
        <a:xfrm>
          <a:off x="0" y="0"/>
          <a:ext cx="0" cy="0"/>
          <a:chOff x="0" y="0"/>
          <a:chExt cx="0" cy="0"/>
        </a:xfrm>
      </p:grpSpPr>
      <p:sp>
        <p:nvSpPr>
          <p:cNvPr id="84" name="Google Shape;84;p17"/>
          <p:cNvSpPr txBox="1">
            <a:spLocks noGrp="1"/>
          </p:cNvSpPr>
          <p:nvPr>
            <p:ph type="body" idx="1"/>
          </p:nvPr>
        </p:nvSpPr>
        <p:spPr>
          <a:xfrm>
            <a:off x="457200" y="3590975"/>
            <a:ext cx="8139600" cy="2900400"/>
          </a:xfrm>
          <a:prstGeom prst="rect">
            <a:avLst/>
          </a:prstGeom>
        </p:spPr>
        <p:txBody>
          <a:bodyPr spcFirstLastPara="1" wrap="square" lIns="91425" tIns="91425" rIns="91425" bIns="91425" anchor="t" anchorCtr="0">
            <a:noAutofit/>
          </a:bodyPr>
          <a:lstStyle/>
          <a:p>
            <a:pPr marL="457200" lvl="0" indent="-349250" algn="l" rtl="0">
              <a:lnSpc>
                <a:spcPct val="115000"/>
              </a:lnSpc>
              <a:spcBef>
                <a:spcPts val="600"/>
              </a:spcBef>
              <a:spcAft>
                <a:spcPts val="0"/>
              </a:spcAft>
              <a:buClr>
                <a:srgbClr val="000000"/>
              </a:buClr>
              <a:buSzPts val="1900"/>
              <a:buChar char="●"/>
            </a:pPr>
            <a:r>
              <a:rPr lang="en" sz="1900" dirty="0">
                <a:solidFill>
                  <a:srgbClr val="000000"/>
                </a:solidFill>
              </a:rPr>
              <a:t>Then we judge the evidence - “Could these data plausibly have happened by chance if the null hypothesis were true?“</a:t>
            </a:r>
          </a:p>
          <a:p>
            <a:pPr lvl="1" indent="-349250">
              <a:lnSpc>
                <a:spcPct val="115000"/>
              </a:lnSpc>
              <a:spcBef>
                <a:spcPts val="600"/>
              </a:spcBef>
              <a:buClr>
                <a:srgbClr val="000000"/>
              </a:buClr>
              <a:buSzPts val="1900"/>
              <a:buChar char="●"/>
            </a:pPr>
            <a:r>
              <a:rPr lang="en-US" sz="1800" dirty="0">
                <a:solidFill>
                  <a:srgbClr val="000000"/>
                </a:solidFill>
              </a:rPr>
              <a:t>How uncommon would it be to see a difference this large? By chance, or is it strong evidence?</a:t>
            </a:r>
          </a:p>
          <a:p>
            <a:pPr lvl="1" indent="-349250">
              <a:lnSpc>
                <a:spcPct val="115000"/>
              </a:lnSpc>
              <a:spcBef>
                <a:spcPts val="600"/>
              </a:spcBef>
              <a:buClr>
                <a:srgbClr val="000000"/>
              </a:buClr>
              <a:buSzPts val="1900"/>
              <a:buChar char="●"/>
            </a:pPr>
            <a:r>
              <a:rPr lang="en" sz="1900" dirty="0">
                <a:solidFill>
                  <a:srgbClr val="000000"/>
                </a:solidFill>
              </a:rPr>
              <a:t>If they were very unlikely to have occurred, then the evidence raises more than a reasonable doubt in our minds about the null hypothesis.</a:t>
            </a:r>
            <a:endParaRPr sz="1900" dirty="0">
              <a:solidFill>
                <a:srgbClr val="000000"/>
              </a:solidFill>
            </a:endParaRPr>
          </a:p>
          <a:p>
            <a:pPr marL="457200" lvl="0" indent="-349250" algn="l" rtl="0">
              <a:lnSpc>
                <a:spcPct val="115000"/>
              </a:lnSpc>
              <a:spcBef>
                <a:spcPts val="1000"/>
              </a:spcBef>
              <a:spcAft>
                <a:spcPts val="0"/>
              </a:spcAft>
              <a:buClr>
                <a:srgbClr val="000000"/>
              </a:buClr>
              <a:buSzPts val="1900"/>
              <a:buChar char="●"/>
            </a:pPr>
            <a:r>
              <a:rPr lang="en" sz="1900" dirty="0">
                <a:solidFill>
                  <a:srgbClr val="000000"/>
                </a:solidFill>
              </a:rPr>
              <a:t>Ultimately we must make a decision. How unlikely is unlikely?</a:t>
            </a:r>
            <a:endParaRPr sz="1900" dirty="0">
              <a:solidFill>
                <a:srgbClr val="000000"/>
              </a:solidFill>
            </a:endParaRPr>
          </a:p>
          <a:p>
            <a:pPr marL="0" lvl="0" indent="0" algn="l" rtl="0">
              <a:lnSpc>
                <a:spcPct val="115000"/>
              </a:lnSpc>
              <a:spcBef>
                <a:spcPts val="600"/>
              </a:spcBef>
              <a:spcAft>
                <a:spcPts val="0"/>
              </a:spcAft>
              <a:buNone/>
            </a:pPr>
            <a:endParaRPr sz="1900" dirty="0">
              <a:solidFill>
                <a:srgbClr val="000000"/>
              </a:solidFill>
            </a:endParaRPr>
          </a:p>
        </p:txBody>
      </p:sp>
      <p:sp>
        <p:nvSpPr>
          <p:cNvPr id="85" name="Google Shape;85;p17"/>
          <p:cNvSpPr txBox="1">
            <a:spLocks noGrp="1"/>
          </p:cNvSpPr>
          <p:nvPr>
            <p:ph type="body" idx="1"/>
          </p:nvPr>
        </p:nvSpPr>
        <p:spPr>
          <a:xfrm>
            <a:off x="457200" y="1143000"/>
            <a:ext cx="4151100" cy="2448000"/>
          </a:xfrm>
          <a:prstGeom prst="rect">
            <a:avLst/>
          </a:prstGeom>
        </p:spPr>
        <p:txBody>
          <a:bodyPr spcFirstLastPara="1" wrap="square" lIns="91425" tIns="91425" rIns="91425" bIns="91425" anchor="t" anchorCtr="0">
            <a:noAutofit/>
          </a:bodyPr>
          <a:lstStyle/>
          <a:p>
            <a:pPr marL="0" lvl="0" indent="0" algn="l" rtl="0">
              <a:lnSpc>
                <a:spcPct val="115000"/>
              </a:lnSpc>
              <a:spcBef>
                <a:spcPts val="600"/>
              </a:spcBef>
              <a:spcAft>
                <a:spcPts val="0"/>
              </a:spcAft>
              <a:buNone/>
            </a:pPr>
            <a:r>
              <a:rPr lang="en" sz="1900">
                <a:solidFill>
                  <a:srgbClr val="000000"/>
                </a:solidFill>
              </a:rPr>
              <a:t>Hypothesis testing is very much like a court trial.</a:t>
            </a:r>
            <a:endParaRPr sz="1900">
              <a:solidFill>
                <a:srgbClr val="000000"/>
              </a:solidFill>
            </a:endParaRPr>
          </a:p>
          <a:p>
            <a:pPr marL="457200" lvl="0" indent="-349250" algn="l" rtl="0">
              <a:lnSpc>
                <a:spcPct val="115000"/>
              </a:lnSpc>
              <a:spcBef>
                <a:spcPts val="1000"/>
              </a:spcBef>
              <a:spcAft>
                <a:spcPts val="0"/>
              </a:spcAft>
              <a:buClr>
                <a:srgbClr val="000000"/>
              </a:buClr>
              <a:buSzPts val="1900"/>
              <a:buChar char="●"/>
            </a:pPr>
            <a:r>
              <a:rPr lang="en" sz="1900">
                <a:solidFill>
                  <a:srgbClr val="000000"/>
                </a:solidFill>
              </a:rPr>
              <a:t>H</a:t>
            </a:r>
            <a:r>
              <a:rPr lang="en" sz="1900" baseline="-25000">
                <a:solidFill>
                  <a:srgbClr val="000000"/>
                </a:solidFill>
              </a:rPr>
              <a:t>0</a:t>
            </a:r>
            <a:r>
              <a:rPr lang="en" sz="1900">
                <a:solidFill>
                  <a:srgbClr val="000000"/>
                </a:solidFill>
              </a:rPr>
              <a:t>  : Defendant is innocent</a:t>
            </a:r>
            <a:br>
              <a:rPr lang="en" sz="1900">
                <a:solidFill>
                  <a:srgbClr val="000000"/>
                </a:solidFill>
              </a:rPr>
            </a:br>
            <a:r>
              <a:rPr lang="en" sz="1900">
                <a:solidFill>
                  <a:srgbClr val="000000"/>
                </a:solidFill>
              </a:rPr>
              <a:t>H</a:t>
            </a:r>
            <a:r>
              <a:rPr lang="en" sz="1900" baseline="-25000">
                <a:solidFill>
                  <a:srgbClr val="000000"/>
                </a:solidFill>
              </a:rPr>
              <a:t>A</a:t>
            </a:r>
            <a:r>
              <a:rPr lang="en" sz="1900">
                <a:solidFill>
                  <a:srgbClr val="000000"/>
                </a:solidFill>
              </a:rPr>
              <a:t>  : Defendant is guilty</a:t>
            </a:r>
            <a:endParaRPr sz="1900">
              <a:solidFill>
                <a:srgbClr val="000000"/>
              </a:solidFill>
            </a:endParaRPr>
          </a:p>
          <a:p>
            <a:pPr marL="457200" lvl="0" indent="-349250" algn="l" rtl="0">
              <a:lnSpc>
                <a:spcPct val="115000"/>
              </a:lnSpc>
              <a:spcBef>
                <a:spcPts val="1000"/>
              </a:spcBef>
              <a:spcAft>
                <a:spcPts val="0"/>
              </a:spcAft>
              <a:buClr>
                <a:srgbClr val="000000"/>
              </a:buClr>
              <a:buSzPts val="1900"/>
              <a:buChar char="●"/>
            </a:pPr>
            <a:r>
              <a:rPr lang="en" sz="1900">
                <a:solidFill>
                  <a:srgbClr val="000000"/>
                </a:solidFill>
              </a:rPr>
              <a:t>We then present the evidence - collect data.</a:t>
            </a:r>
            <a:endParaRPr sz="1900">
              <a:solidFill>
                <a:srgbClr val="000000"/>
              </a:solidFill>
            </a:endParaRPr>
          </a:p>
        </p:txBody>
      </p:sp>
      <p:sp>
        <p:nvSpPr>
          <p:cNvPr id="86" name="Google Shape;86;p17"/>
          <p:cNvSpPr txBox="1">
            <a:spLocks noGrp="1"/>
          </p:cNvSpPr>
          <p:nvPr>
            <p:ph type="title"/>
          </p:nvPr>
        </p:nvSpPr>
        <p:spPr>
          <a:xfrm>
            <a:off x="457200" y="-12"/>
            <a:ext cx="8229600" cy="11430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solidFill>
                  <a:schemeClr val="accent1"/>
                </a:solidFill>
              </a:rPr>
              <a:t>A Trial as a Hypothesis Test</a:t>
            </a:r>
            <a:endParaRPr>
              <a:solidFill>
                <a:schemeClr val="accent1"/>
              </a:solidFill>
            </a:endParaRPr>
          </a:p>
        </p:txBody>
      </p:sp>
      <p:pic>
        <p:nvPicPr>
          <p:cNvPr id="87" name="Google Shape;87;p17"/>
          <p:cNvPicPr preferRelativeResize="0"/>
          <p:nvPr/>
        </p:nvPicPr>
        <p:blipFill>
          <a:blip r:embed="rId3">
            <a:alphaModFix/>
          </a:blip>
          <a:stretch>
            <a:fillRect/>
          </a:stretch>
        </p:blipFill>
        <p:spPr>
          <a:xfrm>
            <a:off x="4887250" y="1143000"/>
            <a:ext cx="3229426" cy="2447975"/>
          </a:xfrm>
          <a:prstGeom prst="rect">
            <a:avLst/>
          </a:prstGeom>
          <a:noFill/>
          <a:ln>
            <a:noFill/>
          </a:ln>
        </p:spPr>
      </p:pic>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Shape 91"/>
        <p:cNvGrpSpPr/>
        <p:nvPr/>
      </p:nvGrpSpPr>
      <p:grpSpPr>
        <a:xfrm>
          <a:off x="0" y="0"/>
          <a:ext cx="0" cy="0"/>
          <a:chOff x="0" y="0"/>
          <a:chExt cx="0" cy="0"/>
        </a:xfrm>
      </p:grpSpPr>
      <p:sp>
        <p:nvSpPr>
          <p:cNvPr id="92" name="Google Shape;92;p18"/>
          <p:cNvSpPr txBox="1">
            <a:spLocks noGrp="1"/>
          </p:cNvSpPr>
          <p:nvPr>
            <p:ph type="title"/>
          </p:nvPr>
        </p:nvSpPr>
        <p:spPr>
          <a:xfrm>
            <a:off x="457200" y="-12"/>
            <a:ext cx="8229600" cy="11430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solidFill>
                  <a:schemeClr val="accent1"/>
                </a:solidFill>
              </a:rPr>
              <a:t>A Trial as a Hypothesis Test (cont.)</a:t>
            </a:r>
            <a:endParaRPr>
              <a:solidFill>
                <a:schemeClr val="accent1"/>
              </a:solidFill>
            </a:endParaRPr>
          </a:p>
        </p:txBody>
      </p:sp>
      <p:sp>
        <p:nvSpPr>
          <p:cNvPr id="93" name="Google Shape;93;p18"/>
          <p:cNvSpPr txBox="1">
            <a:spLocks noGrp="1"/>
          </p:cNvSpPr>
          <p:nvPr>
            <p:ph type="body" idx="1"/>
          </p:nvPr>
        </p:nvSpPr>
        <p:spPr>
          <a:xfrm>
            <a:off x="457200" y="1143000"/>
            <a:ext cx="8089500" cy="5023200"/>
          </a:xfrm>
          <a:prstGeom prst="rect">
            <a:avLst/>
          </a:prstGeom>
        </p:spPr>
        <p:txBody>
          <a:bodyPr spcFirstLastPara="1" wrap="square" lIns="91425" tIns="91425" rIns="91425" bIns="91425" anchor="t" anchorCtr="0">
            <a:noAutofit/>
          </a:bodyPr>
          <a:lstStyle/>
          <a:p>
            <a:pPr marL="457200" lvl="0" indent="-361950" algn="l" rtl="0">
              <a:lnSpc>
                <a:spcPct val="115000"/>
              </a:lnSpc>
              <a:spcBef>
                <a:spcPts val="1000"/>
              </a:spcBef>
              <a:spcAft>
                <a:spcPts val="0"/>
              </a:spcAft>
              <a:buClr>
                <a:srgbClr val="000000"/>
              </a:buClr>
              <a:buSzPts val="2100"/>
              <a:buChar char="●"/>
            </a:pPr>
            <a:r>
              <a:rPr lang="en" sz="2100">
                <a:solidFill>
                  <a:srgbClr val="000000"/>
                </a:solidFill>
              </a:rPr>
              <a:t>If the evidence is not strong enough to reject the assumption of innocence, the jury returns with a verdict of “not guilty".</a:t>
            </a:r>
            <a:endParaRPr sz="2100">
              <a:solidFill>
                <a:srgbClr val="000000"/>
              </a:solidFill>
            </a:endParaRPr>
          </a:p>
          <a:p>
            <a:pPr marL="914400" lvl="1" indent="-361950" algn="l" rtl="0">
              <a:lnSpc>
                <a:spcPct val="115000"/>
              </a:lnSpc>
              <a:spcBef>
                <a:spcPts val="1000"/>
              </a:spcBef>
              <a:spcAft>
                <a:spcPts val="0"/>
              </a:spcAft>
              <a:buClr>
                <a:srgbClr val="000000"/>
              </a:buClr>
              <a:buSzPts val="2100"/>
              <a:buChar char="○"/>
            </a:pPr>
            <a:r>
              <a:rPr lang="en" sz="2100">
                <a:solidFill>
                  <a:srgbClr val="000000"/>
                </a:solidFill>
              </a:rPr>
              <a:t>The jury does not say that the defendant is innocent, just that there is not enough evidence to convict.</a:t>
            </a:r>
            <a:endParaRPr sz="2100">
              <a:solidFill>
                <a:srgbClr val="000000"/>
              </a:solidFill>
            </a:endParaRPr>
          </a:p>
          <a:p>
            <a:pPr marL="914400" lvl="1" indent="-361950" algn="l" rtl="0">
              <a:lnSpc>
                <a:spcPct val="115000"/>
              </a:lnSpc>
              <a:spcBef>
                <a:spcPts val="1000"/>
              </a:spcBef>
              <a:spcAft>
                <a:spcPts val="0"/>
              </a:spcAft>
              <a:buClr>
                <a:srgbClr val="000000"/>
              </a:buClr>
              <a:buSzPts val="2100"/>
              <a:buChar char="○"/>
            </a:pPr>
            <a:r>
              <a:rPr lang="en" sz="2100">
                <a:solidFill>
                  <a:srgbClr val="000000"/>
                </a:solidFill>
              </a:rPr>
              <a:t>The defendant may, in fact, be innocent, but the jury has no way of being sure.</a:t>
            </a:r>
            <a:endParaRPr sz="2100">
              <a:solidFill>
                <a:srgbClr val="000000"/>
              </a:solidFill>
            </a:endParaRPr>
          </a:p>
          <a:p>
            <a:pPr marL="457200" lvl="0" indent="-361950" algn="l" rtl="0">
              <a:lnSpc>
                <a:spcPct val="115000"/>
              </a:lnSpc>
              <a:spcBef>
                <a:spcPts val="1000"/>
              </a:spcBef>
              <a:spcAft>
                <a:spcPts val="0"/>
              </a:spcAft>
              <a:buClr>
                <a:srgbClr val="000000"/>
              </a:buClr>
              <a:buSzPts val="2100"/>
              <a:buChar char="●"/>
            </a:pPr>
            <a:r>
              <a:rPr lang="en" sz="2100">
                <a:solidFill>
                  <a:srgbClr val="000000"/>
                </a:solidFill>
              </a:rPr>
              <a:t>Said statistically, we fail to reject the null hypothesis.</a:t>
            </a:r>
            <a:endParaRPr sz="2100">
              <a:solidFill>
                <a:srgbClr val="000000"/>
              </a:solidFill>
            </a:endParaRPr>
          </a:p>
          <a:p>
            <a:pPr marL="914400" lvl="1" indent="-361950" algn="l" rtl="0">
              <a:lnSpc>
                <a:spcPct val="115000"/>
              </a:lnSpc>
              <a:spcBef>
                <a:spcPts val="1000"/>
              </a:spcBef>
              <a:spcAft>
                <a:spcPts val="0"/>
              </a:spcAft>
              <a:buClr>
                <a:srgbClr val="000000"/>
              </a:buClr>
              <a:buSzPts val="2100"/>
              <a:buChar char="○"/>
            </a:pPr>
            <a:r>
              <a:rPr lang="en" sz="2100">
                <a:solidFill>
                  <a:srgbClr val="000000"/>
                </a:solidFill>
              </a:rPr>
              <a:t>We never declare the null hypothesis to be true, because we simply do not know whether it's true or not.</a:t>
            </a:r>
            <a:endParaRPr sz="2100">
              <a:solidFill>
                <a:srgbClr val="000000"/>
              </a:solidFill>
            </a:endParaRPr>
          </a:p>
          <a:p>
            <a:pPr marL="914400" lvl="1" indent="-361950" algn="l" rtl="0">
              <a:lnSpc>
                <a:spcPct val="115000"/>
              </a:lnSpc>
              <a:spcBef>
                <a:spcPts val="1000"/>
              </a:spcBef>
              <a:spcAft>
                <a:spcPts val="0"/>
              </a:spcAft>
              <a:buClr>
                <a:srgbClr val="000000"/>
              </a:buClr>
              <a:buSzPts val="2100"/>
              <a:buChar char="○"/>
            </a:pPr>
            <a:r>
              <a:rPr lang="en" sz="2100">
                <a:solidFill>
                  <a:srgbClr val="000000"/>
                </a:solidFill>
              </a:rPr>
              <a:t>Therefore we never ``accept the null hypothesis".</a:t>
            </a:r>
            <a:endParaRPr sz="2100">
              <a:solidFill>
                <a:srgbClr val="000000"/>
              </a:solidFill>
            </a:endParaRPr>
          </a:p>
          <a:p>
            <a:pPr marL="0" lvl="0" indent="0" algn="l" rtl="0">
              <a:lnSpc>
                <a:spcPct val="115000"/>
              </a:lnSpc>
              <a:spcBef>
                <a:spcPts val="1000"/>
              </a:spcBef>
              <a:spcAft>
                <a:spcPts val="1000"/>
              </a:spcAft>
              <a:buNone/>
            </a:pPr>
            <a:endParaRPr sz="2100">
              <a:solidFill>
                <a:srgbClr val="000000"/>
              </a:solidFill>
            </a:endParaRPr>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Shape 97"/>
        <p:cNvGrpSpPr/>
        <p:nvPr/>
      </p:nvGrpSpPr>
      <p:grpSpPr>
        <a:xfrm>
          <a:off x="0" y="0"/>
          <a:ext cx="0" cy="0"/>
          <a:chOff x="0" y="0"/>
          <a:chExt cx="0" cy="0"/>
        </a:xfrm>
      </p:grpSpPr>
      <p:sp>
        <p:nvSpPr>
          <p:cNvPr id="98" name="Google Shape;98;p19"/>
          <p:cNvSpPr txBox="1">
            <a:spLocks noGrp="1"/>
          </p:cNvSpPr>
          <p:nvPr>
            <p:ph type="body" idx="1"/>
          </p:nvPr>
        </p:nvSpPr>
        <p:spPr>
          <a:xfrm>
            <a:off x="457200" y="1143000"/>
            <a:ext cx="8089500" cy="5023200"/>
          </a:xfrm>
          <a:prstGeom prst="rect">
            <a:avLst/>
          </a:prstGeom>
        </p:spPr>
        <p:txBody>
          <a:bodyPr spcFirstLastPara="1" wrap="square" lIns="91425" tIns="91425" rIns="91425" bIns="91425" anchor="t" anchorCtr="0">
            <a:noAutofit/>
          </a:bodyPr>
          <a:lstStyle/>
          <a:p>
            <a:pPr marL="457200" lvl="0" indent="-361950" algn="l" rtl="0">
              <a:lnSpc>
                <a:spcPct val="115000"/>
              </a:lnSpc>
              <a:spcBef>
                <a:spcPts val="1000"/>
              </a:spcBef>
              <a:spcAft>
                <a:spcPts val="0"/>
              </a:spcAft>
              <a:buClr>
                <a:srgbClr val="000000"/>
              </a:buClr>
              <a:buSzPts val="2100"/>
              <a:buChar char="●"/>
            </a:pPr>
            <a:r>
              <a:rPr lang="en" sz="2100">
                <a:solidFill>
                  <a:srgbClr val="000000"/>
                </a:solidFill>
              </a:rPr>
              <a:t>In a trial, the burden of proof is on the prosecution.</a:t>
            </a:r>
            <a:endParaRPr sz="2100">
              <a:solidFill>
                <a:srgbClr val="000000"/>
              </a:solidFill>
            </a:endParaRPr>
          </a:p>
          <a:p>
            <a:pPr marL="457200" lvl="0" indent="-361950" algn="l" rtl="0">
              <a:lnSpc>
                <a:spcPct val="115000"/>
              </a:lnSpc>
              <a:spcBef>
                <a:spcPts val="1000"/>
              </a:spcBef>
              <a:spcAft>
                <a:spcPts val="0"/>
              </a:spcAft>
              <a:buClr>
                <a:srgbClr val="000000"/>
              </a:buClr>
              <a:buSzPts val="2100"/>
              <a:buChar char="●"/>
            </a:pPr>
            <a:r>
              <a:rPr lang="en" sz="2100">
                <a:solidFill>
                  <a:srgbClr val="000000"/>
                </a:solidFill>
              </a:rPr>
              <a:t>In a hypothesis test, the burden of proof is on the unusual claim.</a:t>
            </a:r>
            <a:endParaRPr sz="2100">
              <a:solidFill>
                <a:srgbClr val="000000"/>
              </a:solidFill>
            </a:endParaRPr>
          </a:p>
          <a:p>
            <a:pPr marL="457200" lvl="0" indent="-361950" algn="l" rtl="0">
              <a:lnSpc>
                <a:spcPct val="115000"/>
              </a:lnSpc>
              <a:spcBef>
                <a:spcPts val="1000"/>
              </a:spcBef>
              <a:spcAft>
                <a:spcPts val="1000"/>
              </a:spcAft>
              <a:buClr>
                <a:srgbClr val="000000"/>
              </a:buClr>
              <a:buSzPts val="2100"/>
              <a:buChar char="●"/>
            </a:pPr>
            <a:r>
              <a:rPr lang="en" sz="2100">
                <a:solidFill>
                  <a:srgbClr val="000000"/>
                </a:solidFill>
              </a:rPr>
              <a:t>The null hypothesis is the ordinary state of affairs (the status quo), so it's the alternative hypothesis that we consider unusual and for which we must gather evidence.</a:t>
            </a:r>
            <a:endParaRPr sz="2100">
              <a:solidFill>
                <a:srgbClr val="000000"/>
              </a:solidFill>
            </a:endParaRPr>
          </a:p>
        </p:txBody>
      </p:sp>
      <p:sp>
        <p:nvSpPr>
          <p:cNvPr id="99" name="Google Shape;99;p19"/>
          <p:cNvSpPr txBox="1">
            <a:spLocks noGrp="1"/>
          </p:cNvSpPr>
          <p:nvPr>
            <p:ph type="title"/>
          </p:nvPr>
        </p:nvSpPr>
        <p:spPr>
          <a:xfrm>
            <a:off x="457200" y="-12"/>
            <a:ext cx="8229600" cy="11430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solidFill>
                  <a:schemeClr val="accent1"/>
                </a:solidFill>
              </a:rPr>
              <a:t>A Trial as a Hypothesis Test (cont.)</a:t>
            </a:r>
            <a:endParaRPr>
              <a:solidFill>
                <a:schemeClr val="accent1"/>
              </a:solidFill>
            </a:endParaRPr>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Shape 103"/>
        <p:cNvGrpSpPr/>
        <p:nvPr/>
      </p:nvGrpSpPr>
      <p:grpSpPr>
        <a:xfrm>
          <a:off x="0" y="0"/>
          <a:ext cx="0" cy="0"/>
          <a:chOff x="0" y="0"/>
          <a:chExt cx="0" cy="0"/>
        </a:xfrm>
      </p:grpSpPr>
      <p:sp>
        <p:nvSpPr>
          <p:cNvPr id="104" name="Google Shape;104;p20"/>
          <p:cNvSpPr txBox="1">
            <a:spLocks noGrp="1"/>
          </p:cNvSpPr>
          <p:nvPr>
            <p:ph type="body" idx="1"/>
          </p:nvPr>
        </p:nvSpPr>
        <p:spPr>
          <a:xfrm>
            <a:off x="457200" y="1365400"/>
            <a:ext cx="8089500" cy="4800900"/>
          </a:xfrm>
          <a:prstGeom prst="rect">
            <a:avLst/>
          </a:prstGeom>
        </p:spPr>
        <p:txBody>
          <a:bodyPr spcFirstLastPara="1" wrap="square" lIns="91425" tIns="91425" rIns="91425" bIns="91425" anchor="t" anchorCtr="0">
            <a:noAutofit/>
          </a:bodyPr>
          <a:lstStyle/>
          <a:p>
            <a:pPr marL="457200" lvl="0" indent="-361950" algn="l" rtl="0">
              <a:lnSpc>
                <a:spcPct val="115000"/>
              </a:lnSpc>
              <a:spcBef>
                <a:spcPts val="1000"/>
              </a:spcBef>
              <a:spcAft>
                <a:spcPts val="0"/>
              </a:spcAft>
              <a:buClr>
                <a:srgbClr val="000000"/>
              </a:buClr>
              <a:buSzPts val="2100"/>
              <a:buChar char="●"/>
            </a:pPr>
            <a:r>
              <a:rPr lang="en" sz="2100">
                <a:solidFill>
                  <a:srgbClr val="000000"/>
                </a:solidFill>
              </a:rPr>
              <a:t>We start with a </a:t>
            </a:r>
            <a:r>
              <a:rPr lang="en" sz="2100" i="1">
                <a:solidFill>
                  <a:schemeClr val="accent1"/>
                </a:solidFill>
              </a:rPr>
              <a:t>null hypothesis</a:t>
            </a:r>
            <a:r>
              <a:rPr lang="en" sz="2100">
                <a:solidFill>
                  <a:schemeClr val="accent1"/>
                </a:solidFill>
              </a:rPr>
              <a:t> (H</a:t>
            </a:r>
            <a:r>
              <a:rPr lang="en" sz="1200">
                <a:solidFill>
                  <a:schemeClr val="accent1"/>
                </a:solidFill>
              </a:rPr>
              <a:t>0</a:t>
            </a:r>
            <a:r>
              <a:rPr lang="en" sz="2100">
                <a:solidFill>
                  <a:schemeClr val="accent1"/>
                </a:solidFill>
              </a:rPr>
              <a:t>)</a:t>
            </a:r>
            <a:r>
              <a:rPr lang="en" sz="2100">
                <a:solidFill>
                  <a:srgbClr val="000000"/>
                </a:solidFill>
              </a:rPr>
              <a:t> that represents the status quo.</a:t>
            </a:r>
            <a:endParaRPr sz="2100">
              <a:solidFill>
                <a:srgbClr val="000000"/>
              </a:solidFill>
            </a:endParaRPr>
          </a:p>
          <a:p>
            <a:pPr marL="457200" lvl="0" indent="-361950" algn="l" rtl="0">
              <a:lnSpc>
                <a:spcPct val="115000"/>
              </a:lnSpc>
              <a:spcBef>
                <a:spcPts val="1000"/>
              </a:spcBef>
              <a:spcAft>
                <a:spcPts val="0"/>
              </a:spcAft>
              <a:buClr>
                <a:srgbClr val="000000"/>
              </a:buClr>
              <a:buSzPts val="2100"/>
              <a:buChar char="●"/>
            </a:pPr>
            <a:r>
              <a:rPr lang="en" sz="2100">
                <a:solidFill>
                  <a:srgbClr val="000000"/>
                </a:solidFill>
              </a:rPr>
              <a:t>We also have an </a:t>
            </a:r>
            <a:r>
              <a:rPr lang="en" sz="2100" i="1">
                <a:solidFill>
                  <a:schemeClr val="accent1"/>
                </a:solidFill>
              </a:rPr>
              <a:t>alternative hypothesis</a:t>
            </a:r>
            <a:r>
              <a:rPr lang="en" sz="2100">
                <a:solidFill>
                  <a:schemeClr val="accent1"/>
                </a:solidFill>
              </a:rPr>
              <a:t> (H</a:t>
            </a:r>
            <a:r>
              <a:rPr lang="en" sz="1200">
                <a:solidFill>
                  <a:schemeClr val="accent1"/>
                </a:solidFill>
              </a:rPr>
              <a:t>A</a:t>
            </a:r>
            <a:r>
              <a:rPr lang="en" sz="2100">
                <a:solidFill>
                  <a:schemeClr val="accent1"/>
                </a:solidFill>
              </a:rPr>
              <a:t>)</a:t>
            </a:r>
            <a:r>
              <a:rPr lang="en" sz="2100">
                <a:solidFill>
                  <a:srgbClr val="000000"/>
                </a:solidFill>
              </a:rPr>
              <a:t> that represents our research question, i.e. what we're testing for.</a:t>
            </a:r>
            <a:endParaRPr sz="2100">
              <a:solidFill>
                <a:srgbClr val="000000"/>
              </a:solidFill>
            </a:endParaRPr>
          </a:p>
          <a:p>
            <a:pPr marL="457200" lvl="0" indent="-361950" algn="l" rtl="0">
              <a:lnSpc>
                <a:spcPct val="115000"/>
              </a:lnSpc>
              <a:spcBef>
                <a:spcPts val="1000"/>
              </a:spcBef>
              <a:spcAft>
                <a:spcPts val="0"/>
              </a:spcAft>
              <a:buClr>
                <a:srgbClr val="000000"/>
              </a:buClr>
              <a:buSzPts val="2100"/>
              <a:buChar char="●"/>
            </a:pPr>
            <a:r>
              <a:rPr lang="en" sz="2100">
                <a:solidFill>
                  <a:srgbClr val="000000"/>
                </a:solidFill>
              </a:rPr>
              <a:t>We conduct a hypothesis test under the assumption that the null hypothesis is true, either via simulation (today) or theoretical methods (later in the course).</a:t>
            </a:r>
            <a:endParaRPr sz="2100">
              <a:solidFill>
                <a:srgbClr val="000000"/>
              </a:solidFill>
            </a:endParaRPr>
          </a:p>
          <a:p>
            <a:pPr marL="457200" lvl="0" indent="-361950" algn="l" rtl="0">
              <a:lnSpc>
                <a:spcPct val="115000"/>
              </a:lnSpc>
              <a:spcBef>
                <a:spcPts val="1000"/>
              </a:spcBef>
              <a:spcAft>
                <a:spcPts val="1000"/>
              </a:spcAft>
              <a:buClr>
                <a:srgbClr val="000000"/>
              </a:buClr>
              <a:buSzPts val="2100"/>
              <a:buChar char="●"/>
            </a:pPr>
            <a:r>
              <a:rPr lang="en" sz="2100">
                <a:solidFill>
                  <a:srgbClr val="000000"/>
                </a:solidFill>
              </a:rPr>
              <a:t>If the test results suggest that the data do not provide convincing evidence for the alternative hypothesis, we stick with the null hypothesis. If they do, then we reject the null hypothesis in favor of the alternative.</a:t>
            </a:r>
            <a:endParaRPr sz="2100">
              <a:solidFill>
                <a:srgbClr val="000000"/>
              </a:solidFill>
            </a:endParaRPr>
          </a:p>
        </p:txBody>
      </p:sp>
      <p:sp>
        <p:nvSpPr>
          <p:cNvPr id="105" name="Google Shape;105;p20"/>
          <p:cNvSpPr txBox="1">
            <a:spLocks noGrp="1"/>
          </p:cNvSpPr>
          <p:nvPr>
            <p:ph type="title"/>
          </p:nvPr>
        </p:nvSpPr>
        <p:spPr>
          <a:xfrm>
            <a:off x="457200" y="439401"/>
            <a:ext cx="8229600" cy="7734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sz="3200">
                <a:solidFill>
                  <a:schemeClr val="accent1"/>
                </a:solidFill>
              </a:rPr>
              <a:t>Recap: Hypothesis Testing Framework</a:t>
            </a:r>
            <a:endParaRPr sz="3200">
              <a:solidFill>
                <a:schemeClr val="accent1"/>
              </a:solidFill>
            </a:endParaRPr>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Shape 109"/>
        <p:cNvGrpSpPr/>
        <p:nvPr/>
      </p:nvGrpSpPr>
      <p:grpSpPr>
        <a:xfrm>
          <a:off x="0" y="0"/>
          <a:ext cx="0" cy="0"/>
          <a:chOff x="0" y="0"/>
          <a:chExt cx="0" cy="0"/>
        </a:xfrm>
      </p:grpSpPr>
      <p:sp>
        <p:nvSpPr>
          <p:cNvPr id="110" name="Google Shape;110;p21"/>
          <p:cNvSpPr txBox="1">
            <a:spLocks noGrp="1"/>
          </p:cNvSpPr>
          <p:nvPr>
            <p:ph type="body" idx="1"/>
          </p:nvPr>
        </p:nvSpPr>
        <p:spPr>
          <a:xfrm>
            <a:off x="457200" y="1143000"/>
            <a:ext cx="8089500" cy="5023200"/>
          </a:xfrm>
          <a:prstGeom prst="rect">
            <a:avLst/>
          </a:prstGeom>
        </p:spPr>
        <p:txBody>
          <a:bodyPr spcFirstLastPara="1" wrap="square" lIns="91425" tIns="91425" rIns="91425" bIns="91425" anchor="t" anchorCtr="0">
            <a:noAutofit/>
          </a:bodyPr>
          <a:lstStyle/>
          <a:p>
            <a:pPr marL="0" lvl="0" indent="0" algn="l" rtl="0">
              <a:lnSpc>
                <a:spcPct val="100000"/>
              </a:lnSpc>
              <a:spcBef>
                <a:spcPts val="1000"/>
              </a:spcBef>
              <a:spcAft>
                <a:spcPts val="0"/>
              </a:spcAft>
              <a:buNone/>
            </a:pPr>
            <a:r>
              <a:rPr lang="en" sz="2100" dirty="0">
                <a:solidFill>
                  <a:srgbClr val="000000"/>
                </a:solidFill>
              </a:rPr>
              <a:t>What would a result look like if it were due to chance alone? ... under the assumption of independence, i.e. leave things up to chance.</a:t>
            </a:r>
            <a:endParaRPr sz="2100" dirty="0">
              <a:solidFill>
                <a:srgbClr val="000000"/>
              </a:solidFill>
            </a:endParaRPr>
          </a:p>
          <a:p>
            <a:pPr marL="0" lvl="0" indent="0" algn="l" rtl="0">
              <a:lnSpc>
                <a:spcPct val="115000"/>
              </a:lnSpc>
              <a:spcBef>
                <a:spcPts val="1000"/>
              </a:spcBef>
              <a:spcAft>
                <a:spcPts val="0"/>
              </a:spcAft>
              <a:buNone/>
            </a:pPr>
            <a:r>
              <a:rPr lang="en" sz="2100" dirty="0">
                <a:solidFill>
                  <a:srgbClr val="000000"/>
                </a:solidFill>
              </a:rPr>
              <a:t>If results from the simulations based on the </a:t>
            </a:r>
            <a:r>
              <a:rPr lang="en" sz="2100" i="1" dirty="0">
                <a:solidFill>
                  <a:schemeClr val="accent1"/>
                </a:solidFill>
              </a:rPr>
              <a:t>chance model</a:t>
            </a:r>
            <a:r>
              <a:rPr lang="en" sz="2100" dirty="0">
                <a:solidFill>
                  <a:srgbClr val="000000"/>
                </a:solidFill>
              </a:rPr>
              <a:t> look like the data, then we can determine that the difference between the proportions of promoted files between males and females was simply </a:t>
            </a:r>
            <a:r>
              <a:rPr lang="en" sz="2100" i="1" dirty="0">
                <a:solidFill>
                  <a:schemeClr val="accent1"/>
                </a:solidFill>
              </a:rPr>
              <a:t>due to chance</a:t>
            </a:r>
            <a:r>
              <a:rPr lang="en" sz="2100" dirty="0">
                <a:solidFill>
                  <a:srgbClr val="000000"/>
                </a:solidFill>
              </a:rPr>
              <a:t> (promotion and gender are independent).</a:t>
            </a:r>
            <a:endParaRPr sz="2100" dirty="0">
              <a:solidFill>
                <a:srgbClr val="000000"/>
              </a:solidFill>
            </a:endParaRPr>
          </a:p>
          <a:p>
            <a:pPr marL="0" lvl="0" indent="0" algn="l" rtl="0">
              <a:lnSpc>
                <a:spcPct val="115000"/>
              </a:lnSpc>
              <a:spcBef>
                <a:spcPts val="1000"/>
              </a:spcBef>
              <a:spcAft>
                <a:spcPts val="1000"/>
              </a:spcAft>
              <a:buNone/>
            </a:pPr>
            <a:r>
              <a:rPr lang="en" sz="2100" dirty="0">
                <a:solidFill>
                  <a:srgbClr val="000000"/>
                </a:solidFill>
              </a:rPr>
              <a:t>If the results from the simulations based on the chance model do not look like the data, then we can determine that the difference between the proportions of promoted files between males and females was not due to chance, but </a:t>
            </a:r>
            <a:r>
              <a:rPr lang="en" sz="2100" i="1" dirty="0">
                <a:solidFill>
                  <a:schemeClr val="accent1"/>
                </a:solidFill>
              </a:rPr>
              <a:t>due to an actual effect of gender</a:t>
            </a:r>
            <a:r>
              <a:rPr lang="en" sz="2100" dirty="0">
                <a:solidFill>
                  <a:srgbClr val="000000"/>
                </a:solidFill>
              </a:rPr>
              <a:t> (promotion and gender are dependent).</a:t>
            </a:r>
            <a:endParaRPr sz="2100" dirty="0">
              <a:solidFill>
                <a:srgbClr val="000000"/>
              </a:solidFill>
            </a:endParaRPr>
          </a:p>
        </p:txBody>
      </p:sp>
      <p:sp>
        <p:nvSpPr>
          <p:cNvPr id="111" name="Google Shape;111;p21"/>
          <p:cNvSpPr txBox="1">
            <a:spLocks noGrp="1"/>
          </p:cNvSpPr>
          <p:nvPr>
            <p:ph type="title"/>
          </p:nvPr>
        </p:nvSpPr>
        <p:spPr>
          <a:xfrm>
            <a:off x="457200" y="0"/>
            <a:ext cx="8229600" cy="11430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solidFill>
                  <a:schemeClr val="accent1"/>
                </a:solidFill>
              </a:rPr>
              <a:t>Simulating the experiment...</a:t>
            </a:r>
            <a:endParaRPr>
              <a:solidFill>
                <a:schemeClr val="accent1"/>
              </a:solidFill>
            </a:endParaRPr>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Shape 115"/>
        <p:cNvGrpSpPr/>
        <p:nvPr/>
      </p:nvGrpSpPr>
      <p:grpSpPr>
        <a:xfrm>
          <a:off x="0" y="0"/>
          <a:ext cx="0" cy="0"/>
          <a:chOff x="0" y="0"/>
          <a:chExt cx="0" cy="0"/>
        </a:xfrm>
      </p:grpSpPr>
      <p:sp>
        <p:nvSpPr>
          <p:cNvPr id="116" name="Google Shape;116;p22"/>
          <p:cNvSpPr txBox="1">
            <a:spLocks noGrp="1"/>
          </p:cNvSpPr>
          <p:nvPr>
            <p:ph type="body" idx="1"/>
          </p:nvPr>
        </p:nvSpPr>
        <p:spPr>
          <a:xfrm>
            <a:off x="457200" y="1350900"/>
            <a:ext cx="8089500" cy="4815300"/>
          </a:xfrm>
          <a:prstGeom prst="rect">
            <a:avLst/>
          </a:prstGeom>
        </p:spPr>
        <p:txBody>
          <a:bodyPr spcFirstLastPara="1" wrap="square" lIns="91425" tIns="91425" rIns="91425" bIns="91425" anchor="t" anchorCtr="0">
            <a:noAutofit/>
          </a:bodyPr>
          <a:lstStyle/>
          <a:p>
            <a:pPr marL="0" lvl="0" indent="0" algn="l" rtl="0">
              <a:lnSpc>
                <a:spcPct val="115000"/>
              </a:lnSpc>
              <a:spcBef>
                <a:spcPts val="1000"/>
              </a:spcBef>
              <a:spcAft>
                <a:spcPts val="0"/>
              </a:spcAft>
              <a:buNone/>
            </a:pPr>
            <a:r>
              <a:rPr lang="en" sz="1700" dirty="0">
                <a:solidFill>
                  <a:srgbClr val="000000"/>
                </a:solidFill>
              </a:rPr>
              <a:t>Use a deck of playing cards to simulate this experiment. </a:t>
            </a:r>
            <a:endParaRPr sz="1700" dirty="0">
              <a:solidFill>
                <a:srgbClr val="000000"/>
              </a:solidFill>
            </a:endParaRPr>
          </a:p>
          <a:p>
            <a:pPr marL="457200" lvl="0" indent="-336550" algn="l" rtl="0">
              <a:lnSpc>
                <a:spcPct val="115000"/>
              </a:lnSpc>
              <a:spcBef>
                <a:spcPts val="1000"/>
              </a:spcBef>
              <a:spcAft>
                <a:spcPts val="0"/>
              </a:spcAft>
              <a:buClr>
                <a:srgbClr val="000000"/>
              </a:buClr>
              <a:buSzPts val="1700"/>
              <a:buAutoNum type="arabicPeriod"/>
            </a:pPr>
            <a:r>
              <a:rPr lang="en" sz="1700" dirty="0">
                <a:solidFill>
                  <a:srgbClr val="000000"/>
                </a:solidFill>
              </a:rPr>
              <a:t>Let a face card represent </a:t>
            </a:r>
            <a:r>
              <a:rPr lang="en" sz="1700" i="1" dirty="0">
                <a:solidFill>
                  <a:srgbClr val="000000"/>
                </a:solidFill>
              </a:rPr>
              <a:t>not promoted</a:t>
            </a:r>
            <a:r>
              <a:rPr lang="en" sz="1700" dirty="0">
                <a:solidFill>
                  <a:srgbClr val="000000"/>
                </a:solidFill>
              </a:rPr>
              <a:t> and a non-face card represent a </a:t>
            </a:r>
            <a:r>
              <a:rPr lang="en" sz="1700" i="1" dirty="0">
                <a:solidFill>
                  <a:srgbClr val="000000"/>
                </a:solidFill>
              </a:rPr>
              <a:t>promoted</a:t>
            </a:r>
            <a:r>
              <a:rPr lang="en" sz="1700" dirty="0">
                <a:solidFill>
                  <a:srgbClr val="000000"/>
                </a:solidFill>
              </a:rPr>
              <a:t>. Consider aces as face cards.</a:t>
            </a:r>
            <a:endParaRPr sz="1700" dirty="0">
              <a:solidFill>
                <a:srgbClr val="000000"/>
              </a:solidFill>
            </a:endParaRPr>
          </a:p>
          <a:p>
            <a:pPr marL="914400" lvl="1" indent="-336550" algn="l" rtl="0">
              <a:lnSpc>
                <a:spcPct val="115000"/>
              </a:lnSpc>
              <a:spcBef>
                <a:spcPts val="0"/>
              </a:spcBef>
              <a:spcAft>
                <a:spcPts val="0"/>
              </a:spcAft>
              <a:buClr>
                <a:srgbClr val="000000"/>
              </a:buClr>
              <a:buSzPts val="1700"/>
              <a:buChar char="○"/>
            </a:pPr>
            <a:r>
              <a:rPr lang="en" sz="1700" dirty="0">
                <a:solidFill>
                  <a:srgbClr val="000000"/>
                </a:solidFill>
              </a:rPr>
              <a:t>Set aside the jokers.</a:t>
            </a:r>
            <a:endParaRPr sz="1700" dirty="0">
              <a:solidFill>
                <a:srgbClr val="000000"/>
              </a:solidFill>
            </a:endParaRPr>
          </a:p>
          <a:p>
            <a:pPr marL="914400" lvl="1" indent="-336550" algn="l" rtl="0">
              <a:lnSpc>
                <a:spcPct val="115000"/>
              </a:lnSpc>
              <a:spcBef>
                <a:spcPts val="0"/>
              </a:spcBef>
              <a:spcAft>
                <a:spcPts val="0"/>
              </a:spcAft>
              <a:buClr>
                <a:srgbClr val="000000"/>
              </a:buClr>
              <a:buSzPts val="1700"/>
              <a:buChar char="○"/>
            </a:pPr>
            <a:r>
              <a:rPr lang="en" sz="1700" dirty="0">
                <a:solidFill>
                  <a:srgbClr val="000000"/>
                </a:solidFill>
              </a:rPr>
              <a:t>Take out 3 aces &gt;&gt; there are exactly 13 face cards left in the deck (face cards: A, K, Q, J).</a:t>
            </a:r>
            <a:endParaRPr sz="1700" dirty="0">
              <a:solidFill>
                <a:srgbClr val="000000"/>
              </a:solidFill>
            </a:endParaRPr>
          </a:p>
          <a:p>
            <a:pPr marL="914400" lvl="1" indent="-336550" algn="l" rtl="0">
              <a:lnSpc>
                <a:spcPct val="115000"/>
              </a:lnSpc>
              <a:spcBef>
                <a:spcPts val="0"/>
              </a:spcBef>
              <a:spcAft>
                <a:spcPts val="0"/>
              </a:spcAft>
              <a:buClr>
                <a:srgbClr val="000000"/>
              </a:buClr>
              <a:buSzPts val="1700"/>
              <a:buChar char="○"/>
            </a:pPr>
            <a:r>
              <a:rPr lang="en" sz="1700" dirty="0">
                <a:solidFill>
                  <a:srgbClr val="000000"/>
                </a:solidFill>
              </a:rPr>
              <a:t>Take out a number card &gt;&gt; there are exactly 35 number (non-face) cards left in the deck (number cards: 2-10).</a:t>
            </a:r>
            <a:endParaRPr sz="1700" dirty="0">
              <a:solidFill>
                <a:srgbClr val="000000"/>
              </a:solidFill>
            </a:endParaRPr>
          </a:p>
          <a:p>
            <a:pPr marL="457200" lvl="0" indent="-336550" algn="l" rtl="0">
              <a:lnSpc>
                <a:spcPct val="115000"/>
              </a:lnSpc>
              <a:spcBef>
                <a:spcPts val="0"/>
              </a:spcBef>
              <a:spcAft>
                <a:spcPts val="0"/>
              </a:spcAft>
              <a:buClr>
                <a:srgbClr val="000000"/>
              </a:buClr>
              <a:buSzPts val="1700"/>
              <a:buAutoNum type="arabicPeriod"/>
            </a:pPr>
            <a:r>
              <a:rPr lang="en" sz="1700" dirty="0">
                <a:solidFill>
                  <a:srgbClr val="000000"/>
                </a:solidFill>
              </a:rPr>
              <a:t>Shuffle the cards and deal them intro two groups of size 24, representing males and females. </a:t>
            </a:r>
            <a:endParaRPr sz="1700" dirty="0">
              <a:solidFill>
                <a:srgbClr val="000000"/>
              </a:solidFill>
            </a:endParaRPr>
          </a:p>
          <a:p>
            <a:pPr marL="457200" lvl="0" indent="-336550" algn="l" rtl="0">
              <a:lnSpc>
                <a:spcPct val="115000"/>
              </a:lnSpc>
              <a:spcBef>
                <a:spcPts val="0"/>
              </a:spcBef>
              <a:spcAft>
                <a:spcPts val="0"/>
              </a:spcAft>
              <a:buClr>
                <a:srgbClr val="000000"/>
              </a:buClr>
              <a:buSzPts val="1700"/>
              <a:buAutoNum type="arabicPeriod"/>
            </a:pPr>
            <a:r>
              <a:rPr lang="en" sz="1700" dirty="0">
                <a:solidFill>
                  <a:srgbClr val="000000"/>
                </a:solidFill>
              </a:rPr>
              <a:t>Count and record how many files in each group are promoted (number cards).</a:t>
            </a:r>
            <a:endParaRPr sz="1700" dirty="0">
              <a:solidFill>
                <a:srgbClr val="000000"/>
              </a:solidFill>
            </a:endParaRPr>
          </a:p>
          <a:p>
            <a:pPr marL="457200" lvl="0" indent="-336550" algn="l" rtl="0">
              <a:lnSpc>
                <a:spcPct val="115000"/>
              </a:lnSpc>
              <a:spcBef>
                <a:spcPts val="0"/>
              </a:spcBef>
              <a:spcAft>
                <a:spcPts val="0"/>
              </a:spcAft>
              <a:buClr>
                <a:srgbClr val="000000"/>
              </a:buClr>
              <a:buSzPts val="1700"/>
              <a:buAutoNum type="arabicPeriod"/>
            </a:pPr>
            <a:r>
              <a:rPr lang="en" sz="1700" dirty="0">
                <a:solidFill>
                  <a:srgbClr val="000000"/>
                </a:solidFill>
              </a:rPr>
              <a:t>Calculate the proportion of promoted files in each group and take the difference (male - female), and record this value.</a:t>
            </a:r>
            <a:endParaRPr sz="1700" dirty="0">
              <a:solidFill>
                <a:srgbClr val="000000"/>
              </a:solidFill>
            </a:endParaRPr>
          </a:p>
          <a:p>
            <a:pPr marL="457200" lvl="0" indent="-336550" algn="l" rtl="0">
              <a:lnSpc>
                <a:spcPct val="115000"/>
              </a:lnSpc>
              <a:spcBef>
                <a:spcPts val="0"/>
              </a:spcBef>
              <a:spcAft>
                <a:spcPts val="0"/>
              </a:spcAft>
              <a:buClr>
                <a:srgbClr val="000000"/>
              </a:buClr>
              <a:buSzPts val="1700"/>
              <a:buAutoNum type="arabicPeriod"/>
            </a:pPr>
            <a:r>
              <a:rPr lang="en" sz="1700" dirty="0">
                <a:solidFill>
                  <a:srgbClr val="000000"/>
                </a:solidFill>
              </a:rPr>
              <a:t>Repeat steps 2 - 4 many times. </a:t>
            </a:r>
            <a:r>
              <a:rPr lang="zh-CN" altLang="en-US" sz="1700" dirty="0">
                <a:solidFill>
                  <a:srgbClr val="000000"/>
                </a:solidFill>
              </a:rPr>
              <a:t>（</a:t>
            </a:r>
            <a:r>
              <a:rPr lang="en-US" altLang="zh-CN" sz="1700" dirty="0">
                <a:solidFill>
                  <a:srgbClr val="000000"/>
                </a:solidFill>
              </a:rPr>
              <a:t>One simulation is not itself convincing</a:t>
            </a:r>
            <a:r>
              <a:rPr lang="zh-CN" altLang="en-US" sz="1700" dirty="0">
                <a:solidFill>
                  <a:srgbClr val="000000"/>
                </a:solidFill>
              </a:rPr>
              <a:t>）</a:t>
            </a:r>
            <a:endParaRPr sz="1700" dirty="0">
              <a:solidFill>
                <a:srgbClr val="000000"/>
              </a:solidFill>
            </a:endParaRPr>
          </a:p>
        </p:txBody>
      </p:sp>
      <p:sp>
        <p:nvSpPr>
          <p:cNvPr id="117" name="Google Shape;117;p22"/>
          <p:cNvSpPr txBox="1">
            <a:spLocks noGrp="1"/>
          </p:cNvSpPr>
          <p:nvPr>
            <p:ph type="title"/>
          </p:nvPr>
        </p:nvSpPr>
        <p:spPr>
          <a:xfrm>
            <a:off x="457200" y="0"/>
            <a:ext cx="8229600" cy="13509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solidFill>
                  <a:schemeClr val="accent1"/>
                </a:solidFill>
              </a:rPr>
              <a:t>Application Activity:</a:t>
            </a:r>
            <a:endParaRPr>
              <a:solidFill>
                <a:schemeClr val="accent1"/>
              </a:solidFill>
            </a:endParaRPr>
          </a:p>
          <a:p>
            <a:pPr marL="0" lvl="0" indent="0" algn="l" rtl="0">
              <a:spcBef>
                <a:spcPts val="0"/>
              </a:spcBef>
              <a:spcAft>
                <a:spcPts val="0"/>
              </a:spcAft>
              <a:buNone/>
            </a:pPr>
            <a:r>
              <a:rPr lang="en">
                <a:solidFill>
                  <a:schemeClr val="accent1"/>
                </a:solidFill>
              </a:rPr>
              <a:t>Simulating the Experiment</a:t>
            </a:r>
            <a:endParaRPr>
              <a:solidFill>
                <a:schemeClr val="accent1"/>
              </a:solidFill>
            </a:endParaRPr>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Shape 121"/>
        <p:cNvGrpSpPr/>
        <p:nvPr/>
      </p:nvGrpSpPr>
      <p:grpSpPr>
        <a:xfrm>
          <a:off x="0" y="0"/>
          <a:ext cx="0" cy="0"/>
          <a:chOff x="0" y="0"/>
          <a:chExt cx="0" cy="0"/>
        </a:xfrm>
      </p:grpSpPr>
      <p:sp>
        <p:nvSpPr>
          <p:cNvPr id="122" name="Google Shape;122;p23"/>
          <p:cNvSpPr txBox="1">
            <a:spLocks noGrp="1"/>
          </p:cNvSpPr>
          <p:nvPr>
            <p:ph type="title"/>
          </p:nvPr>
        </p:nvSpPr>
        <p:spPr>
          <a:xfrm>
            <a:off x="457200" y="0"/>
            <a:ext cx="8229600" cy="11430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solidFill>
                  <a:schemeClr val="accent1"/>
                </a:solidFill>
              </a:rPr>
              <a:t>Step 1</a:t>
            </a:r>
            <a:endParaRPr>
              <a:solidFill>
                <a:schemeClr val="accent1"/>
              </a:solidFill>
            </a:endParaRPr>
          </a:p>
        </p:txBody>
      </p:sp>
      <p:pic>
        <p:nvPicPr>
          <p:cNvPr id="123" name="Google Shape;123;p23"/>
          <p:cNvPicPr preferRelativeResize="0"/>
          <p:nvPr/>
        </p:nvPicPr>
        <p:blipFill>
          <a:blip r:embed="rId3">
            <a:alphaModFix/>
          </a:blip>
          <a:stretch>
            <a:fillRect/>
          </a:stretch>
        </p:blipFill>
        <p:spPr>
          <a:xfrm>
            <a:off x="457200" y="1339525"/>
            <a:ext cx="8229600" cy="4389175"/>
          </a:xfrm>
          <a:prstGeom prst="rect">
            <a:avLst/>
          </a:prstGeom>
          <a:noFill/>
          <a:ln>
            <a:noFill/>
          </a:ln>
        </p:spPr>
      </p:pic>
      <p:sp>
        <p:nvSpPr>
          <p:cNvPr id="2" name="文本框 1">
            <a:extLst>
              <a:ext uri="{FF2B5EF4-FFF2-40B4-BE49-F238E27FC236}">
                <a16:creationId xmlns:a16="http://schemas.microsoft.com/office/drawing/2014/main" id="{0B970FF7-F2A7-8F20-E493-FB76C1A76640}"/>
              </a:ext>
            </a:extLst>
          </p:cNvPr>
          <p:cNvSpPr txBox="1"/>
          <p:nvPr/>
        </p:nvSpPr>
        <p:spPr>
          <a:xfrm>
            <a:off x="591670" y="5970494"/>
            <a:ext cx="7225553" cy="369332"/>
          </a:xfrm>
          <a:prstGeom prst="rect">
            <a:avLst/>
          </a:prstGeom>
          <a:noFill/>
        </p:spPr>
        <p:txBody>
          <a:bodyPr wrap="square" rtlCol="0">
            <a:spAutoFit/>
          </a:bodyPr>
          <a:lstStyle/>
          <a:p>
            <a:r>
              <a:rPr lang="en-US" altLang="zh-CN" sz="1800" dirty="0"/>
              <a:t>Assume that each banker’s response would be the same as before.</a:t>
            </a:r>
            <a:endParaRPr lang="zh-CN" altLang="en-US" sz="1800" dirty="0"/>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Shape 127"/>
        <p:cNvGrpSpPr/>
        <p:nvPr/>
      </p:nvGrpSpPr>
      <p:grpSpPr>
        <a:xfrm>
          <a:off x="0" y="0"/>
          <a:ext cx="0" cy="0"/>
          <a:chOff x="0" y="0"/>
          <a:chExt cx="0" cy="0"/>
        </a:xfrm>
      </p:grpSpPr>
      <p:sp>
        <p:nvSpPr>
          <p:cNvPr id="128" name="Google Shape;128;p24"/>
          <p:cNvSpPr txBox="1">
            <a:spLocks noGrp="1"/>
          </p:cNvSpPr>
          <p:nvPr>
            <p:ph type="title"/>
          </p:nvPr>
        </p:nvSpPr>
        <p:spPr>
          <a:xfrm>
            <a:off x="457200" y="0"/>
            <a:ext cx="8229600" cy="11430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solidFill>
                  <a:schemeClr val="accent1"/>
                </a:solidFill>
              </a:rPr>
              <a:t>Step 2 - 4</a:t>
            </a:r>
            <a:endParaRPr>
              <a:solidFill>
                <a:schemeClr val="accent1"/>
              </a:solidFill>
            </a:endParaRPr>
          </a:p>
        </p:txBody>
      </p:sp>
      <p:pic>
        <p:nvPicPr>
          <p:cNvPr id="129" name="Google Shape;129;p24"/>
          <p:cNvPicPr preferRelativeResize="0"/>
          <p:nvPr/>
        </p:nvPicPr>
        <p:blipFill>
          <a:blip r:embed="rId3">
            <a:alphaModFix/>
          </a:blip>
          <a:stretch>
            <a:fillRect/>
          </a:stretch>
        </p:blipFill>
        <p:spPr>
          <a:xfrm>
            <a:off x="457200" y="1377901"/>
            <a:ext cx="7560924" cy="4841075"/>
          </a:xfrm>
          <a:prstGeom prst="rect">
            <a:avLst/>
          </a:prstGeom>
          <a:noFill/>
          <a:ln>
            <a:noFill/>
          </a:ln>
        </p:spPr>
      </p:pic>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Shape 133"/>
        <p:cNvGrpSpPr/>
        <p:nvPr/>
      </p:nvGrpSpPr>
      <p:grpSpPr>
        <a:xfrm>
          <a:off x="0" y="0"/>
          <a:ext cx="0" cy="0"/>
          <a:chOff x="0" y="0"/>
          <a:chExt cx="0" cy="0"/>
        </a:xfrm>
      </p:grpSpPr>
      <p:sp>
        <p:nvSpPr>
          <p:cNvPr id="134" name="Google Shape;134;p25"/>
          <p:cNvSpPr txBox="1">
            <a:spLocks noGrp="1"/>
          </p:cNvSpPr>
          <p:nvPr>
            <p:ph type="title"/>
          </p:nvPr>
        </p:nvSpPr>
        <p:spPr>
          <a:xfrm>
            <a:off x="457200" y="0"/>
            <a:ext cx="8229600" cy="11430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solidFill>
                  <a:schemeClr val="accent1"/>
                </a:solidFill>
              </a:rPr>
              <a:t>Practice</a:t>
            </a:r>
            <a:endParaRPr>
              <a:solidFill>
                <a:schemeClr val="accent1"/>
              </a:solidFill>
            </a:endParaRPr>
          </a:p>
        </p:txBody>
      </p:sp>
      <p:sp>
        <p:nvSpPr>
          <p:cNvPr id="135" name="Google Shape;135;p25"/>
          <p:cNvSpPr txBox="1">
            <a:spLocks noGrp="1"/>
          </p:cNvSpPr>
          <p:nvPr>
            <p:ph type="body" idx="1"/>
          </p:nvPr>
        </p:nvSpPr>
        <p:spPr>
          <a:xfrm>
            <a:off x="457200" y="1143000"/>
            <a:ext cx="8089500" cy="5023200"/>
          </a:xfrm>
          <a:prstGeom prst="rect">
            <a:avLst/>
          </a:prstGeom>
        </p:spPr>
        <p:txBody>
          <a:bodyPr spcFirstLastPara="1" wrap="square" lIns="91425" tIns="91425" rIns="91425" bIns="91425" anchor="t" anchorCtr="0">
            <a:noAutofit/>
          </a:bodyPr>
          <a:lstStyle/>
          <a:p>
            <a:pPr marL="0" lvl="0" indent="0" algn="l" rtl="0">
              <a:lnSpc>
                <a:spcPct val="115000"/>
              </a:lnSpc>
              <a:spcBef>
                <a:spcPts val="1000"/>
              </a:spcBef>
              <a:spcAft>
                <a:spcPts val="0"/>
              </a:spcAft>
              <a:buClr>
                <a:srgbClr val="000000"/>
              </a:buClr>
              <a:buSzPts val="1100"/>
              <a:buFont typeface="Arial"/>
              <a:buNone/>
            </a:pPr>
            <a:r>
              <a:rPr lang="en" sz="2100">
                <a:solidFill>
                  <a:schemeClr val="accent1"/>
                </a:solidFill>
              </a:rPr>
              <a:t>Do the results of the simulation you just ran provide convincing evidence of gender discrimination against women, i.e. dependence between gender and promotion decisions?</a:t>
            </a:r>
            <a:endParaRPr sz="2100">
              <a:solidFill>
                <a:schemeClr val="accent1"/>
              </a:solidFill>
            </a:endParaRPr>
          </a:p>
          <a:p>
            <a:pPr marL="457200" lvl="0" indent="-361950" algn="l" rtl="0">
              <a:lnSpc>
                <a:spcPct val="115000"/>
              </a:lnSpc>
              <a:spcBef>
                <a:spcPts val="1000"/>
              </a:spcBef>
              <a:spcAft>
                <a:spcPts val="0"/>
              </a:spcAft>
              <a:buClr>
                <a:srgbClr val="000000"/>
              </a:buClr>
              <a:buSzPts val="2100"/>
              <a:buAutoNum type="alphaUcPeriod"/>
            </a:pPr>
            <a:r>
              <a:rPr lang="en" sz="2100">
                <a:solidFill>
                  <a:srgbClr val="000000"/>
                </a:solidFill>
              </a:rPr>
              <a:t>No, the data do not provide convincing evidence for the alternative hypothesis, therefore we can't reject the null hypothesis of independence between gender and promotion decisions. The observed difference between the two proportions was due to chance.</a:t>
            </a:r>
            <a:endParaRPr sz="2100">
              <a:solidFill>
                <a:srgbClr val="000000"/>
              </a:solidFill>
            </a:endParaRPr>
          </a:p>
          <a:p>
            <a:pPr marL="457200" lvl="0" indent="-361950" algn="l" rtl="0">
              <a:lnSpc>
                <a:spcPct val="115000"/>
              </a:lnSpc>
              <a:spcBef>
                <a:spcPts val="0"/>
              </a:spcBef>
              <a:spcAft>
                <a:spcPts val="0"/>
              </a:spcAft>
              <a:buClr>
                <a:srgbClr val="000000"/>
              </a:buClr>
              <a:buSzPts val="2100"/>
              <a:buAutoNum type="alphaUcPeriod"/>
            </a:pPr>
            <a:r>
              <a:rPr lang="en" sz="2100">
                <a:solidFill>
                  <a:srgbClr val="000000"/>
                </a:solidFill>
              </a:rPr>
              <a:t>Yes, the data provide convincing evidence for the alternative hypothesis of gender discrimination against women in promotion decisions. The observed difference between the two proportions was due to a real effect of gender.</a:t>
            </a:r>
            <a:endParaRPr sz="2100">
              <a:solidFill>
                <a:srgbClr val="000000"/>
              </a:solidFill>
            </a:endParaRPr>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Shape 145"/>
        <p:cNvGrpSpPr/>
        <p:nvPr/>
      </p:nvGrpSpPr>
      <p:grpSpPr>
        <a:xfrm>
          <a:off x="0" y="0"/>
          <a:ext cx="0" cy="0"/>
          <a:chOff x="0" y="0"/>
          <a:chExt cx="0" cy="0"/>
        </a:xfrm>
      </p:grpSpPr>
      <p:sp>
        <p:nvSpPr>
          <p:cNvPr id="146" name="Google Shape;146;p27"/>
          <p:cNvSpPr txBox="1">
            <a:spLocks noGrp="1"/>
          </p:cNvSpPr>
          <p:nvPr>
            <p:ph type="body" idx="1"/>
          </p:nvPr>
        </p:nvSpPr>
        <p:spPr>
          <a:xfrm>
            <a:off x="457200" y="1143000"/>
            <a:ext cx="8089500" cy="5023200"/>
          </a:xfrm>
          <a:prstGeom prst="rect">
            <a:avLst/>
          </a:prstGeom>
        </p:spPr>
        <p:txBody>
          <a:bodyPr spcFirstLastPara="1" wrap="square" lIns="91425" tIns="91425" rIns="91425" bIns="91425" anchor="t" anchorCtr="0">
            <a:noAutofit/>
          </a:bodyPr>
          <a:lstStyle/>
          <a:p>
            <a:pPr marL="0" lvl="0" indent="0" algn="l" rtl="0">
              <a:lnSpc>
                <a:spcPct val="115000"/>
              </a:lnSpc>
              <a:spcBef>
                <a:spcPts val="1000"/>
              </a:spcBef>
              <a:spcAft>
                <a:spcPts val="1000"/>
              </a:spcAft>
              <a:buNone/>
            </a:pPr>
            <a:r>
              <a:rPr lang="en" sz="2100">
                <a:solidFill>
                  <a:srgbClr val="000000"/>
                </a:solidFill>
              </a:rPr>
              <a:t>These simulations are tedious and slow to run using the method described earlier. In reality, we use software to generate the simulations. The dot plot below shows the distribution of simulated differences in promotion rates based on 100 simulations.</a:t>
            </a:r>
            <a:endParaRPr sz="2100">
              <a:solidFill>
                <a:srgbClr val="000000"/>
              </a:solidFill>
            </a:endParaRPr>
          </a:p>
        </p:txBody>
      </p:sp>
      <p:sp>
        <p:nvSpPr>
          <p:cNvPr id="147" name="Google Shape;147;p27"/>
          <p:cNvSpPr txBox="1">
            <a:spLocks noGrp="1"/>
          </p:cNvSpPr>
          <p:nvPr>
            <p:ph type="title"/>
          </p:nvPr>
        </p:nvSpPr>
        <p:spPr>
          <a:xfrm>
            <a:off x="457200" y="0"/>
            <a:ext cx="8229600" cy="11430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solidFill>
                  <a:schemeClr val="accent1"/>
                </a:solidFill>
              </a:rPr>
              <a:t>Simulations Using Software</a:t>
            </a:r>
            <a:endParaRPr>
              <a:solidFill>
                <a:schemeClr val="accent1"/>
              </a:solidFill>
            </a:endParaRPr>
          </a:p>
        </p:txBody>
      </p:sp>
      <p:pic>
        <p:nvPicPr>
          <p:cNvPr id="148" name="Google Shape;148;p27"/>
          <p:cNvPicPr preferRelativeResize="0"/>
          <p:nvPr/>
        </p:nvPicPr>
        <p:blipFill>
          <a:blip r:embed="rId3">
            <a:alphaModFix/>
          </a:blip>
          <a:stretch>
            <a:fillRect/>
          </a:stretch>
        </p:blipFill>
        <p:spPr>
          <a:xfrm>
            <a:off x="1526421" y="3151025"/>
            <a:ext cx="4988825" cy="2948325"/>
          </a:xfrm>
          <a:prstGeom prst="rect">
            <a:avLst/>
          </a:prstGeom>
          <a:noFill/>
          <a:ln>
            <a:noFill/>
          </a:ln>
        </p:spPr>
      </p:pic>
      <p:sp>
        <p:nvSpPr>
          <p:cNvPr id="3" name="文本框 2">
            <a:extLst>
              <a:ext uri="{FF2B5EF4-FFF2-40B4-BE49-F238E27FC236}">
                <a16:creationId xmlns:a16="http://schemas.microsoft.com/office/drawing/2014/main" id="{C1C40AF7-E32E-C0C3-AA02-AC83B282F695}"/>
              </a:ext>
            </a:extLst>
          </p:cNvPr>
          <p:cNvSpPr txBox="1"/>
          <p:nvPr/>
        </p:nvSpPr>
        <p:spPr>
          <a:xfrm>
            <a:off x="597300" y="6166200"/>
            <a:ext cx="7225553" cy="646331"/>
          </a:xfrm>
          <a:prstGeom prst="rect">
            <a:avLst/>
          </a:prstGeom>
          <a:noFill/>
        </p:spPr>
        <p:txBody>
          <a:bodyPr wrap="square" rtlCol="0">
            <a:spAutoFit/>
          </a:bodyPr>
          <a:lstStyle/>
          <a:p>
            <a:r>
              <a:rPr lang="en-US" altLang="zh-CN" sz="1800" dirty="0"/>
              <a:t>How often do we see a difference at least as large as 29.3%? Possible but pretty rarely. We reject H</a:t>
            </a:r>
            <a:r>
              <a:rPr lang="en-US" altLang="zh-CN" sz="1800" baseline="-25000" dirty="0"/>
              <a:t>0.</a:t>
            </a:r>
            <a:endParaRPr lang="zh-CN" altLang="en-US" sz="1800" baseline="-25000" dirty="0"/>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Shape 139"/>
        <p:cNvGrpSpPr/>
        <p:nvPr/>
      </p:nvGrpSpPr>
      <p:grpSpPr>
        <a:xfrm>
          <a:off x="0" y="0"/>
          <a:ext cx="0" cy="0"/>
          <a:chOff x="0" y="0"/>
          <a:chExt cx="0" cy="0"/>
        </a:xfrm>
      </p:grpSpPr>
      <p:sp>
        <p:nvSpPr>
          <p:cNvPr id="140" name="Google Shape;140;p26"/>
          <p:cNvSpPr txBox="1">
            <a:spLocks noGrp="1"/>
          </p:cNvSpPr>
          <p:nvPr>
            <p:ph type="title"/>
          </p:nvPr>
        </p:nvSpPr>
        <p:spPr>
          <a:xfrm>
            <a:off x="457200" y="0"/>
            <a:ext cx="8229600" cy="11430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solidFill>
                  <a:schemeClr val="accent1"/>
                </a:solidFill>
              </a:rPr>
              <a:t>Practice</a:t>
            </a:r>
            <a:endParaRPr>
              <a:solidFill>
                <a:schemeClr val="accent1"/>
              </a:solidFill>
            </a:endParaRPr>
          </a:p>
        </p:txBody>
      </p:sp>
      <p:sp>
        <p:nvSpPr>
          <p:cNvPr id="141" name="Google Shape;141;p26"/>
          <p:cNvSpPr txBox="1">
            <a:spLocks noGrp="1"/>
          </p:cNvSpPr>
          <p:nvPr>
            <p:ph type="body" idx="1"/>
          </p:nvPr>
        </p:nvSpPr>
        <p:spPr>
          <a:xfrm>
            <a:off x="457200" y="1143000"/>
            <a:ext cx="8089500" cy="5023200"/>
          </a:xfrm>
          <a:prstGeom prst="rect">
            <a:avLst/>
          </a:prstGeom>
        </p:spPr>
        <p:txBody>
          <a:bodyPr spcFirstLastPara="1" wrap="square" lIns="91425" tIns="91425" rIns="91425" bIns="91425" anchor="t" anchorCtr="0">
            <a:noAutofit/>
          </a:bodyPr>
          <a:lstStyle/>
          <a:p>
            <a:pPr marL="0" lvl="0" indent="0" algn="l" rtl="0">
              <a:lnSpc>
                <a:spcPct val="115000"/>
              </a:lnSpc>
              <a:spcBef>
                <a:spcPts val="1000"/>
              </a:spcBef>
              <a:spcAft>
                <a:spcPts val="0"/>
              </a:spcAft>
              <a:buClr>
                <a:srgbClr val="000000"/>
              </a:buClr>
              <a:buSzPts val="1100"/>
              <a:buFont typeface="Arial"/>
              <a:buNone/>
            </a:pPr>
            <a:r>
              <a:rPr lang="en" sz="2100">
                <a:solidFill>
                  <a:schemeClr val="accent1"/>
                </a:solidFill>
              </a:rPr>
              <a:t>Do the results of the simulation you just ran provide convincing evidence of gender discrimination against women, i.e. dependence between gender and promotion decisions?</a:t>
            </a:r>
            <a:endParaRPr sz="2100">
              <a:solidFill>
                <a:schemeClr val="accent1"/>
              </a:solidFill>
            </a:endParaRPr>
          </a:p>
          <a:p>
            <a:pPr marL="457200" lvl="0" indent="-361950" algn="l" rtl="0">
              <a:lnSpc>
                <a:spcPct val="115000"/>
              </a:lnSpc>
              <a:spcBef>
                <a:spcPts val="1000"/>
              </a:spcBef>
              <a:spcAft>
                <a:spcPts val="0"/>
              </a:spcAft>
              <a:buClr>
                <a:srgbClr val="000000"/>
              </a:buClr>
              <a:buSzPts val="2100"/>
              <a:buAutoNum type="alphaUcPeriod"/>
            </a:pPr>
            <a:r>
              <a:rPr lang="en" sz="2100">
                <a:solidFill>
                  <a:srgbClr val="000000"/>
                </a:solidFill>
              </a:rPr>
              <a:t>No, the data do not provide convincing evidence for the alternative hypothesis, therefore we can't reject the null hypothesis of independence between gender and promotion decisions. The observed difference between the two proportions was due to chance.</a:t>
            </a:r>
            <a:endParaRPr sz="2100">
              <a:solidFill>
                <a:srgbClr val="000000"/>
              </a:solidFill>
            </a:endParaRPr>
          </a:p>
          <a:p>
            <a:pPr marL="457200" lvl="0" indent="-361950" algn="l" rtl="0">
              <a:lnSpc>
                <a:spcPct val="115000"/>
              </a:lnSpc>
              <a:spcBef>
                <a:spcPts val="0"/>
              </a:spcBef>
              <a:spcAft>
                <a:spcPts val="0"/>
              </a:spcAft>
              <a:buClr>
                <a:srgbClr val="FF9900"/>
              </a:buClr>
              <a:buSzPts val="2100"/>
              <a:buAutoNum type="alphaUcPeriod"/>
            </a:pPr>
            <a:r>
              <a:rPr lang="en" sz="2100">
                <a:solidFill>
                  <a:srgbClr val="FF9900"/>
                </a:solidFill>
              </a:rPr>
              <a:t>Yes, the data provide convincing evidence for the alternative hypothesis of gender discrimination against women in promotion decisions. The observed difference between the two proportions was due to a real effect of gender.</a:t>
            </a:r>
            <a:endParaRPr sz="2100">
              <a:solidFill>
                <a:srgbClr val="FF9900"/>
              </a:solidFill>
            </a:endParaRPr>
          </a:p>
        </p:txBody>
      </p:sp>
    </p:spTree>
  </p:cSld>
  <p:clrMapOvr>
    <a:masterClrMapping/>
  </p:clrMapOvr>
</p:sld>
</file>

<file path=ppt/theme/theme1.xml><?xml version="1.0" encoding="utf-8"?>
<a:theme xmlns:a="http://schemas.openxmlformats.org/drawingml/2006/main" name="Simple Light">
  <a:themeElements>
    <a:clrScheme name="Custom 347">
      <a:dk1>
        <a:srgbClr val="000000"/>
      </a:dk1>
      <a:lt1>
        <a:srgbClr val="FFFFFF"/>
      </a:lt1>
      <a:dk2>
        <a:srgbClr val="666666"/>
      </a:dk2>
      <a:lt2>
        <a:srgbClr val="CCCCCC"/>
      </a:lt2>
      <a:accent1>
        <a:srgbClr val="3A81BA"/>
      </a:accent1>
      <a:accent2>
        <a:srgbClr val="D89F39"/>
      </a:accent2>
      <a:accent3>
        <a:srgbClr val="8BAB42"/>
      </a:accent3>
      <a:accent4>
        <a:srgbClr val="57A7B5"/>
      </a:accent4>
      <a:accent5>
        <a:srgbClr val="8B81D2"/>
      </a:accent5>
      <a:accent6>
        <a:srgbClr val="963334"/>
      </a:accent6>
      <a:hlink>
        <a:srgbClr val="1155CC"/>
      </a:hlink>
      <a:folHlink>
        <a:srgbClr val="6611CC"/>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112</TotalTime>
  <Words>3699</Words>
  <Application>Microsoft Office PowerPoint</Application>
  <PresentationFormat>全屏显示(4:3)</PresentationFormat>
  <Paragraphs>360</Paragraphs>
  <Slides>62</Slides>
  <Notes>62</Notes>
  <HiddenSlides>0</HiddenSlides>
  <MMClips>0</MMClips>
  <ScaleCrop>false</ScaleCrop>
  <HeadingPairs>
    <vt:vector size="6" baseType="variant">
      <vt:variant>
        <vt:lpstr>已用的字体</vt:lpstr>
      </vt:variant>
      <vt:variant>
        <vt:i4>1</vt:i4>
      </vt:variant>
      <vt:variant>
        <vt:lpstr>主题</vt:lpstr>
      </vt:variant>
      <vt:variant>
        <vt:i4>1</vt:i4>
      </vt:variant>
      <vt:variant>
        <vt:lpstr>幻灯片标题</vt:lpstr>
      </vt:variant>
      <vt:variant>
        <vt:i4>62</vt:i4>
      </vt:variant>
    </vt:vector>
  </HeadingPairs>
  <TitlesOfParts>
    <vt:vector size="64" baseType="lpstr">
      <vt:lpstr>Arial</vt:lpstr>
      <vt:lpstr>Simple Light</vt:lpstr>
      <vt:lpstr>   Statistics B Chapter 2: Summarizing Data  Shizhe Peng School of Economics and Management Changsha University of Science and Technology</vt:lpstr>
      <vt:lpstr>Examining Numerical Data </vt:lpstr>
      <vt:lpstr>Scatterplot</vt:lpstr>
      <vt:lpstr>Dot Plots</vt:lpstr>
      <vt:lpstr>Dot Plots &amp; Mean</vt:lpstr>
      <vt:lpstr>Mean</vt:lpstr>
      <vt:lpstr>Stacked Dot Plot</vt:lpstr>
      <vt:lpstr>Histograms - Extracurricular Hours</vt:lpstr>
      <vt:lpstr>Bin Width</vt:lpstr>
      <vt:lpstr>Shape of a Distribution: Modality</vt:lpstr>
      <vt:lpstr>Shape of a Distribution: Skewness</vt:lpstr>
      <vt:lpstr>Shape of a Distribution: Unusual Observations</vt:lpstr>
      <vt:lpstr>Extracurricular activities</vt:lpstr>
      <vt:lpstr>Commonly observed shapes of distributions</vt:lpstr>
      <vt:lpstr>Practice</vt:lpstr>
      <vt:lpstr>Practice</vt:lpstr>
      <vt:lpstr>Application Activity: Shapes of Distributions</vt:lpstr>
      <vt:lpstr>Are you typical?</vt:lpstr>
      <vt:lpstr>Variance</vt:lpstr>
      <vt:lpstr>Variance (cont.)</vt:lpstr>
      <vt:lpstr>Standard Deviation</vt:lpstr>
      <vt:lpstr>Median</vt:lpstr>
      <vt:lpstr>Q1, Q3, and IQR</vt:lpstr>
      <vt:lpstr>Box Plot</vt:lpstr>
      <vt:lpstr>Anatomy of a Box Plot</vt:lpstr>
      <vt:lpstr>Whiskers and Outliers</vt:lpstr>
      <vt:lpstr>Outliers (cont.)</vt:lpstr>
      <vt:lpstr>Extreme Observations</vt:lpstr>
      <vt:lpstr>Robust Statistics</vt:lpstr>
      <vt:lpstr>Robust Statistics</vt:lpstr>
      <vt:lpstr>Mean vs. Median</vt:lpstr>
      <vt:lpstr>Practice</vt:lpstr>
      <vt:lpstr>Practice</vt:lpstr>
      <vt:lpstr>Extremely Skewed Data</vt:lpstr>
      <vt:lpstr>Pros and Cons of Transformations</vt:lpstr>
      <vt:lpstr>Intensity Maps</vt:lpstr>
      <vt:lpstr>Considering Categorical Data </vt:lpstr>
      <vt:lpstr>Contingency Tables</vt:lpstr>
      <vt:lpstr>Bar Plots</vt:lpstr>
      <vt:lpstr>Choosing the Appropriate Proportion</vt:lpstr>
      <vt:lpstr>Bar plots with two variables</vt:lpstr>
      <vt:lpstr>Segmented Bar and Mosaic Plots</vt:lpstr>
      <vt:lpstr>Mosaic plots</vt:lpstr>
      <vt:lpstr>Pie Charts</vt:lpstr>
      <vt:lpstr>Comparing Numerical Data Across Groups</vt:lpstr>
      <vt:lpstr>Case Study: Gender Discrimination </vt:lpstr>
      <vt:lpstr>Gender Discrimination</vt:lpstr>
      <vt:lpstr>Data</vt:lpstr>
      <vt:lpstr>Practice</vt:lpstr>
      <vt:lpstr>Practice</vt:lpstr>
      <vt:lpstr>Two Competing Claims</vt:lpstr>
      <vt:lpstr>A Trial as a Hypothesis Test</vt:lpstr>
      <vt:lpstr>A Trial as a Hypothesis Test (cont.)</vt:lpstr>
      <vt:lpstr>A Trial as a Hypothesis Test (cont.)</vt:lpstr>
      <vt:lpstr>Recap: Hypothesis Testing Framework</vt:lpstr>
      <vt:lpstr>Simulating the experiment...</vt:lpstr>
      <vt:lpstr>Application Activity: Simulating the Experiment</vt:lpstr>
      <vt:lpstr>Step 1</vt:lpstr>
      <vt:lpstr>Step 2 - 4</vt:lpstr>
      <vt:lpstr>Practice</vt:lpstr>
      <vt:lpstr>Simulations Using Software</vt:lpstr>
      <vt:lpstr>Practice</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peng shizhe</cp:lastModifiedBy>
  <cp:revision>18</cp:revision>
  <dcterms:modified xsi:type="dcterms:W3CDTF">2026-10-12T06:52:06Z</dcterms:modified>
</cp:coreProperties>
</file>